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04" r:id="rId4"/>
  </p:sldMasterIdLst>
  <p:sldIdLst>
    <p:sldId id="258" r:id="rId5"/>
    <p:sldId id="273" r:id="rId7"/>
    <p:sldId id="276" r:id="rId6"/>
    <p:sldId id="274" r:id="rId8"/>
    <p:sldId id="275" r:id="rId9"/>
    <p:sldId id="277" r:id="rId10"/>
    <p:sldId id="279" r:id="rId11"/>
    <p:sldId id="278"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B9A8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611EC7-DCCE-40BE-9882-3AA59DBCF717}" v="1" dt="2026-09-29T16:05:05.28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117" d="100"/>
          <a:sy n="117" d="100"/>
        </p:scale>
        <p:origin x="354"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3.xml"/><Relationship Id="rId7" Type="http://schemas.openxmlformats.org/officeDocument/2006/relationships/slide" Target="slides/slide2.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microsoft.com/office/2016/11/relationships/changesInfo" Target="changesInfos/changesInfo1.xml"/><Relationship Id="rId1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Smith" userId="f635bcaf-d701-437b-bffd-1a8f160c01d9" providerId="ADAL" clId="{321CF1EA-DDCA-4C73-9872-605BFFD8AB88}"/>
    <pc:docChg chg="undo custSel addSld delSld modSld sldOrd">
      <pc:chgData name="Christopher Smith" userId="f635bcaf-d701-437b-bffd-1a8f160c01d9" providerId="ADAL" clId="{321CF1EA-DDCA-4C73-9872-605BFFD8AB88}" dt="2026-09-29T16:11:40.571" v="1651" actId="20577"/>
      <pc:docMkLst>
        <pc:docMk/>
      </pc:docMkLst>
      <pc:sldChg chg="modSp mod">
        <pc:chgData name="Christopher Smith" userId="f635bcaf-d701-437b-bffd-1a8f160c01d9" providerId="ADAL" clId="{321CF1EA-DDCA-4C73-9872-605BFFD8AB88}" dt="2026-09-29T16:05:06.022" v="1622" actId="20577"/>
        <pc:sldMkLst>
          <pc:docMk/>
          <pc:sldMk cId="3196567084" sldId="258"/>
        </pc:sldMkLst>
        <pc:spChg chg="mod">
          <ac:chgData name="Christopher Smith" userId="f635bcaf-d701-437b-bffd-1a8f160c01d9" providerId="ADAL" clId="{321CF1EA-DDCA-4C73-9872-605BFFD8AB88}" dt="2026-09-29T16:05:06.022" v="1622" actId="20577"/>
          <ac:spMkLst>
            <pc:docMk/>
            <pc:sldMk cId="3196567084" sldId="258"/>
            <ac:spMk id="11" creationId="{3E48FC44-1FA2-4F7A-0A80-59B4E81301D5}"/>
          </ac:spMkLst>
        </pc:spChg>
      </pc:sldChg>
      <pc:sldChg chg="modSp mod">
        <pc:chgData name="Christopher Smith" userId="f635bcaf-d701-437b-bffd-1a8f160c01d9" providerId="ADAL" clId="{321CF1EA-DDCA-4C73-9872-605BFFD8AB88}" dt="2026-09-29T16:06:41.504" v="1627" actId="20577"/>
        <pc:sldMkLst>
          <pc:docMk/>
          <pc:sldMk cId="3196567086" sldId="273"/>
        </pc:sldMkLst>
        <pc:spChg chg="mod">
          <ac:chgData name="Christopher Smith" userId="f635bcaf-d701-437b-bffd-1a8f160c01d9" providerId="ADAL" clId="{321CF1EA-DDCA-4C73-9872-605BFFD8AB88}" dt="2026-09-29T16:06:41.504" v="1627" actId="20577"/>
          <ac:spMkLst>
            <pc:docMk/>
            <pc:sldMk cId="3196567086" sldId="273"/>
            <ac:spMk id="11" creationId="{3E48FC44-1FA2-4F7A-0A80-59B4E81301D5}"/>
          </ac:spMkLst>
        </pc:spChg>
      </pc:sldChg>
      <pc:sldChg chg="modSp mod">
        <pc:chgData name="Christopher Smith" userId="f635bcaf-d701-437b-bffd-1a8f160c01d9" providerId="ADAL" clId="{321CF1EA-DDCA-4C73-9872-605BFFD8AB88}" dt="2026-09-29T16:10:42.125" v="1645" actId="20577"/>
        <pc:sldMkLst>
          <pc:docMk/>
          <pc:sldMk cId="3196567087" sldId="274"/>
        </pc:sldMkLst>
        <pc:spChg chg="mod">
          <ac:chgData name="Christopher Smith" userId="f635bcaf-d701-437b-bffd-1a8f160c01d9" providerId="ADAL" clId="{321CF1EA-DDCA-4C73-9872-605BFFD8AB88}" dt="2026-09-29T16:10:42.125" v="1645" actId="20577"/>
          <ac:spMkLst>
            <pc:docMk/>
            <pc:sldMk cId="3196567087" sldId="274"/>
            <ac:spMk id="3" creationId="{00000000-0000-0000-0000-000000000000}"/>
          </ac:spMkLst>
        </pc:spChg>
        <pc:spChg chg="mod">
          <ac:chgData name="Christopher Smith" userId="f635bcaf-d701-437b-bffd-1a8f160c01d9" providerId="ADAL" clId="{321CF1EA-DDCA-4C73-9872-605BFFD8AB88}" dt="2026-09-29T16:06:50.404" v="1628" actId="14100"/>
          <ac:spMkLst>
            <pc:docMk/>
            <pc:sldMk cId="3196567087" sldId="274"/>
            <ac:spMk id="6" creationId="{77977495-7045-4BEB-B038-AC19B9064EC1}"/>
          </ac:spMkLst>
        </pc:spChg>
        <pc:spChg chg="mod">
          <ac:chgData name="Christopher Smith" userId="f635bcaf-d701-437b-bffd-1a8f160c01d9" providerId="ADAL" clId="{321CF1EA-DDCA-4C73-9872-605BFFD8AB88}" dt="2026-09-29T16:08:01.706" v="1630" actId="20577"/>
          <ac:spMkLst>
            <pc:docMk/>
            <pc:sldMk cId="3196567087" sldId="274"/>
            <ac:spMk id="11" creationId="{3E48FC44-1FA2-4F7A-0A80-59B4E81301D5}"/>
          </ac:spMkLst>
        </pc:spChg>
      </pc:sldChg>
      <pc:sldChg chg="modSp mod">
        <pc:chgData name="Christopher Smith" userId="f635bcaf-d701-437b-bffd-1a8f160c01d9" providerId="ADAL" clId="{321CF1EA-DDCA-4C73-9872-605BFFD8AB88}" dt="2026-09-29T16:06:29.852" v="1626" actId="20577"/>
        <pc:sldMkLst>
          <pc:docMk/>
          <pc:sldMk cId="3196567085" sldId="276"/>
        </pc:sldMkLst>
        <pc:spChg chg="mod">
          <ac:chgData name="Christopher Smith" userId="f635bcaf-d701-437b-bffd-1a8f160c01d9" providerId="ADAL" clId="{321CF1EA-DDCA-4C73-9872-605BFFD8AB88}" dt="2026-09-29T16:06:29.852" v="1626" actId="20577"/>
          <ac:spMkLst>
            <pc:docMk/>
            <pc:sldMk cId="3196567085" sldId="276"/>
            <ac:spMk id="11" creationId="{3E48FC44-1FA2-4F7A-0A80-59B4E81301D5}"/>
          </ac:spMkLst>
        </pc:spChg>
      </pc:sldChg>
      <pc:sldChg chg="modSp mod">
        <pc:chgData name="Christopher Smith" userId="f635bcaf-d701-437b-bffd-1a8f160c01d9" providerId="ADAL" clId="{321CF1EA-DDCA-4C73-9872-605BFFD8AB88}" dt="2026-09-29T16:11:07.737" v="1646" actId="20577"/>
        <pc:sldMkLst>
          <pc:docMk/>
          <pc:sldMk cId="3196567089" sldId="277"/>
        </pc:sldMkLst>
        <pc:spChg chg="mod">
          <ac:chgData name="Christopher Smith" userId="f635bcaf-d701-437b-bffd-1a8f160c01d9" providerId="ADAL" clId="{321CF1EA-DDCA-4C73-9872-605BFFD8AB88}" dt="2026-09-29T16:11:07.737" v="1646" actId="20577"/>
          <ac:spMkLst>
            <pc:docMk/>
            <pc:sldMk cId="3196567089" sldId="277"/>
            <ac:spMk id="3" creationId="{00000000-0000-0000-0000-000000000000}"/>
          </ac:spMkLst>
        </pc:spChg>
      </pc:sldChg>
      <pc:sldChg chg="modSp mod">
        <pc:chgData name="Christopher Smith" userId="f635bcaf-d701-437b-bffd-1a8f160c01d9" providerId="ADAL" clId="{321CF1EA-DDCA-4C73-9872-605BFFD8AB88}" dt="2026-09-29T16:11:33.910" v="1649" actId="20577"/>
        <pc:sldMkLst>
          <pc:docMk/>
          <pc:sldMk cId="3196567090" sldId="278"/>
        </pc:sldMkLst>
        <pc:spChg chg="mod">
          <ac:chgData name="Christopher Smith" userId="f635bcaf-d701-437b-bffd-1a8f160c01d9" providerId="ADAL" clId="{321CF1EA-DDCA-4C73-9872-605BFFD8AB88}" dt="2026-09-29T16:11:33.910" v="1649" actId="20577"/>
          <ac:spMkLst>
            <pc:docMk/>
            <pc:sldMk cId="3196567090" sldId="278"/>
            <ac:spMk id="3" creationId="{00000000-0000-0000-0000-000000000000}"/>
          </ac:spMkLst>
        </pc:spChg>
      </pc:sldChg>
      <pc:sldChg chg="modSp mod ord">
        <pc:chgData name="Christopher Smith" userId="f635bcaf-d701-437b-bffd-1a8f160c01d9" providerId="ADAL" clId="{321CF1EA-DDCA-4C73-9872-605BFFD8AB88}" dt="2026-09-29T16:11:40.571" v="1651" actId="20577"/>
        <pc:sldMkLst>
          <pc:docMk/>
          <pc:sldMk cId="3196567091" sldId="279"/>
        </pc:sldMkLst>
        <pc:spChg chg="mod">
          <ac:chgData name="Christopher Smith" userId="f635bcaf-d701-437b-bffd-1a8f160c01d9" providerId="ADAL" clId="{321CF1EA-DDCA-4C73-9872-605BFFD8AB88}" dt="2026-09-29T16:11:40.571" v="1651" actId="20577"/>
          <ac:spMkLst>
            <pc:docMk/>
            <pc:sldMk cId="3196567091" sldId="279"/>
            <ac:spMk id="3" creationId="{00000000-0000-0000-0000-000000000000}"/>
          </ac:spMkLst>
        </pc:spChg>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678426" y="889820"/>
            <a:ext cx="9989574" cy="3598606"/>
          </a:xfrm>
        </p:spPr>
        <p:txBody>
          <a:bodyPr anchor="t">
            <a:normAutofit/>
          </a:bodyPr>
          <a:lstStyle>
            <a:lvl1pPr algn="l">
              <a:defRPr sz="5400"/>
            </a:lvl1pPr>
          </a:lstStyle>
          <a:p>
            <a:r>
              <a:rPr lang="en-US" dirty="0"/>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678426"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90181573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3866621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2511417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22096"/>
            <a:ext cx="10691265" cy="1127930"/>
          </a:xfrm>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15383" y="2128684"/>
            <a:ext cx="5304417"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72200" y="2128684"/>
            <a:ext cx="5219700" cy="3844414"/>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799256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685887" y="929148"/>
            <a:ext cx="10640005" cy="761540"/>
          </a:xfrm>
        </p:spPr>
        <p:txBody>
          <a:bodyPr/>
          <a:lstStyle/>
          <a:p>
            <a:r>
              <a:rPr lang="en-US" dirty="0"/>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15384" y="1681163"/>
            <a:ext cx="5282192"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15384" y="2505075"/>
            <a:ext cx="5282192" cy="3423777"/>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72200" y="1681163"/>
            <a:ext cx="5183188" cy="657225"/>
          </a:xfrm>
        </p:spPr>
        <p:txBody>
          <a:bodyPr anchor="b">
            <a:normAutofit/>
          </a:bodyPr>
          <a:lstStyle>
            <a:lvl1pPr marL="0" indent="0">
              <a:buNone/>
              <a:defRPr sz="1600" b="1">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72200" y="2505075"/>
            <a:ext cx="5183188" cy="34237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26739885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690823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42823173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678426" y="781665"/>
            <a:ext cx="4093599" cy="1223452"/>
          </a:xfrm>
        </p:spPr>
        <p:txBody>
          <a:bodyPr anchor="b"/>
          <a:lstStyle>
            <a:lvl1pPr>
              <a:defRPr sz="3200"/>
            </a:lvl1pPr>
          </a:lstStyle>
          <a:p>
            <a:r>
              <a:rPr lang="en-US" dirty="0"/>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688258" y="2315497"/>
            <a:ext cx="4093599" cy="355349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107925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683342" y="1066800"/>
            <a:ext cx="4103431" cy="1317523"/>
          </a:xfrm>
        </p:spPr>
        <p:txBody>
          <a:bodyPr anchor="b"/>
          <a:lstStyle>
            <a:lvl1pPr>
              <a:defRPr sz="3200"/>
            </a:lvl1pPr>
          </a:lstStyle>
          <a:p>
            <a:r>
              <a:rPr lang="en-US" dirty="0"/>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p:cNvSpPr>
          <p:nvPr>
            <p:ph type="pic" idx="1"/>
          </p:nvPr>
        </p:nvSpPr>
        <p:spPr>
          <a:xfrm>
            <a:off x="5183188" y="1066800"/>
            <a:ext cx="6172200" cy="479425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683342"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0360475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36668971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838200" y="997973"/>
            <a:ext cx="8404122" cy="4984956"/>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2F3E8B1C-86EF-43CF-8304-249481088644}" type="datetimeFigureOut">
              <a:rPr lang="en-US" smtClean="0"/>
              <a:t>9/29/2026</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C3DB2ADC-AF19-4574-8C10-79B5B04FCA27}" type="slidenum">
              <a:rPr lang="en-US" smtClean="0"/>
              <a:t>‹#›</a:t>
            </a:fld>
            <a:endParaRPr lang="en-US"/>
          </a:p>
        </p:txBody>
      </p:sp>
    </p:spTree>
    <p:extLst>
      <p:ext uri="{BB962C8B-B14F-4D97-AF65-F5344CB8AC3E}">
        <p14:creationId xmlns:p14="http://schemas.microsoft.com/office/powerpoint/2010/main" val="156912211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22096"/>
            <a:ext cx="10691265" cy="1371030"/>
          </a:xfrm>
          <a:prstGeom prst="rect">
            <a:avLst/>
          </a:prstGeom>
        </p:spPr>
        <p:txBody>
          <a:bodyPr vert="horz" lIns="91440" tIns="45720" rIns="91440" bIns="45720" rtlCol="0" anchor="t">
            <a:normAutofit/>
          </a:bodyPr>
          <a:lstStyle/>
          <a:p>
            <a:r>
              <a:rPr lang="en-US" dirty="0"/>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93126"/>
            <a:ext cx="10691265" cy="363608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92594" cy="365125"/>
          </a:xfrm>
          <a:prstGeom prst="rect">
            <a:avLst/>
          </a:prstGeom>
        </p:spPr>
        <p:txBody>
          <a:bodyPr vert="horz" lIns="91440" tIns="45720" rIns="91440" bIns="45720" rtlCol="0" anchor="ctr"/>
          <a:lstStyle>
            <a:lvl1pPr algn="r">
              <a:defRPr sz="1050">
                <a:solidFill>
                  <a:schemeClr val="tx1"/>
                </a:solidFill>
                <a:latin typeface="+mj-lt"/>
              </a:defRPr>
            </a:lvl1pPr>
          </a:lstStyle>
          <a:p>
            <a:fld id="{2F3E8B1C-86EF-43CF-8304-249481088644}" type="datetimeFigureOut">
              <a:rPr lang="en-US" smtClean="0"/>
              <a:pPr/>
              <a:t>9/29/2026</a:t>
            </a:fld>
            <a:endParaRPr lang="en-US" dirty="0"/>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15383"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endParaRPr lang="en-US" dirty="0"/>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C3DB2ADC-AF19-4574-8C10-79B5B04FCA27}" type="slidenum">
              <a:rPr lang="en-US" smtClean="0"/>
              <a:pPr/>
              <a:t>‹#›</a:t>
            </a:fld>
            <a:endParaRPr lang="en-US" dirty="0"/>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78564742"/>
      </p:ext>
    </p:extLst>
  </p:cSld>
  <p:clrMap bg1="lt1" tx1="dk1" bg2="lt2" tx2="dk2" accent1="accent1" accent2="accent2" accent3="accent3" accent4="accent4" accent5="accent5" accent6="accent6" hlink="hlink" folHlink="folHlink"/>
  <p:sldLayoutIdLst>
    <p:sldLayoutId id="2147483799" r:id="rId1"/>
    <p:sldLayoutId id="2147483800" r:id="rId2"/>
    <p:sldLayoutId id="2147483801" r:id="rId3"/>
    <p:sldLayoutId id="2147483802" r:id="rId4"/>
    <p:sldLayoutId id="2147483803" r:id="rId5"/>
    <p:sldLayoutId id="2147483797" r:id="rId6"/>
    <p:sldLayoutId id="2147483793" r:id="rId7"/>
    <p:sldLayoutId id="2147483794" r:id="rId8"/>
    <p:sldLayoutId id="2147483795" r:id="rId9"/>
    <p:sldLayoutId id="2147483796" r:id="rId10"/>
    <p:sldLayoutId id="2147483798" r:id="rId11"/>
  </p:sldLayoutIdLst>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COVID-19 CASES</a:t>
            </a:r>
            <a:br>
              <a:rPr lang="en-US" sz="3400" dirty="0"/>
            </a:br>
            <a:r>
              <a:rPr lang="en-US" sz="3400" dirty="0"/>
              <a:t>City of Chicago</a:t>
            </a:r>
            <a:br>
              <a:rPr lang="en-US" sz="3400" dirty="0"/>
            </a:br>
            <a:r>
              <a:rPr lang="en-US" sz="3400" dirty="0"/>
              <a:t>2020-2024</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2308324"/>
          </a:xfrm>
          <a:prstGeom prst="rect">
            <a:avLst/>
          </a:prstGeom>
          <a:noFill/>
        </p:spPr>
        <p:txBody>
          <a:bodyPr wrap="square">
            <a:spAutoFit/>
          </a:bodyPr>
          <a:lstStyle/>
          <a:p>
            <a:r>
              <a:rPr lang="en-US" sz="1600" i="1" dirty="0">
                <a:latin typeface="Abadi Extra Light" panose="020B0604020202020204" pitchFamily="34" charset="0"/>
              </a:rPr>
              <a:t>Identify the major waves of the COVID-19 pandemic in Chicago. When were cases highest, and how did the waves differ in size and timing? Keep these waves in mind as you compare them with L ridership in the slides that follow.</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City of Chicago Data Portal (COVID-19 Daily Cases, Deaths, and Hospitalizations).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COVID-19 cases plot (Figure 1)</a:t>
            </a:r>
            <a:br>
              <a:rPr lang="en-US" dirty="0"/>
            </a:br>
            <a:r>
              <a:rPr lang="en-US" dirty="0"/>
              <a:t>created in step #2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1</a:t>
            </a:fld>
            <a:endParaRPr lang="en-US" sz="1050"/>
          </a:p>
        </p:txBody>
      </p:sp>
    </p:spTree>
    <p:extLst>
      <p:ext uri="{BB962C8B-B14F-4D97-AF65-F5344CB8AC3E}">
        <p14:creationId xmlns:p14="http://schemas.microsoft.com/office/powerpoint/2010/main" val="31965670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CTA L RIDERSHIP</a:t>
            </a:r>
            <a:br>
              <a:rPr lang="en-US" sz="3400" dirty="0"/>
            </a:br>
            <a:r>
              <a:rPr lang="en-US" sz="3400" dirty="0"/>
              <a:t>Weekday Boardings</a:t>
            </a:r>
            <a:br>
              <a:rPr lang="en-US" sz="3400" dirty="0"/>
            </a:br>
            <a:r>
              <a:rPr lang="en-US" sz="3400" dirty="0"/>
              <a:t>1999-2026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1815882"/>
          </a:xfrm>
          <a:prstGeom prst="rect">
            <a:avLst/>
          </a:prstGeom>
          <a:noFill/>
        </p:spPr>
        <p:txBody>
          <a:bodyPr wrap="square">
            <a:spAutoFit/>
          </a:bodyPr>
          <a:lstStyle/>
          <a:p>
            <a:r>
              <a:rPr lang="en-US" sz="1600" i="1" dirty="0">
                <a:latin typeface="Abadi Extra Light" panose="020B0604020202020204" pitchFamily="34" charset="0"/>
              </a:rPr>
              <a:t>Describe long-term trends in L ridership. How did ridership change before the pandemic? How sharply did it fall in spring 2020, and how much has it recovered? Did ridership dip during each COVID-19 wave (slide 1)? Consider how remote work, service levels, perceptions of safety and changes in mode choice might explain the patterns you observe.</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RTAMS (CTA Ridership); City of Chicago Data Portal (CTA Daily Boarding Totals).</a:t>
            </a:r>
            <a:endParaRPr lang="en-US" sz="1400" i="1" cap="none" dirty="0">
              <a:latin typeface="Abadi Extra Light" panose="020B0604020202020204" pitchFamily="34" charset="0"/>
            </a:endParaRPr>
          </a:p>
        </p:txBody>
      </p:sp>
      <p:sp>
        <p:nvSpPr>
          <p:cNvPr id="3" name="Placeholder 1"/>
          <p:cNvSpPr/>
          <p:nvPr/>
        </p:nvSpPr>
        <p:spPr>
          <a:xfrm>
            <a:off x="6735536" y="1698171"/>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monthly L boardings plot</a:t>
            </a:r>
            <a:br>
              <a:rPr lang="en-US" dirty="0"/>
            </a:br>
            <a:r>
              <a:rPr lang="en-US" dirty="0"/>
              <a:t>(Figure 2)</a:t>
            </a:r>
            <a:br>
              <a:rPr lang="en-US" dirty="0"/>
            </a:br>
            <a:r>
              <a:rPr lang="en-US" dirty="0"/>
              <a:t>available in step #2 of exercise.</a:t>
            </a:r>
          </a:p>
        </p:txBody>
      </p:sp>
      <p:sp>
        <p:nvSpPr>
          <p:cNvPr id="4" name="Placeholder 2"/>
          <p:cNvSpPr/>
          <p:nvPr/>
        </p:nvSpPr>
        <p:spPr>
          <a:xfrm>
            <a:off x="6735536" y="3687285"/>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daily L boardings plot</a:t>
            </a:r>
            <a:br>
              <a:rPr lang="en-US" dirty="0"/>
            </a:br>
            <a:r>
              <a:rPr lang="en-US" dirty="0"/>
              <a:t>(Figure 3)</a:t>
            </a:r>
            <a:br>
              <a:rPr lang="en-US" dirty="0"/>
            </a:br>
            <a:r>
              <a:rPr lang="en-US" dirty="0"/>
              <a:t>available in step #2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2</a:t>
            </a:fld>
            <a:endParaRPr lang="en-US" sz="1050"/>
          </a:p>
        </p:txBody>
      </p:sp>
    </p:spTree>
    <p:extLst>
      <p:ext uri="{BB962C8B-B14F-4D97-AF65-F5344CB8AC3E}">
        <p14:creationId xmlns:p14="http://schemas.microsoft.com/office/powerpoint/2010/main" val="31965670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L RIDERSHIP BY LINE</a:t>
            </a:r>
            <a:br>
              <a:rPr lang="en-US" sz="3400" dirty="0"/>
            </a:br>
            <a:r>
              <a:rPr lang="en-US" sz="3400" dirty="0"/>
              <a:t>[INSERT LINE] and [INSERT LINE] Lines</a:t>
            </a:r>
            <a:br>
              <a:rPr lang="en-US" sz="3400" dirty="0"/>
            </a:br>
            <a:r>
              <a:rPr lang="en-US" sz="3400" dirty="0"/>
              <a:t>1999-2026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1815882"/>
          </a:xfrm>
          <a:prstGeom prst="rect">
            <a:avLst/>
          </a:prstGeom>
          <a:noFill/>
        </p:spPr>
        <p:txBody>
          <a:bodyPr wrap="square">
            <a:spAutoFit/>
          </a:bodyPr>
          <a:lstStyle/>
          <a:p>
            <a:r>
              <a:rPr lang="en-US" sz="1600" i="1" dirty="0">
                <a:latin typeface="Abadi Extra Light" panose="020B0604020202020204" pitchFamily="34" charset="0"/>
              </a:rPr>
              <a:t>Compare ridership on the two lines you selected over time. How did each line's ridership change during and after the pandemic, and which has recovered more? Consider the neighborhoods and destinations each line serves (e.g., downtown, airports, universities, hospitals) and how the trips people make on each line may have changed.</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RTAMS (CTA Ridership; Rail Stations).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ridership plot for selected lines (Figure 4)</a:t>
            </a:r>
            <a:br>
              <a:rPr lang="en-US" dirty="0"/>
            </a:br>
            <a:r>
              <a:rPr lang="en-US" dirty="0"/>
              <a:t>created in step #2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3</a:t>
            </a:fld>
            <a:endParaRPr lang="en-US" sz="1050"/>
          </a:p>
        </p:txBody>
      </p:sp>
    </p:spTree>
    <p:extLst>
      <p:ext uri="{BB962C8B-B14F-4D97-AF65-F5344CB8AC3E}">
        <p14:creationId xmlns:p14="http://schemas.microsoft.com/office/powerpoint/2010/main" val="31965670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1" y="870596"/>
            <a:ext cx="6212641" cy="577205"/>
          </a:xfrm>
        </p:spPr>
        <p:txBody>
          <a:bodyPr vert="horz" lIns="91440" tIns="45720" rIns="91440" bIns="45720" rtlCol="0" anchor="t">
            <a:normAutofit fontScale="90000"/>
          </a:bodyPr>
          <a:lstStyle/>
          <a:p>
            <a:pPr>
              <a:lnSpc>
                <a:spcPct val="90000"/>
              </a:lnSpc>
            </a:pPr>
            <a:r>
              <a:rPr lang="en-US" sz="3400" dirty="0"/>
              <a:t>CHANGE IN RIDERSHIP BY STATION</a:t>
            </a:r>
            <a:br>
              <a:rPr lang="en-US" sz="3400" dirty="0"/>
            </a:br>
            <a:r>
              <a:rPr lang="en-US" sz="3400" dirty="0"/>
              <a:t>[INSERT LINE] and [INSERT LINE] Lines</a:t>
            </a:r>
            <a:br>
              <a:rPr lang="en-US" sz="3400" dirty="0"/>
            </a:br>
            <a:r>
              <a:rPr lang="en-US" sz="3400" dirty="0"/>
              <a:t>[MONTH] 2019 to [MONTH YEAR]</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2062103"/>
          </a:xfrm>
          <a:prstGeom prst="rect">
            <a:avLst/>
          </a:prstGeom>
          <a:noFill/>
        </p:spPr>
        <p:txBody>
          <a:bodyPr wrap="square">
            <a:spAutoFit/>
          </a:bodyPr>
          <a:lstStyle/>
          <a:p>
            <a:r>
              <a:rPr lang="en-US" sz="1600" i="1" dirty="0">
                <a:latin typeface="Abadi Extra Light" panose="020B0604020202020204" pitchFamily="34" charset="0"/>
              </a:rPr>
              <a:t>Describe the geographic pattern of ridership change along the two lines. Which stations have recovered the most and least? Consider the land uses around each station, such as downtown offices, residential neighborhoods, universities and major destinations, and how the pandemic may have changed travel to each.</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RTAMS (CTA Ridership; Rail Lines and Stations).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station ridership change map (Figure 5)</a:t>
            </a:r>
            <a:br>
              <a:rPr lang="en-US" dirty="0"/>
            </a:br>
            <a:r>
              <a:rPr lang="en-US" dirty="0"/>
              <a:t>created in step #2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4</a:t>
            </a:fld>
            <a:endParaRPr lang="en-US" sz="1050"/>
          </a:p>
        </p:txBody>
      </p:sp>
    </p:spTree>
    <p:extLst>
      <p:ext uri="{BB962C8B-B14F-4D97-AF65-F5344CB8AC3E}">
        <p14:creationId xmlns:p14="http://schemas.microsoft.com/office/powerpoint/2010/main" val="31965670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COMMUNITY INDICATOR MAP</a:t>
            </a:r>
            <a:br>
              <a:rPr lang="en-US" sz="3400" dirty="0"/>
            </a:br>
            <a:r>
              <a:rPr lang="en-US" sz="3400" dirty="0"/>
              <a:t>[INSERT INDICATOR]</a:t>
            </a:r>
            <a:br>
              <a:rPr lang="en-US" sz="3400" dirty="0"/>
            </a:br>
            <a:r>
              <a:rPr lang="en-US" sz="3400" dirty="0"/>
              <a:t>[INDICATOR PERIOD]</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Describe any relationship you see (or don't see) between the indicator, the location of L lines and stations, and the change in ridership at each station. Which parts of the city have the least advantaged conditions, and how well does the L serve them? Have stations in less advantaged communities recovered more or less than others?</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Chicago Health Atlas; RTAMS (CTA Ridership; Rail Lines and Stations).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community indicator map with L stations (Figure 6)</a:t>
            </a:r>
            <a:br>
              <a:rPr lang="en-US" dirty="0"/>
            </a:br>
            <a:r>
              <a:rPr lang="en-US" dirty="0"/>
              <a:t>created in step #3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5</a:t>
            </a:fld>
            <a:endParaRPr lang="en-US" sz="1050"/>
          </a:p>
        </p:txBody>
      </p:sp>
    </p:spTree>
    <p:extLst>
      <p:ext uri="{BB962C8B-B14F-4D97-AF65-F5344CB8AC3E}">
        <p14:creationId xmlns:p14="http://schemas.microsoft.com/office/powerpoint/2010/main" val="31965670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L RIDERSHIP BY QUINTILE</a:t>
            </a:r>
            <a:br>
              <a:rPr lang="en-US" sz="3400" dirty="0"/>
            </a:br>
            <a:r>
              <a:rPr lang="en-US" sz="3400" dirty="0"/>
              <a:t>[INSERT INDICATOR]</a:t>
            </a:r>
            <a:br>
              <a:rPr lang="en-US" sz="3400" dirty="0"/>
            </a:br>
            <a:r>
              <a:rPr lang="en-US" sz="3400" dirty="0"/>
              <a:t>1999-2026</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Describe how ridership trends differ across quintile categories. Did ridership fall more steeply, or recover more quickly, in less advantaged communities? Using the table, compare each category's share of population with its share of L stations and boardings. What do the differences suggest about who relies on the L and about equitable access to rail transit?</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Chicago Health Atlas; RTAMS (CTA Ridership; Rail Lines and Stations).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plot of weekday boardings by quintile (Figure 7)</a:t>
            </a:r>
            <a:br>
              <a:rPr lang="en-US" dirty="0"/>
            </a:br>
            <a:r>
              <a:rPr lang="en-US" dirty="0"/>
              <a:t>created in step #3 of exercise.</a:t>
            </a:r>
          </a:p>
        </p:txBody>
      </p:sp>
      <p:sp>
        <p:nvSpPr>
          <p:cNvPr id="4" name="Placeholder 2"/>
          <p:cNvSpPr/>
          <p:nvPr/>
        </p:nvSpPr>
        <p:spPr>
          <a:xfrm>
            <a:off x="6735536" y="3687285"/>
            <a:ext cx="4302578" cy="179911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custom summary table by quintile (Table 1)</a:t>
            </a:r>
            <a:br>
              <a:rPr lang="en-US" dirty="0"/>
            </a:br>
            <a:r>
              <a:rPr lang="en-US" dirty="0"/>
              <a:t>created in step #3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6</a:t>
            </a:fld>
            <a:endParaRPr lang="en-US" sz="1050"/>
          </a:p>
        </p:txBody>
      </p:sp>
    </p:spTree>
    <p:extLst>
      <p:ext uri="{BB962C8B-B14F-4D97-AF65-F5344CB8AC3E}">
        <p14:creationId xmlns:p14="http://schemas.microsoft.com/office/powerpoint/2010/main" val="31965670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FOCUS COMMUNITY AREAS</a:t>
            </a:r>
            <a:br>
              <a:rPr lang="en-US" sz="3400" dirty="0"/>
            </a:br>
            <a:r>
              <a:rPr lang="en-US" sz="3400" dirty="0"/>
              <a:t>[INSERT COMMUNITY AREAS]</a:t>
            </a:r>
            <a:br>
              <a:rPr lang="en-US" sz="3400" dirty="0"/>
            </a:br>
            <a:r>
              <a:rPr lang="en-US" sz="3400" dirty="0"/>
              <a:t>City of Chicago</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Describe your three focus community areas: one with less advantaged conditions where ridership has recovered slowly, one where ridership has recovered strongly, and one with few or no L stations. What do the indicators, station locations and changes in ridership tell you about each? Why did you choose it?</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Data sources: Chicago Health Atlas; RTAMS (CTA Ridership; Rail Lines and Stations).</a:t>
            </a:r>
            <a:endParaRPr lang="en-US" sz="1400" i="1" cap="none" dirty="0">
              <a:latin typeface="Abadi Extra Light" panose="020B0604020202020204" pitchFamily="34" charset="0"/>
            </a:endParaRPr>
          </a:p>
        </p:txBody>
      </p:sp>
      <p:sp>
        <p:nvSpPr>
          <p:cNvPr id="3" name="Placeholder 1"/>
          <p:cNvSpPr/>
          <p:nvPr/>
        </p:nvSpPr>
        <p:spPr>
          <a:xfrm>
            <a:off x="6735536" y="1698171"/>
            <a:ext cx="4302578" cy="3788229"/>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Insert zoomed screenshot of community indicator map</a:t>
            </a:r>
            <a:br>
              <a:rPr lang="en-US" dirty="0"/>
            </a:br>
            <a:r>
              <a:rPr lang="en-US" dirty="0"/>
              <a:t>(</a:t>
            </a:r>
            <a:r>
              <a:rPr lang="en-US"/>
              <a:t>Figure 6) showing focus community areas</a:t>
            </a:r>
            <a:br>
              <a:rPr lang="en-US" dirty="0"/>
            </a:br>
            <a:r>
              <a:rPr lang="en-US" dirty="0"/>
              <a:t>created in step #4 of exercise.</a:t>
            </a: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7</a:t>
            </a:fld>
            <a:endParaRPr lang="en-US" sz="1050"/>
          </a:p>
        </p:txBody>
      </p:sp>
    </p:spTree>
    <p:extLst>
      <p:ext uri="{BB962C8B-B14F-4D97-AF65-F5344CB8AC3E}">
        <p14:creationId xmlns:p14="http://schemas.microsoft.com/office/powerpoint/2010/main" val="31965670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77977495-7045-4BEB-B038-AC19B9064EC1}"/>
              </a:ext>
            </a:extLst>
          </p:cNvPr>
          <p:cNvSpPr>
            <a:spLocks noGrp="1"/>
          </p:cNvSpPr>
          <p:nvPr>
            <p:ph type="title"/>
          </p:nvPr>
        </p:nvSpPr>
        <p:spPr>
          <a:xfrm>
            <a:off x="669852" y="870596"/>
            <a:ext cx="5426148" cy="577205"/>
          </a:xfrm>
        </p:spPr>
        <p:txBody>
          <a:bodyPr vert="horz" lIns="91440" tIns="45720" rIns="91440" bIns="45720" rtlCol="0" anchor="t">
            <a:normAutofit fontScale="90000"/>
          </a:bodyPr>
          <a:lstStyle/>
          <a:p>
            <a:pPr>
              <a:lnSpc>
                <a:spcPct val="90000"/>
              </a:lnSpc>
            </a:pPr>
            <a:r>
              <a:rPr lang="en-US" sz="3400" dirty="0"/>
              <a:t>STRATEGIES FOR IMPROVING RIDERSHIP</a:t>
            </a:r>
            <a:br>
              <a:rPr lang="en-US" sz="3400" dirty="0"/>
            </a:br>
            <a:r>
              <a:rPr lang="en-US" sz="3400" dirty="0"/>
              <a:t>Focus Community Areas and Citywide</a:t>
            </a:r>
            <a:br>
              <a:rPr lang="en-US" sz="3400" dirty="0"/>
            </a:br>
            <a:r>
              <a:rPr lang="en-US" sz="3400" dirty="0"/>
              <a:t>City of Chicago</a:t>
            </a:r>
          </a:p>
        </p:txBody>
      </p:sp>
      <p:sp>
        <p:nvSpPr>
          <p:cNvPr id="11" name="TextBox 10">
            <a:extLst>
              <a:ext uri="{FF2B5EF4-FFF2-40B4-BE49-F238E27FC236}">
                <a16:creationId xmlns:a16="http://schemas.microsoft.com/office/drawing/2014/main" id="{3E48FC44-1FA2-4F7A-0A80-59B4E81301D5}"/>
              </a:ext>
            </a:extLst>
          </p:cNvPr>
          <p:cNvSpPr txBox="1"/>
          <p:nvPr/>
        </p:nvSpPr>
        <p:spPr>
          <a:xfrm>
            <a:off x="700331" y="2150000"/>
            <a:ext cx="5700000" cy="3200000"/>
          </a:xfrm>
          <a:prstGeom prst="rect">
            <a:avLst/>
          </a:prstGeom>
          <a:noFill/>
        </p:spPr>
        <p:txBody>
          <a:bodyPr wrap="square">
            <a:spAutoFit/>
          </a:bodyPr>
          <a:lstStyle/>
          <a:p>
            <a:r>
              <a:rPr lang="en-US" sz="1600" i="1" dirty="0">
                <a:latin typeface="Abadi Extra Light" panose="020B0604020202020204" pitchFamily="34" charset="0"/>
              </a:rPr>
              <a:t>Complete the table for your focus community areas using Walker's seven demands and seven phases of a trip. Then propose one citywide strategy that would do the most to increase L ridership in Chicago. Why did you choose it, who would benefit most, and what would it take to implement?</a:t>
            </a:r>
          </a:p>
        </p:txBody>
      </p:sp>
      <p:sp>
        <p:nvSpPr>
          <p:cNvPr id="12" name="TextBox 11">
            <a:extLst>
              <a:ext uri="{FF2B5EF4-FFF2-40B4-BE49-F238E27FC236}">
                <a16:creationId xmlns:a16="http://schemas.microsoft.com/office/drawing/2014/main" id="{87D582C6-CEC0-AFAA-58EF-768E3AC494E0}"/>
              </a:ext>
            </a:extLst>
          </p:cNvPr>
          <p:cNvSpPr txBox="1"/>
          <p:nvPr/>
        </p:nvSpPr>
        <p:spPr>
          <a:xfrm>
            <a:off x="700331" y="5580302"/>
            <a:ext cx="5953561" cy="307777"/>
          </a:xfrm>
          <a:prstGeom prst="rect">
            <a:avLst/>
          </a:prstGeom>
          <a:noFill/>
        </p:spPr>
        <p:txBody>
          <a:bodyPr wrap="square">
            <a:spAutoFit/>
          </a:bodyPr>
          <a:lstStyle/>
          <a:p>
            <a:r>
              <a:rPr lang="en-US" sz="1400" i="1" dirty="0">
                <a:latin typeface="Abadi Extra Light" panose="020B0604020202020204" pitchFamily="34" charset="0"/>
              </a:rPr>
              <a:t>Sources: Walker (2012), Human Transit; Litman, Victoria Transport Policy Institute.</a:t>
            </a:r>
            <a:endParaRPr lang="en-US" sz="1400" i="1" cap="none" dirty="0">
              <a:latin typeface="Abadi Extra Light" panose="020B0604020202020204" pitchFamily="34" charset="0"/>
            </a:endParaRPr>
          </a:p>
        </p:txBody>
      </p:sp>
      <p:sp>
        <p:nvSpPr>
          <p:cNvPr id="20" name="Footer Placeholder 19"/>
          <p:cNvSpPr>
            <a:spLocks noGrp="1"/>
          </p:cNvSpPr>
          <p:nvPr>
            <p:ph type="ftr" sz="quarter" idx="11"/>
          </p:nvPr>
        </p:nvSpPr>
        <p:spPr>
          <a:xfrm>
            <a:off x="715383" y="6230000"/>
            <a:ext cx="10095603" cy="365125"/>
          </a:xfrm>
        </p:spPr>
        <p:txBody>
          <a:bodyPr/>
          <a:lstStyle/>
          <a:p>
            <a:r>
              <a:rPr lang="en-US" sz="1050" dirty="0"/>
              <a:t>Sustainable Urban Transportation Exercise #3  |  Autumn 2026  |  DePaul University  |  C. Scott Smith, PhD AICP</a:t>
            </a:r>
          </a:p>
        </p:txBody>
      </p:sp>
      <p:sp>
        <p:nvSpPr>
          <p:cNvPr id="21" name="Slide Number Placeholder 20"/>
          <p:cNvSpPr>
            <a:spLocks noGrp="1"/>
          </p:cNvSpPr>
          <p:nvPr>
            <p:ph type="sldNum" sz="quarter" idx="12"/>
          </p:nvPr>
        </p:nvSpPr>
        <p:spPr>
          <a:xfrm>
            <a:off x="10810986" y="6230000"/>
            <a:ext cx="672354" cy="365125"/>
          </a:xfrm>
        </p:spPr>
        <p:txBody>
          <a:bodyPr/>
          <a:lstStyle/>
          <a:p>
            <a:fld id="{C3DB2ADC-AF19-4574-8C10-79B5B04FCA27}" type="slidenum">
              <a:rPr lang="en-US" sz="1050"/>
              <a:t>8</a:t>
            </a:fld>
            <a:endParaRPr lang="en-US" sz="1050"/>
          </a:p>
        </p:txBody>
      </p:sp>
      <p:graphicFrame>
        <p:nvGraphicFramePr>
          <p:cNvPr id="22" name="Table 21"/>
          <p:cNvGraphicFramePr>
            <a:graphicFrameLocks noGrp="1"/>
          </p:cNvGraphicFramePr>
          <p:nvPr/>
        </p:nvGraphicFramePr>
        <p:xfrm>
          <a:off x="6535536" y="1698171"/>
          <a:ext cx="4700000" cy="3788229"/>
        </p:xfrm>
        <a:graphic>
          <a:graphicData uri="http://schemas.openxmlformats.org/drawingml/2006/table">
            <a:tbl>
              <a:tblPr firstRow="1" bandRow="1">
                <a:tableStyleId>{5C22544A-7EE6-4342-B048-85BDC9FD1C3A}</a:tableStyleId>
              </a:tblPr>
              <a:tblGrid>
                <a:gridCol w="1050000"/>
                <a:gridCol w="1200000"/>
                <a:gridCol w="1200000"/>
                <a:gridCol w="1250000"/>
              </a:tblGrid>
              <a:tr h="757645">
                <a:tc>
                  <a:txBody>
                    <a:bodyPr/>
                    <a:lstStyle/>
                    <a:p>
                      <a:r>
                        <a:rPr sz="1100" b="1"/>
                        <a:t>Community Area</a:t>
                      </a:r>
                    </a:p>
                  </a:txBody>
                  <a:tcPr marL="60000" marR="60000"/>
                </a:tc>
                <a:tc>
                  <a:txBody>
                    <a:bodyPr/>
                    <a:lstStyle/>
                    <a:p>
                      <a:r>
                        <a:rPr sz="1100" b="1"/>
                        <a:t>Barrier (demand or trip phase)</a:t>
                      </a:r>
                    </a:p>
                  </a:txBody>
                  <a:tcPr marL="60000" marR="60000"/>
                </a:tc>
                <a:tc>
                  <a:txBody>
                    <a:bodyPr/>
                    <a:lstStyle/>
                    <a:p>
                      <a:r>
                        <a:rPr sz="1100" b="1"/>
                        <a:t>Proposed Strategy</a:t>
                      </a:r>
                    </a:p>
                  </a:txBody>
                  <a:tcPr marL="60000" marR="60000"/>
                </a:tc>
                <a:tc>
                  <a:txBody>
                    <a:bodyPr/>
                    <a:lstStyle/>
                    <a:p>
                      <a:r>
                        <a:rPr sz="1100" b="1"/>
                        <a:t>Expected Effect and Tradeoffs</a:t>
                      </a:r>
                    </a:p>
                  </a:txBody>
                  <a:tcPr marL="60000" marR="60000"/>
                </a:tc>
              </a:tr>
              <a:tr h="757645">
                <a:tc>
                  <a:txBody>
                    <a:bodyPr/>
                    <a:lstStyle/>
                    <a:p>
                      <a:r>
                        <a:rPr sz="1050" b="1"/>
                        <a:t>[Focus area 1]</a:t>
                      </a:r>
                    </a:p>
                  </a:txBody>
                  <a:tcPr marL="60000" marR="60000"/>
                </a:tc>
                <a:tc>
                  <a:txBody>
                    <a:bodyPr/>
                    <a:lstStyle/>
                    <a:p/>
                  </a:txBody>
                  <a:tcPr marL="60000" marR="60000"/>
                </a:tc>
                <a:tc>
                  <a:txBody>
                    <a:bodyPr/>
                    <a:lstStyle/>
                    <a:p/>
                  </a:txBody>
                  <a:tcPr marL="60000" marR="60000"/>
                </a:tc>
                <a:tc>
                  <a:txBody>
                    <a:bodyPr/>
                    <a:lstStyle/>
                    <a:p/>
                  </a:txBody>
                  <a:tcPr marL="60000" marR="60000"/>
                </a:tc>
              </a:tr>
              <a:tr h="757645">
                <a:tc>
                  <a:txBody>
                    <a:bodyPr/>
                    <a:lstStyle/>
                    <a:p>
                      <a:r>
                        <a:rPr sz="1050" b="1"/>
                        <a:t>[Focus area 2]</a:t>
                      </a:r>
                    </a:p>
                  </a:txBody>
                  <a:tcPr marL="60000" marR="60000"/>
                </a:tc>
                <a:tc>
                  <a:txBody>
                    <a:bodyPr/>
                    <a:lstStyle/>
                    <a:p/>
                  </a:txBody>
                  <a:tcPr marL="60000" marR="60000"/>
                </a:tc>
                <a:tc>
                  <a:txBody>
                    <a:bodyPr/>
                    <a:lstStyle/>
                    <a:p/>
                  </a:txBody>
                  <a:tcPr marL="60000" marR="60000"/>
                </a:tc>
                <a:tc>
                  <a:txBody>
                    <a:bodyPr/>
                    <a:lstStyle/>
                    <a:p/>
                  </a:txBody>
                  <a:tcPr marL="60000" marR="60000"/>
                </a:tc>
              </a:tr>
              <a:tr h="757645">
                <a:tc>
                  <a:txBody>
                    <a:bodyPr/>
                    <a:lstStyle/>
                    <a:p>
                      <a:r>
                        <a:rPr sz="1050" b="1"/>
                        <a:t>[Focus area 3]</a:t>
                      </a:r>
                    </a:p>
                  </a:txBody>
                  <a:tcPr marL="60000" marR="60000"/>
                </a:tc>
                <a:tc>
                  <a:txBody>
                    <a:bodyPr/>
                    <a:lstStyle/>
                    <a:p/>
                  </a:txBody>
                  <a:tcPr marL="60000" marR="60000"/>
                </a:tc>
                <a:tc>
                  <a:txBody>
                    <a:bodyPr/>
                    <a:lstStyle/>
                    <a:p/>
                  </a:txBody>
                  <a:tcPr marL="60000" marR="60000"/>
                </a:tc>
                <a:tc>
                  <a:txBody>
                    <a:bodyPr/>
                    <a:lstStyle/>
                    <a:p/>
                  </a:txBody>
                  <a:tcPr marL="60000" marR="60000"/>
                </a:tc>
              </a:tr>
              <a:tr h="757649">
                <a:tc>
                  <a:txBody>
                    <a:bodyPr/>
                    <a:lstStyle/>
                    <a:p>
                      <a:r>
                        <a:rPr sz="1050" b="1"/>
                        <a:t>Citywide</a:t>
                      </a:r>
                    </a:p>
                  </a:txBody>
                  <a:tcPr marL="60000" marR="60000"/>
                </a:tc>
                <a:tc>
                  <a:txBody>
                    <a:bodyPr/>
                    <a:lstStyle/>
                    <a:p/>
                  </a:txBody>
                  <a:tcPr marL="60000" marR="60000"/>
                </a:tc>
                <a:tc>
                  <a:txBody>
                    <a:bodyPr/>
                    <a:lstStyle/>
                    <a:p/>
                  </a:txBody>
                  <a:tcPr marL="60000" marR="60000"/>
                </a:tc>
                <a:tc>
                  <a:txBody>
                    <a:bodyPr/>
                    <a:lstStyle/>
                    <a:p/>
                  </a:txBody>
                  <a:tcPr marL="60000" marR="60000"/>
                </a:tc>
              </a:tr>
            </a:tbl>
          </a:graphicData>
        </a:graphic>
      </p:graphicFrame>
    </p:spTree>
    <p:extLst>
      <p:ext uri="{BB962C8B-B14F-4D97-AF65-F5344CB8AC3E}">
        <p14:creationId xmlns:p14="http://schemas.microsoft.com/office/powerpoint/2010/main" val="3196567090"/>
      </p:ext>
    </p:extLst>
  </p:cSld>
  <p:clrMapOvr>
    <a:masterClrMapping/>
  </p:clrMapOvr>
</p:sld>
</file>

<file path=ppt/theme/theme1.xml><?xml version="1.0" encoding="utf-8"?>
<a:theme xmlns:a="http://schemas.openxmlformats.org/drawingml/2006/main" name="ChronicleVTI">
  <a:themeElements>
    <a:clrScheme name="Chronicle">
      <a:dk1>
        <a:srgbClr val="000000"/>
      </a:dk1>
      <a:lt1>
        <a:srgbClr val="FFFFFF"/>
      </a:lt1>
      <a:dk2>
        <a:srgbClr val="1C1C32"/>
      </a:dk2>
      <a:lt2>
        <a:srgbClr val="F8F4F1"/>
      </a:lt2>
      <a:accent1>
        <a:srgbClr val="4682B4"/>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Univers Calisto">
      <a:majorFont>
        <a:latin typeface="Univers Condensed"/>
        <a:ea typeface=""/>
        <a:cs typeface=""/>
      </a:majorFont>
      <a:minorFont>
        <a:latin typeface="Calisto M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nicleVTI" id="{508E4D90-5116-4BF0-876B-3F422DD1F65F}" vid="{AA21DC3D-92A8-43A4-8358-ED428371CD55}"/>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C89E2DFAF961F54A84E2255C106EB7C6" ma:contentTypeVersion="14" ma:contentTypeDescription="Create a new document." ma:contentTypeScope="" ma:versionID="37fda1044ea6fcdf3bd16bc3c94ad44f">
  <xsd:schema xmlns:xsd="http://www.w3.org/2001/XMLSchema" xmlns:xs="http://www.w3.org/2001/XMLSchema" xmlns:p="http://schemas.microsoft.com/office/2006/metadata/properties" xmlns:ns3="f1ca5527-4d73-4ce9-b1ce-36fa22ecda61" xmlns:ns4="3dc9000b-820f-4ca7-9747-1e0793ae1595" targetNamespace="http://schemas.microsoft.com/office/2006/metadata/properties" ma:root="true" ma:fieldsID="5af716157f5d25fba0ad372f267ba070" ns3:_="" ns4:_="">
    <xsd:import namespace="f1ca5527-4d73-4ce9-b1ce-36fa22ecda61"/>
    <xsd:import namespace="3dc9000b-820f-4ca7-9747-1e0793ae159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KeyPoints" minOccurs="0"/>
                <xsd:element ref="ns3:MediaServiceKeyPoints" minOccurs="0"/>
                <xsd:element ref="ns3:MediaServiceAutoTags" minOccurs="0"/>
                <xsd:element ref="ns3:MediaServiceOCR" minOccurs="0"/>
                <xsd:element ref="ns3:MediaServiceGenerationTime" minOccurs="0"/>
                <xsd:element ref="ns3:MediaServiceEventHashCode" minOccurs="0"/>
                <xsd:element ref="ns3:MediaServiceDateTaken" minOccurs="0"/>
                <xsd:element ref="ns3:MediaServiceLocation"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1ca5527-4d73-4ce9-b1ce-36fa22ecda61"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3" nillable="true" ma:displayName="MediaServiceAutoKeyPoints" ma:hidden="true" ma:internalName="MediaServiceAutoKeyPoints" ma:readOnly="true">
      <xsd:simpleType>
        <xsd:restriction base="dms:Note"/>
      </xsd:simpleType>
    </xsd:element>
    <xsd:element name="MediaServiceKeyPoints" ma:index="14" nillable="true" ma:displayName="KeyPoints" ma:internalName="MediaServiceKeyPoints" ma:readOnly="true">
      <xsd:simpleType>
        <xsd:restriction base="dms:Note">
          <xsd:maxLength value="255"/>
        </xsd:restriction>
      </xsd:simpleType>
    </xsd:element>
    <xsd:element name="MediaServiceAutoTags" ma:index="15" nillable="true" ma:displayName="Tags" ma:internalName="MediaServiceAutoTags"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DateTaken" ma:index="19" nillable="true" ma:displayName="MediaServiceDateTaken" ma:hidden="true" ma:internalName="MediaServiceDateTaken" ma:readOnly="true">
      <xsd:simpleType>
        <xsd:restriction base="dms:Text"/>
      </xsd:simpleType>
    </xsd:element>
    <xsd:element name="MediaServiceLocation" ma:index="20" nillable="true" ma:displayName="Location" ma:internalName="MediaServiceLocatio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3dc9000b-820f-4ca7-9747-1e0793ae159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E63FC6B2-8F98-4431-99CC-7C9E3804CD6C}">
  <ds:schemaRefs>
    <ds:schemaRef ds:uri="http://schemas.microsoft.com/office/infopath/2007/PartnerControls"/>
    <ds:schemaRef ds:uri="http://purl.org/dc/elements/1.1/"/>
    <ds:schemaRef ds:uri="http://schemas.microsoft.com/office/2006/metadata/properties"/>
    <ds:schemaRef ds:uri="http://purl.org/dc/terms/"/>
    <ds:schemaRef ds:uri="f1ca5527-4d73-4ce9-b1ce-36fa22ecda61"/>
    <ds:schemaRef ds:uri="http://schemas.openxmlformats.org/package/2006/metadata/core-properties"/>
    <ds:schemaRef ds:uri="http://schemas.microsoft.com/office/2006/documentManagement/types"/>
    <ds:schemaRef ds:uri="3dc9000b-820f-4ca7-9747-1e0793ae1595"/>
    <ds:schemaRef ds:uri="http://www.w3.org/XML/1998/namespace"/>
    <ds:schemaRef ds:uri="http://purl.org/dc/dcmitype/"/>
  </ds:schemaRefs>
</ds:datastoreItem>
</file>

<file path=customXml/itemProps2.xml><?xml version="1.0" encoding="utf-8"?>
<ds:datastoreItem xmlns:ds="http://schemas.openxmlformats.org/officeDocument/2006/customXml" ds:itemID="{9F16F009-DBF7-445D-86F2-D269D4D5C9CA}">
  <ds:schemaRefs>
    <ds:schemaRef ds:uri="http://schemas.microsoft.com/sharepoint/v3/contenttype/forms"/>
  </ds:schemaRefs>
</ds:datastoreItem>
</file>

<file path=customXml/itemProps3.xml><?xml version="1.0" encoding="utf-8"?>
<ds:datastoreItem xmlns:ds="http://schemas.openxmlformats.org/officeDocument/2006/customXml" ds:itemID="{E65681D8-D955-4FCC-9752-6E901C9412E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1ca5527-4d73-4ce9-b1ce-36fa22ecda61"/>
    <ds:schemaRef ds:uri="3dc9000b-820f-4ca7-9747-1e0793ae159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Retrospect</Template>
  <TotalTime>3693</TotalTime>
  <Words>1231</Words>
  <Application>Microsoft Office PowerPoint</Application>
  <PresentationFormat>Widescreen</PresentationFormat>
  <Paragraphs>50</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Abadi Extra Light</vt:lpstr>
      <vt:lpstr>Arial</vt:lpstr>
      <vt:lpstr>Calisto MT</vt:lpstr>
      <vt:lpstr>Univers Condensed</vt:lpstr>
      <vt:lpstr>ChronicleVTI</vt:lpstr>
      <vt:lpstr>CUMULATIVE DIVVY TRIPS City of Chicago 2013-2026</vt:lpstr>
      <vt:lpstr>MONTHLY DIVVY TRIPS City of Chicago 2013-2026</vt:lpstr>
      <vt:lpstr>DAILY TRIPS &amp; TRIP DURATION City of Chicago 2013-2026</vt:lpstr>
      <vt:lpstr>DIVVY TRIPS BY COMMUNITY AREA City of Chicago 2013-2026</vt:lpstr>
      <vt:lpstr>COMMUNITY INDICATOR MAP [INSERT INDICATOR] [INDICATOR PERIOD]</vt:lpstr>
      <vt:lpstr>DIVVY TRIPS BY QUINTILE [INSERT INDICATOR] 2013-2026</vt:lpstr>
      <vt:lpstr>AVERAGE TRIP DURATION Selected Community Areas 2013-2026</vt:lpstr>
      <vt:lpstr>MONTHLY DIVVY TRIPS Selected Community Areas 2013-2026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Exercise #3: L Ridership, Community Characteristics and Strategies</dc:title>
  <dc:creator>Smith, Christopher</dc:creator>
  <cp:lastModifiedBy>Christopher Smith</cp:lastModifiedBy>
  <cp:revision>12</cp:revision>
  <dcterms:created xsi:type="dcterms:W3CDTF">2022-04-04T19:58:17Z</dcterms:created>
  <dcterms:modified xsi:type="dcterms:W3CDTF">2026-09-29T16:11:43Z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0x010100C89E2DFAF961F54A84E2255C106EB7C6</vt:lpwstr>
  </property>
</Properties>
</file>