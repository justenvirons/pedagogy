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sldIdLst>
    <p:sldId id="258" r:id="rId5"/>
    <p:sldId id="265" r:id="rId6"/>
    <p:sldId id="267" r:id="rId7"/>
    <p:sldId id="268" r:id="rId8"/>
    <p:sldId id="269" r:id="rId9"/>
    <p:sldId id="270" r:id="rId10"/>
    <p:sldId id="271"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9A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3F8D5B-AFC8-483A-9718-8C9D35F993DA}" v="5" dt="2025-01-23T02:51:20.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3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Christopher" userId="f635bcaf-d701-437b-bffd-1a8f160c01d9" providerId="ADAL" clId="{E13F8D5B-AFC8-483A-9718-8C9D35F993DA}"/>
    <pc:docChg chg="custSel modSld">
      <pc:chgData name="Smith, Christopher" userId="f635bcaf-d701-437b-bffd-1a8f160c01d9" providerId="ADAL" clId="{E13F8D5B-AFC8-483A-9718-8C9D35F993DA}" dt="2025-01-23T02:51:27.929" v="150" actId="20577"/>
      <pc:docMkLst>
        <pc:docMk/>
      </pc:docMkLst>
      <pc:sldChg chg="modSp">
        <pc:chgData name="Smith, Christopher" userId="f635bcaf-d701-437b-bffd-1a8f160c01d9" providerId="ADAL" clId="{E13F8D5B-AFC8-483A-9718-8C9D35F993DA}" dt="2025-01-08T21:27:53.101" v="0"/>
        <pc:sldMkLst>
          <pc:docMk/>
          <pc:sldMk cId="3196567083" sldId="258"/>
        </pc:sldMkLst>
        <pc:spChg chg="mod">
          <ac:chgData name="Smith, Christopher" userId="f635bcaf-d701-437b-bffd-1a8f160c01d9" providerId="ADAL" clId="{E13F8D5B-AFC8-483A-9718-8C9D35F993DA}" dt="2025-01-08T21:27:53.101" v="0"/>
          <ac:spMkLst>
            <pc:docMk/>
            <pc:sldMk cId="3196567083" sldId="258"/>
            <ac:spMk id="6" creationId="{77977495-7045-4BEB-B038-AC19B9064EC1}"/>
          </ac:spMkLst>
        </pc:spChg>
      </pc:sldChg>
      <pc:sldChg chg="modSp">
        <pc:chgData name="Smith, Christopher" userId="f635bcaf-d701-437b-bffd-1a8f160c01d9" providerId="ADAL" clId="{E13F8D5B-AFC8-483A-9718-8C9D35F993DA}" dt="2025-01-08T21:27:53.101" v="0"/>
        <pc:sldMkLst>
          <pc:docMk/>
          <pc:sldMk cId="570994172" sldId="265"/>
        </pc:sldMkLst>
        <pc:spChg chg="mod">
          <ac:chgData name="Smith, Christopher" userId="f635bcaf-d701-437b-bffd-1a8f160c01d9" providerId="ADAL" clId="{E13F8D5B-AFC8-483A-9718-8C9D35F993DA}" dt="2025-01-08T21:27:53.101" v="0"/>
          <ac:spMkLst>
            <pc:docMk/>
            <pc:sldMk cId="570994172" sldId="265"/>
            <ac:spMk id="6" creationId="{77977495-7045-4BEB-B038-AC19B9064EC1}"/>
          </ac:spMkLst>
        </pc:spChg>
      </pc:sldChg>
      <pc:sldChg chg="modSp">
        <pc:chgData name="Smith, Christopher" userId="f635bcaf-d701-437b-bffd-1a8f160c01d9" providerId="ADAL" clId="{E13F8D5B-AFC8-483A-9718-8C9D35F993DA}" dt="2025-01-08T21:27:53.101" v="0"/>
        <pc:sldMkLst>
          <pc:docMk/>
          <pc:sldMk cId="2783955809" sldId="267"/>
        </pc:sldMkLst>
        <pc:spChg chg="mod">
          <ac:chgData name="Smith, Christopher" userId="f635bcaf-d701-437b-bffd-1a8f160c01d9" providerId="ADAL" clId="{E13F8D5B-AFC8-483A-9718-8C9D35F993DA}" dt="2025-01-08T21:27:53.101" v="0"/>
          <ac:spMkLst>
            <pc:docMk/>
            <pc:sldMk cId="2783955809" sldId="267"/>
            <ac:spMk id="6" creationId="{77977495-7045-4BEB-B038-AC19B9064EC1}"/>
          </ac:spMkLst>
        </pc:spChg>
      </pc:sldChg>
      <pc:sldChg chg="modSp">
        <pc:chgData name="Smith, Christopher" userId="f635bcaf-d701-437b-bffd-1a8f160c01d9" providerId="ADAL" clId="{E13F8D5B-AFC8-483A-9718-8C9D35F993DA}" dt="2025-01-08T21:27:53.101" v="0"/>
        <pc:sldMkLst>
          <pc:docMk/>
          <pc:sldMk cId="3538999179" sldId="268"/>
        </pc:sldMkLst>
        <pc:spChg chg="mod">
          <ac:chgData name="Smith, Christopher" userId="f635bcaf-d701-437b-bffd-1a8f160c01d9" providerId="ADAL" clId="{E13F8D5B-AFC8-483A-9718-8C9D35F993DA}" dt="2025-01-08T21:27:53.101" v="0"/>
          <ac:spMkLst>
            <pc:docMk/>
            <pc:sldMk cId="3538999179" sldId="268"/>
            <ac:spMk id="6" creationId="{77977495-7045-4BEB-B038-AC19B9064EC1}"/>
          </ac:spMkLst>
        </pc:spChg>
      </pc:sldChg>
      <pc:sldChg chg="modSp">
        <pc:chgData name="Smith, Christopher" userId="f635bcaf-d701-437b-bffd-1a8f160c01d9" providerId="ADAL" clId="{E13F8D5B-AFC8-483A-9718-8C9D35F993DA}" dt="2025-01-08T21:27:53.101" v="0"/>
        <pc:sldMkLst>
          <pc:docMk/>
          <pc:sldMk cId="3185828549" sldId="269"/>
        </pc:sldMkLst>
        <pc:spChg chg="mod">
          <ac:chgData name="Smith, Christopher" userId="f635bcaf-d701-437b-bffd-1a8f160c01d9" providerId="ADAL" clId="{E13F8D5B-AFC8-483A-9718-8C9D35F993DA}" dt="2025-01-08T21:27:53.101" v="0"/>
          <ac:spMkLst>
            <pc:docMk/>
            <pc:sldMk cId="3185828549" sldId="269"/>
            <ac:spMk id="6" creationId="{77977495-7045-4BEB-B038-AC19B9064EC1}"/>
          </ac:spMkLst>
        </pc:spChg>
      </pc:sldChg>
      <pc:sldChg chg="modSp">
        <pc:chgData name="Smith, Christopher" userId="f635bcaf-d701-437b-bffd-1a8f160c01d9" providerId="ADAL" clId="{E13F8D5B-AFC8-483A-9718-8C9D35F993DA}" dt="2025-01-08T21:27:53.101" v="0"/>
        <pc:sldMkLst>
          <pc:docMk/>
          <pc:sldMk cId="252128979" sldId="270"/>
        </pc:sldMkLst>
        <pc:spChg chg="mod">
          <ac:chgData name="Smith, Christopher" userId="f635bcaf-d701-437b-bffd-1a8f160c01d9" providerId="ADAL" clId="{E13F8D5B-AFC8-483A-9718-8C9D35F993DA}" dt="2025-01-08T21:27:53.101" v="0"/>
          <ac:spMkLst>
            <pc:docMk/>
            <pc:sldMk cId="252128979" sldId="270"/>
            <ac:spMk id="6" creationId="{77977495-7045-4BEB-B038-AC19B9064EC1}"/>
          </ac:spMkLst>
        </pc:spChg>
      </pc:sldChg>
      <pc:sldChg chg="addSp modSp mod">
        <pc:chgData name="Smith, Christopher" userId="f635bcaf-d701-437b-bffd-1a8f160c01d9" providerId="ADAL" clId="{E13F8D5B-AFC8-483A-9718-8C9D35F993DA}" dt="2025-01-23T02:51:27.929" v="150" actId="20577"/>
        <pc:sldMkLst>
          <pc:docMk/>
          <pc:sldMk cId="4250341618" sldId="272"/>
        </pc:sldMkLst>
        <pc:spChg chg="mod">
          <ac:chgData name="Smith, Christopher" userId="f635bcaf-d701-437b-bffd-1a8f160c01d9" providerId="ADAL" clId="{E13F8D5B-AFC8-483A-9718-8C9D35F993DA}" dt="2025-01-23T02:50:56.570" v="77" actId="27636"/>
          <ac:spMkLst>
            <pc:docMk/>
            <pc:sldMk cId="4250341618" sldId="272"/>
            <ac:spMk id="2" creationId="{98367D9D-E749-871C-9426-849C9F0966A1}"/>
          </ac:spMkLst>
        </pc:spChg>
        <pc:spChg chg="add mod">
          <ac:chgData name="Smith, Christopher" userId="f635bcaf-d701-437b-bffd-1a8f160c01d9" providerId="ADAL" clId="{E13F8D5B-AFC8-483A-9718-8C9D35F993DA}" dt="2025-01-23T02:51:10.753" v="127" actId="20577"/>
          <ac:spMkLst>
            <pc:docMk/>
            <pc:sldMk cId="4250341618" sldId="272"/>
            <ac:spMk id="5" creationId="{1ADB1A9B-219E-84BA-108A-FBA5E835FDBB}"/>
          </ac:spMkLst>
        </pc:spChg>
        <pc:spChg chg="add mod">
          <ac:chgData name="Smith, Christopher" userId="f635bcaf-d701-437b-bffd-1a8f160c01d9" providerId="ADAL" clId="{E13F8D5B-AFC8-483A-9718-8C9D35F993DA}" dt="2025-01-23T02:51:27.929" v="150" actId="20577"/>
          <ac:spMkLst>
            <pc:docMk/>
            <pc:sldMk cId="4250341618" sldId="272"/>
            <ac:spMk id="6" creationId="{EE6ADB73-0C14-8B17-FE0A-4E6CC9B5AD3D}"/>
          </ac:spMkLst>
        </pc:spChg>
        <pc:picChg chg="add mod">
          <ac:chgData name="Smith, Christopher" userId="f635bcaf-d701-437b-bffd-1a8f160c01d9" providerId="ADAL" clId="{E13F8D5B-AFC8-483A-9718-8C9D35F993DA}" dt="2025-01-16T02:38:13.819" v="5" actId="1076"/>
          <ac:picMkLst>
            <pc:docMk/>
            <pc:sldMk cId="4250341618" sldId="272"/>
            <ac:picMk id="3" creationId="{0551B1A3-5612-DFCE-F113-F20267DFB583}"/>
          </ac:picMkLst>
        </pc:picChg>
        <pc:picChg chg="add mod">
          <ac:chgData name="Smith, Christopher" userId="f635bcaf-d701-437b-bffd-1a8f160c01d9" providerId="ADAL" clId="{E13F8D5B-AFC8-483A-9718-8C9D35F993DA}" dt="2025-01-23T02:51:15.072" v="128" actId="14100"/>
          <ac:picMkLst>
            <pc:docMk/>
            <pc:sldMk cId="4250341618" sldId="272"/>
            <ac:picMk id="4" creationId="{B7C7C812-EA49-1884-C2AE-C41B9D327F68}"/>
          </ac:picMkLst>
        </pc:picChg>
      </pc:sldChg>
    </pc:docChg>
  </pc:docChgLst>
  <pc:docChgLst>
    <pc:chgData name="Smith, Christopher" userId="f635bcaf-d701-437b-bffd-1a8f160c01d9" providerId="ADAL" clId="{8E5E3F86-75DF-4198-90B5-C3D1B149FED0}"/>
    <pc:docChg chg="undo custSel addSld delSld modSld">
      <pc:chgData name="Smith, Christopher" userId="f635bcaf-d701-437b-bffd-1a8f160c01d9" providerId="ADAL" clId="{8E5E3F86-75DF-4198-90B5-C3D1B149FED0}" dt="2024-09-04T00:29:09.740" v="2175" actId="255"/>
      <pc:docMkLst>
        <pc:docMk/>
      </pc:docMkLst>
      <pc:sldChg chg="delSp modSp del mod">
        <pc:chgData name="Smith, Christopher" userId="f635bcaf-d701-437b-bffd-1a8f160c01d9" providerId="ADAL" clId="{8E5E3F86-75DF-4198-90B5-C3D1B149FED0}" dt="2024-09-04T00:05:29.094" v="873" actId="47"/>
        <pc:sldMkLst>
          <pc:docMk/>
          <pc:sldMk cId="1196303273" sldId="256"/>
        </pc:sldMkLst>
      </pc:sldChg>
      <pc:sldChg chg="del">
        <pc:chgData name="Smith, Christopher" userId="f635bcaf-d701-437b-bffd-1a8f160c01d9" providerId="ADAL" clId="{8E5E3F86-75DF-4198-90B5-C3D1B149FED0}" dt="2024-09-04T00:19:43.149" v="1660" actId="47"/>
        <pc:sldMkLst>
          <pc:docMk/>
          <pc:sldMk cId="3012321828" sldId="257"/>
        </pc:sldMkLst>
      </pc:sldChg>
      <pc:sldChg chg="addSp delSp modSp mod">
        <pc:chgData name="Smith, Christopher" userId="f635bcaf-d701-437b-bffd-1a8f160c01d9" providerId="ADAL" clId="{8E5E3F86-75DF-4198-90B5-C3D1B149FED0}" dt="2024-09-04T00:24:23.635" v="2096" actId="20577"/>
        <pc:sldMkLst>
          <pc:docMk/>
          <pc:sldMk cId="3196567083" sldId="258"/>
        </pc:sldMkLst>
      </pc:sldChg>
      <pc:sldChg chg="del">
        <pc:chgData name="Smith, Christopher" userId="f635bcaf-d701-437b-bffd-1a8f160c01d9" providerId="ADAL" clId="{8E5E3F86-75DF-4198-90B5-C3D1B149FED0}" dt="2024-09-04T00:19:43.149" v="1660" actId="47"/>
        <pc:sldMkLst>
          <pc:docMk/>
          <pc:sldMk cId="1474498500" sldId="259"/>
        </pc:sldMkLst>
      </pc:sldChg>
      <pc:sldChg chg="del">
        <pc:chgData name="Smith, Christopher" userId="f635bcaf-d701-437b-bffd-1a8f160c01d9" providerId="ADAL" clId="{8E5E3F86-75DF-4198-90B5-C3D1B149FED0}" dt="2024-09-04T00:19:43.149" v="1660" actId="47"/>
        <pc:sldMkLst>
          <pc:docMk/>
          <pc:sldMk cId="3428245238" sldId="260"/>
        </pc:sldMkLst>
      </pc:sldChg>
      <pc:sldChg chg="del">
        <pc:chgData name="Smith, Christopher" userId="f635bcaf-d701-437b-bffd-1a8f160c01d9" providerId="ADAL" clId="{8E5E3F86-75DF-4198-90B5-C3D1B149FED0}" dt="2024-09-04T00:13:18.359" v="1147" actId="47"/>
        <pc:sldMkLst>
          <pc:docMk/>
          <pc:sldMk cId="2314390796" sldId="261"/>
        </pc:sldMkLst>
      </pc:sldChg>
      <pc:sldChg chg="del">
        <pc:chgData name="Smith, Christopher" userId="f635bcaf-d701-437b-bffd-1a8f160c01d9" providerId="ADAL" clId="{8E5E3F86-75DF-4198-90B5-C3D1B149FED0}" dt="2024-09-04T00:19:43.149" v="1660" actId="47"/>
        <pc:sldMkLst>
          <pc:docMk/>
          <pc:sldMk cId="3123183922" sldId="262"/>
        </pc:sldMkLst>
      </pc:sldChg>
      <pc:sldChg chg="del">
        <pc:chgData name="Smith, Christopher" userId="f635bcaf-d701-437b-bffd-1a8f160c01d9" providerId="ADAL" clId="{8E5E3F86-75DF-4198-90B5-C3D1B149FED0}" dt="2024-09-04T00:19:43.149" v="1660" actId="47"/>
        <pc:sldMkLst>
          <pc:docMk/>
          <pc:sldMk cId="2193025773" sldId="263"/>
        </pc:sldMkLst>
      </pc:sldChg>
      <pc:sldChg chg="del">
        <pc:chgData name="Smith, Christopher" userId="f635bcaf-d701-437b-bffd-1a8f160c01d9" providerId="ADAL" clId="{8E5E3F86-75DF-4198-90B5-C3D1B149FED0}" dt="2024-09-04T00:19:43.149" v="1660" actId="47"/>
        <pc:sldMkLst>
          <pc:docMk/>
          <pc:sldMk cId="215253476" sldId="264"/>
        </pc:sldMkLst>
      </pc:sldChg>
      <pc:sldChg chg="addSp delSp modSp add mod">
        <pc:chgData name="Smith, Christopher" userId="f635bcaf-d701-437b-bffd-1a8f160c01d9" providerId="ADAL" clId="{8E5E3F86-75DF-4198-90B5-C3D1B149FED0}" dt="2024-09-04T00:24:31.120" v="2098"/>
        <pc:sldMkLst>
          <pc:docMk/>
          <pc:sldMk cId="570994172" sldId="265"/>
        </pc:sldMkLst>
      </pc:sldChg>
      <pc:sldChg chg="add del">
        <pc:chgData name="Smith, Christopher" userId="f635bcaf-d701-437b-bffd-1a8f160c01d9" providerId="ADAL" clId="{8E5E3F86-75DF-4198-90B5-C3D1B149FED0}" dt="2024-09-04T00:19:43.149" v="1660" actId="47"/>
        <pc:sldMkLst>
          <pc:docMk/>
          <pc:sldMk cId="852999336" sldId="266"/>
        </pc:sldMkLst>
      </pc:sldChg>
      <pc:sldChg chg="addSp modSp add mod">
        <pc:chgData name="Smith, Christopher" userId="f635bcaf-d701-437b-bffd-1a8f160c01d9" providerId="ADAL" clId="{8E5E3F86-75DF-4198-90B5-C3D1B149FED0}" dt="2024-09-04T00:19:29.515" v="1658" actId="20577"/>
        <pc:sldMkLst>
          <pc:docMk/>
          <pc:sldMk cId="2783955809" sldId="267"/>
        </pc:sldMkLst>
      </pc:sldChg>
      <pc:sldChg chg="add">
        <pc:chgData name="Smith, Christopher" userId="f635bcaf-d701-437b-bffd-1a8f160c01d9" providerId="ADAL" clId="{8E5E3F86-75DF-4198-90B5-C3D1B149FED0}" dt="2024-09-04T00:19:38.487" v="1659"/>
        <pc:sldMkLst>
          <pc:docMk/>
          <pc:sldMk cId="3538999179" sldId="268"/>
        </pc:sldMkLst>
      </pc:sldChg>
      <pc:sldChg chg="addSp delSp modSp add mod">
        <pc:chgData name="Smith, Christopher" userId="f635bcaf-d701-437b-bffd-1a8f160c01d9" providerId="ADAL" clId="{8E5E3F86-75DF-4198-90B5-C3D1B149FED0}" dt="2024-09-04T00:24:00.075" v="2036" actId="20577"/>
        <pc:sldMkLst>
          <pc:docMk/>
          <pc:sldMk cId="3185828549" sldId="269"/>
        </pc:sldMkLst>
      </pc:sldChg>
      <pc:sldChg chg="add">
        <pc:chgData name="Smith, Christopher" userId="f635bcaf-d701-437b-bffd-1a8f160c01d9" providerId="ADAL" clId="{8E5E3F86-75DF-4198-90B5-C3D1B149FED0}" dt="2024-09-04T00:24:38.183" v="2099"/>
        <pc:sldMkLst>
          <pc:docMk/>
          <pc:sldMk cId="252128979" sldId="270"/>
        </pc:sldMkLst>
      </pc:sldChg>
      <pc:sldChg chg="addSp delSp modSp add mod">
        <pc:chgData name="Smith, Christopher" userId="f635bcaf-d701-437b-bffd-1a8f160c01d9" providerId="ADAL" clId="{8E5E3F86-75DF-4198-90B5-C3D1B149FED0}" dt="2024-09-04T00:29:09.740" v="2175" actId="255"/>
        <pc:sldMkLst>
          <pc:docMk/>
          <pc:sldMk cId="3114417421" sldId="27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01815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8666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5114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79925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7398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6908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8231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10792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03604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66689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1/22/2025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569122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1/22/2025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564742"/>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797" r:id="rId6"/>
    <p:sldLayoutId id="2147483793" r:id="rId7"/>
    <p:sldLayoutId id="2147483794" r:id="rId8"/>
    <p:sldLayoutId id="2147483795" r:id="rId9"/>
    <p:sldLayoutId id="2147483796" r:id="rId10"/>
    <p:sldLayoutId id="2147483798"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[mode] mode share trends,</a:t>
            </a:r>
            <a:br>
              <a:rPr lang="en-US" sz="3400" dirty="0"/>
            </a:br>
            <a:r>
              <a:rPr lang="en-US" sz="3400" dirty="0"/>
              <a:t>[division/state],</a:t>
            </a:r>
            <a:br>
              <a:rPr lang="en-US" sz="3400" dirty="0"/>
            </a:br>
            <a:r>
              <a:rPr lang="en-US" sz="3400" dirty="0"/>
              <a:t>2010-2023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1323439"/>
          </a:xfrm>
          <a:prstGeom prst="rect">
            <a:avLst/>
          </a:prstGeom>
          <a:noFill/>
        </p:spPr>
        <p:txBody>
          <a:bodyPr wrap="square">
            <a:spAutoFit/>
          </a:bodyPr>
          <a:lstStyle/>
          <a:p>
            <a:r>
              <a:rPr lang="en-US" sz="1600" i="1" cap="none" dirty="0">
                <a:latin typeface="Abadi Extra Light" panose="020B0604020202020204" pitchFamily="34" charset="0"/>
              </a:rPr>
              <a:t>Summarize the commuting trends over the past decade for your selected place and mode. What changes and trends do you see in mode share over this period?  How does this compare with national trends? What </a:t>
            </a:r>
            <a:r>
              <a:rPr lang="en-US" sz="1600" i="1" dirty="0">
                <a:latin typeface="Abadi Extra Light" panose="020B0604020202020204" pitchFamily="34" charset="0"/>
              </a:rPr>
              <a:t>factors </a:t>
            </a:r>
            <a:r>
              <a:rPr lang="en-US" sz="1600" i="1" cap="none" dirty="0">
                <a:latin typeface="Abadi Extra Light" panose="020B0604020202020204" pitchFamily="34" charset="0"/>
              </a:rPr>
              <a:t>do you feel may help explain this trend?</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ED507706-6F42-E11B-D908-0EABC71B74DF}"/>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chart copied from Exercise #1 Excel dashboard</a:t>
            </a:r>
          </a:p>
        </p:txBody>
      </p:sp>
    </p:spTree>
    <p:extLst>
      <p:ext uri="{BB962C8B-B14F-4D97-AF65-F5344CB8AC3E}">
        <p14:creationId xmlns:p14="http://schemas.microsoft.com/office/powerpoint/2010/main" val="319656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[mode] mode share trends,</a:t>
            </a:r>
            <a:br>
              <a:rPr lang="en-US" sz="3400" dirty="0"/>
            </a:br>
            <a:r>
              <a:rPr lang="en-US" sz="3400" dirty="0"/>
              <a:t>[division/state],</a:t>
            </a:r>
            <a:br>
              <a:rPr lang="en-US" sz="3400" dirty="0"/>
            </a:br>
            <a:r>
              <a:rPr lang="en-US" sz="3400" dirty="0"/>
              <a:t>2010-2023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1323439"/>
          </a:xfrm>
          <a:prstGeom prst="rect">
            <a:avLst/>
          </a:prstGeom>
          <a:noFill/>
        </p:spPr>
        <p:txBody>
          <a:bodyPr wrap="square">
            <a:spAutoFit/>
          </a:bodyPr>
          <a:lstStyle/>
          <a:p>
            <a:r>
              <a:rPr lang="en-US" sz="1600" i="1" cap="none" dirty="0">
                <a:latin typeface="Abadi Extra Light" panose="020B0604020202020204" pitchFamily="34" charset="0"/>
              </a:rPr>
              <a:t>Summarize the commuting trends over the past decade for your selected place and mode. What changes and trends do you see in mode share over this period?  How does this compare with national trends? What </a:t>
            </a:r>
            <a:r>
              <a:rPr lang="en-US" sz="1600" i="1" dirty="0">
                <a:latin typeface="Abadi Extra Light" panose="020B0604020202020204" pitchFamily="34" charset="0"/>
              </a:rPr>
              <a:t>factors </a:t>
            </a:r>
            <a:r>
              <a:rPr lang="en-US" sz="1600" i="1" cap="none" dirty="0">
                <a:latin typeface="Abadi Extra Light" panose="020B0604020202020204" pitchFamily="34" charset="0"/>
              </a:rPr>
              <a:t>do you feel may help explain this trend?</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E78D227B-71BA-2CDF-9ECC-ADDA8F389309}"/>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chart copied from Exercise #1 Excel dashboard</a:t>
            </a:r>
          </a:p>
        </p:txBody>
      </p:sp>
    </p:spTree>
    <p:extLst>
      <p:ext uri="{BB962C8B-B14F-4D97-AF65-F5344CB8AC3E}">
        <p14:creationId xmlns:p14="http://schemas.microsoft.com/office/powerpoint/2010/main" val="570994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837084" cy="577205"/>
          </a:xfrm>
        </p:spPr>
        <p:txBody>
          <a:bodyPr vert="horz" lIns="91440" tIns="45720" rIns="91440" bIns="45720" rtlCol="0" anchor="t">
            <a:normAutofit fontScale="90000"/>
          </a:bodyPr>
          <a:lstStyle/>
          <a:p>
            <a:pPr>
              <a:lnSpc>
                <a:spcPct val="90000"/>
              </a:lnSpc>
            </a:pPr>
            <a:r>
              <a:rPr lang="en-US" sz="3400" dirty="0"/>
              <a:t>TOP ten counties in</a:t>
            </a:r>
            <a:br>
              <a:rPr lang="en-US" sz="3400" dirty="0"/>
            </a:br>
            <a:r>
              <a:rPr lang="en-US" sz="3400" dirty="0"/>
              <a:t>[MODE] mode </a:t>
            </a:r>
            <a:r>
              <a:rPr lang="en-US" sz="3400" dirty="0" err="1"/>
              <a:t>sharE</a:t>
            </a:r>
            <a:r>
              <a:rPr lang="en-US" sz="3400" dirty="0"/>
              <a:t>,</a:t>
            </a:r>
            <a:br>
              <a:rPr lang="en-US" sz="3400" dirty="0"/>
            </a:br>
            <a:r>
              <a:rPr lang="en-US" sz="3400" dirty="0"/>
              <a:t>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830997"/>
          </a:xfrm>
          <a:prstGeom prst="rect">
            <a:avLst/>
          </a:prstGeom>
          <a:noFill/>
        </p:spPr>
        <p:txBody>
          <a:bodyPr wrap="square">
            <a:spAutoFit/>
          </a:bodyPr>
          <a:lstStyle/>
          <a:p>
            <a:r>
              <a:rPr lang="en-US" sz="1600" i="1" dirty="0">
                <a:latin typeface="Abadi Extra Light" panose="020B0604020202020204" pitchFamily="34" charset="0"/>
              </a:rPr>
              <a:t>Which counties have the greatest share of the selected transportation mode</a:t>
            </a:r>
            <a:r>
              <a:rPr lang="en-US" sz="1600" i="1" cap="none" dirty="0">
                <a:latin typeface="Abadi Extra Light" panose="020B0604020202020204" pitchFamily="34" charset="0"/>
              </a:rPr>
              <a:t>? </a:t>
            </a:r>
            <a:r>
              <a:rPr lang="en-US" sz="1600" i="1" dirty="0">
                <a:latin typeface="Abadi Extra Light" panose="020B0604020202020204" pitchFamily="34" charset="0"/>
              </a:rPr>
              <a:t>Why do you feel these counties may have a higher share of the selected mode?</a:t>
            </a:r>
            <a:r>
              <a:rPr lang="en-US" sz="1600" i="1" cap="none" dirty="0">
                <a:latin typeface="Abadi Extra Light" panose="020B0604020202020204" pitchFamily="34" charset="0"/>
              </a:rPr>
              <a:t> </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graphicFrame>
        <p:nvGraphicFramePr>
          <p:cNvPr id="2" name="Table 2">
            <a:extLst>
              <a:ext uri="{FF2B5EF4-FFF2-40B4-BE49-F238E27FC236}">
                <a16:creationId xmlns:a16="http://schemas.microsoft.com/office/drawing/2014/main" id="{8AA5EF11-736D-0CF5-6D1E-EE43C518FB7F}"/>
              </a:ext>
            </a:extLst>
          </p:cNvPr>
          <p:cNvGraphicFramePr>
            <a:graphicFrameLocks noGrp="1"/>
          </p:cNvGraphicFramePr>
          <p:nvPr>
            <p:extLst>
              <p:ext uri="{D42A27DB-BD31-4B8C-83A1-F6EECF244321}">
                <p14:modId xmlns:p14="http://schemas.microsoft.com/office/powerpoint/2010/main" val="886170963"/>
              </p:ext>
            </p:extLst>
          </p:nvPr>
        </p:nvGraphicFramePr>
        <p:xfrm>
          <a:off x="6300482" y="1697035"/>
          <a:ext cx="5526628" cy="3255593"/>
        </p:xfrm>
        <a:graphic>
          <a:graphicData uri="http://schemas.openxmlformats.org/drawingml/2006/table">
            <a:tbl>
              <a:tblPr firstRow="1" bandRow="1">
                <a:tableStyleId>{5C22544A-7EE6-4342-B048-85BDC9FD1C3A}</a:tableStyleId>
              </a:tblPr>
              <a:tblGrid>
                <a:gridCol w="1381657">
                  <a:extLst>
                    <a:ext uri="{9D8B030D-6E8A-4147-A177-3AD203B41FA5}">
                      <a16:colId xmlns:a16="http://schemas.microsoft.com/office/drawing/2014/main" val="2926590613"/>
                    </a:ext>
                  </a:extLst>
                </a:gridCol>
                <a:gridCol w="1381657">
                  <a:extLst>
                    <a:ext uri="{9D8B030D-6E8A-4147-A177-3AD203B41FA5}">
                      <a16:colId xmlns:a16="http://schemas.microsoft.com/office/drawing/2014/main" val="535855478"/>
                    </a:ext>
                  </a:extLst>
                </a:gridCol>
                <a:gridCol w="1381657">
                  <a:extLst>
                    <a:ext uri="{9D8B030D-6E8A-4147-A177-3AD203B41FA5}">
                      <a16:colId xmlns:a16="http://schemas.microsoft.com/office/drawing/2014/main" val="1019973300"/>
                    </a:ext>
                  </a:extLst>
                </a:gridCol>
                <a:gridCol w="1381657">
                  <a:extLst>
                    <a:ext uri="{9D8B030D-6E8A-4147-A177-3AD203B41FA5}">
                      <a16:colId xmlns:a16="http://schemas.microsoft.com/office/drawing/2014/main" val="4067929022"/>
                    </a:ext>
                  </a:extLst>
                </a:gridCol>
              </a:tblGrid>
              <a:tr h="295963">
                <a:tc>
                  <a:txBody>
                    <a:bodyPr/>
                    <a:lstStyle/>
                    <a:p>
                      <a:r>
                        <a:rPr lang="en-US" sz="1400" dirty="0"/>
                        <a:t>County Name</a:t>
                      </a:r>
                    </a:p>
                  </a:txBody>
                  <a:tcPr marL="72977" marR="72977" marT="36489" marB="36489"/>
                </a:tc>
                <a:tc>
                  <a:txBody>
                    <a:bodyPr/>
                    <a:lstStyle/>
                    <a:p>
                      <a:r>
                        <a:rPr lang="en-US" sz="1400" dirty="0"/>
                        <a:t>State</a:t>
                      </a:r>
                    </a:p>
                  </a:txBody>
                  <a:tcPr marL="72977" marR="72977" marT="36489" marB="36489"/>
                </a:tc>
                <a:tc>
                  <a:txBody>
                    <a:bodyPr/>
                    <a:lstStyle/>
                    <a:p>
                      <a:r>
                        <a:rPr lang="en-US" sz="1400" dirty="0"/>
                        <a:t>Division</a:t>
                      </a:r>
                    </a:p>
                  </a:txBody>
                  <a:tcPr marL="72977" marR="72977" marT="36489" marB="36489"/>
                </a:tc>
                <a:tc>
                  <a:txBody>
                    <a:bodyPr/>
                    <a:lstStyle/>
                    <a:p>
                      <a:r>
                        <a:rPr lang="en-US" sz="1400" dirty="0"/>
                        <a:t>Mode Share</a:t>
                      </a:r>
                    </a:p>
                  </a:txBody>
                  <a:tcPr marL="72977" marR="72977" marT="36489" marB="36489"/>
                </a:tc>
                <a:extLst>
                  <a:ext uri="{0D108BD9-81ED-4DB2-BD59-A6C34878D82A}">
                    <a16:rowId xmlns:a16="http://schemas.microsoft.com/office/drawing/2014/main" val="43561861"/>
                  </a:ext>
                </a:extLst>
              </a:tr>
              <a:tr h="295963">
                <a:tc>
                  <a:txBody>
                    <a:bodyPr/>
                    <a:lstStyle/>
                    <a:p>
                      <a:endParaRPr lang="en-US" sz="1400" dirty="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957544947"/>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2049587867"/>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380233555"/>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67982749"/>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1464760776"/>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2095514223"/>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100473543"/>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675330201"/>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dirty="0"/>
                    </a:p>
                  </a:txBody>
                  <a:tcPr marL="72977" marR="72977" marT="36489" marB="36489"/>
                </a:tc>
                <a:tc>
                  <a:txBody>
                    <a:bodyPr/>
                    <a:lstStyle/>
                    <a:p>
                      <a:endParaRPr lang="en-US" sz="1400" dirty="0"/>
                    </a:p>
                  </a:txBody>
                  <a:tcPr marL="72977" marR="72977" marT="36489" marB="36489"/>
                </a:tc>
                <a:extLst>
                  <a:ext uri="{0D108BD9-81ED-4DB2-BD59-A6C34878D82A}">
                    <a16:rowId xmlns:a16="http://schemas.microsoft.com/office/drawing/2014/main" val="1007980443"/>
                  </a:ext>
                </a:extLst>
              </a:tr>
              <a:tr h="295963">
                <a:tc>
                  <a:txBody>
                    <a:bodyPr/>
                    <a:lstStyle/>
                    <a:p>
                      <a:endParaRPr lang="en-US" sz="1400" dirty="0"/>
                    </a:p>
                  </a:txBody>
                  <a:tcPr marL="72977" marR="72977" marT="36489" marB="36489"/>
                </a:tc>
                <a:tc>
                  <a:txBody>
                    <a:bodyPr/>
                    <a:lstStyle/>
                    <a:p>
                      <a:endParaRPr lang="en-US" sz="1400"/>
                    </a:p>
                  </a:txBody>
                  <a:tcPr marL="72977" marR="72977" marT="36489" marB="36489"/>
                </a:tc>
                <a:tc>
                  <a:txBody>
                    <a:bodyPr/>
                    <a:lstStyle/>
                    <a:p>
                      <a:endParaRPr lang="en-US" sz="1400" dirty="0"/>
                    </a:p>
                  </a:txBody>
                  <a:tcPr marL="72977" marR="72977" marT="36489" marB="36489"/>
                </a:tc>
                <a:tc>
                  <a:txBody>
                    <a:bodyPr/>
                    <a:lstStyle/>
                    <a:p>
                      <a:endParaRPr lang="en-US" sz="1400" dirty="0"/>
                    </a:p>
                  </a:txBody>
                  <a:tcPr marL="72977" marR="72977" marT="36489" marB="36489"/>
                </a:tc>
                <a:extLst>
                  <a:ext uri="{0D108BD9-81ED-4DB2-BD59-A6C34878D82A}">
                    <a16:rowId xmlns:a16="http://schemas.microsoft.com/office/drawing/2014/main" val="3844206101"/>
                  </a:ext>
                </a:extLst>
              </a:tr>
            </a:tbl>
          </a:graphicData>
        </a:graphic>
      </p:graphicFrame>
    </p:spTree>
    <p:extLst>
      <p:ext uri="{BB962C8B-B14F-4D97-AF65-F5344CB8AC3E}">
        <p14:creationId xmlns:p14="http://schemas.microsoft.com/office/powerpoint/2010/main" val="2783955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837084" cy="577205"/>
          </a:xfrm>
        </p:spPr>
        <p:txBody>
          <a:bodyPr vert="horz" lIns="91440" tIns="45720" rIns="91440" bIns="45720" rtlCol="0" anchor="t">
            <a:normAutofit fontScale="90000"/>
          </a:bodyPr>
          <a:lstStyle/>
          <a:p>
            <a:pPr>
              <a:lnSpc>
                <a:spcPct val="90000"/>
              </a:lnSpc>
            </a:pPr>
            <a:r>
              <a:rPr lang="en-US" sz="3400" dirty="0"/>
              <a:t>TOP ten counties in</a:t>
            </a:r>
            <a:br>
              <a:rPr lang="en-US" sz="3400" dirty="0"/>
            </a:br>
            <a:r>
              <a:rPr lang="en-US" sz="3400" dirty="0"/>
              <a:t>[MODE] mode </a:t>
            </a:r>
            <a:r>
              <a:rPr lang="en-US" sz="3400" dirty="0" err="1"/>
              <a:t>sharE</a:t>
            </a:r>
            <a:r>
              <a:rPr lang="en-US" sz="3400" dirty="0"/>
              <a:t>,</a:t>
            </a:r>
            <a:br>
              <a:rPr lang="en-US" sz="3400" dirty="0"/>
            </a:br>
            <a:r>
              <a:rPr lang="en-US" sz="3400" dirty="0"/>
              <a:t>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830997"/>
          </a:xfrm>
          <a:prstGeom prst="rect">
            <a:avLst/>
          </a:prstGeom>
          <a:noFill/>
        </p:spPr>
        <p:txBody>
          <a:bodyPr wrap="square">
            <a:spAutoFit/>
          </a:bodyPr>
          <a:lstStyle/>
          <a:p>
            <a:r>
              <a:rPr lang="en-US" sz="1600" i="1" dirty="0">
                <a:latin typeface="Abadi Extra Light" panose="020B0604020202020204" pitchFamily="34" charset="0"/>
              </a:rPr>
              <a:t>Which counties have the greatest share of the selected transportation mode</a:t>
            </a:r>
            <a:r>
              <a:rPr lang="en-US" sz="1600" i="1" cap="none" dirty="0">
                <a:latin typeface="Abadi Extra Light" panose="020B0604020202020204" pitchFamily="34" charset="0"/>
              </a:rPr>
              <a:t>? </a:t>
            </a:r>
            <a:r>
              <a:rPr lang="en-US" sz="1600" i="1" dirty="0">
                <a:latin typeface="Abadi Extra Light" panose="020B0604020202020204" pitchFamily="34" charset="0"/>
              </a:rPr>
              <a:t>Why do you feel these counties may have a higher share of the selected mode?</a:t>
            </a:r>
            <a:r>
              <a:rPr lang="en-US" sz="1600" i="1" cap="none" dirty="0">
                <a:latin typeface="Abadi Extra Light" panose="020B0604020202020204" pitchFamily="34" charset="0"/>
              </a:rPr>
              <a:t> </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graphicFrame>
        <p:nvGraphicFramePr>
          <p:cNvPr id="2" name="Table 2">
            <a:extLst>
              <a:ext uri="{FF2B5EF4-FFF2-40B4-BE49-F238E27FC236}">
                <a16:creationId xmlns:a16="http://schemas.microsoft.com/office/drawing/2014/main" id="{8AA5EF11-736D-0CF5-6D1E-EE43C518FB7F}"/>
              </a:ext>
            </a:extLst>
          </p:cNvPr>
          <p:cNvGraphicFramePr>
            <a:graphicFrameLocks noGrp="1"/>
          </p:cNvGraphicFramePr>
          <p:nvPr/>
        </p:nvGraphicFramePr>
        <p:xfrm>
          <a:off x="6300482" y="1697035"/>
          <a:ext cx="5526628" cy="3255593"/>
        </p:xfrm>
        <a:graphic>
          <a:graphicData uri="http://schemas.openxmlformats.org/drawingml/2006/table">
            <a:tbl>
              <a:tblPr firstRow="1" bandRow="1">
                <a:tableStyleId>{5C22544A-7EE6-4342-B048-85BDC9FD1C3A}</a:tableStyleId>
              </a:tblPr>
              <a:tblGrid>
                <a:gridCol w="1381657">
                  <a:extLst>
                    <a:ext uri="{9D8B030D-6E8A-4147-A177-3AD203B41FA5}">
                      <a16:colId xmlns:a16="http://schemas.microsoft.com/office/drawing/2014/main" val="2926590613"/>
                    </a:ext>
                  </a:extLst>
                </a:gridCol>
                <a:gridCol w="1381657">
                  <a:extLst>
                    <a:ext uri="{9D8B030D-6E8A-4147-A177-3AD203B41FA5}">
                      <a16:colId xmlns:a16="http://schemas.microsoft.com/office/drawing/2014/main" val="535855478"/>
                    </a:ext>
                  </a:extLst>
                </a:gridCol>
                <a:gridCol w="1381657">
                  <a:extLst>
                    <a:ext uri="{9D8B030D-6E8A-4147-A177-3AD203B41FA5}">
                      <a16:colId xmlns:a16="http://schemas.microsoft.com/office/drawing/2014/main" val="1019973300"/>
                    </a:ext>
                  </a:extLst>
                </a:gridCol>
                <a:gridCol w="1381657">
                  <a:extLst>
                    <a:ext uri="{9D8B030D-6E8A-4147-A177-3AD203B41FA5}">
                      <a16:colId xmlns:a16="http://schemas.microsoft.com/office/drawing/2014/main" val="4067929022"/>
                    </a:ext>
                  </a:extLst>
                </a:gridCol>
              </a:tblGrid>
              <a:tr h="295963">
                <a:tc>
                  <a:txBody>
                    <a:bodyPr/>
                    <a:lstStyle/>
                    <a:p>
                      <a:r>
                        <a:rPr lang="en-US" sz="1400" dirty="0"/>
                        <a:t>County Name</a:t>
                      </a:r>
                    </a:p>
                  </a:txBody>
                  <a:tcPr marL="72977" marR="72977" marT="36489" marB="36489"/>
                </a:tc>
                <a:tc>
                  <a:txBody>
                    <a:bodyPr/>
                    <a:lstStyle/>
                    <a:p>
                      <a:r>
                        <a:rPr lang="en-US" sz="1400" dirty="0"/>
                        <a:t>State</a:t>
                      </a:r>
                    </a:p>
                  </a:txBody>
                  <a:tcPr marL="72977" marR="72977" marT="36489" marB="36489"/>
                </a:tc>
                <a:tc>
                  <a:txBody>
                    <a:bodyPr/>
                    <a:lstStyle/>
                    <a:p>
                      <a:r>
                        <a:rPr lang="en-US" sz="1400" dirty="0"/>
                        <a:t>Division</a:t>
                      </a:r>
                    </a:p>
                  </a:txBody>
                  <a:tcPr marL="72977" marR="72977" marT="36489" marB="36489"/>
                </a:tc>
                <a:tc>
                  <a:txBody>
                    <a:bodyPr/>
                    <a:lstStyle/>
                    <a:p>
                      <a:r>
                        <a:rPr lang="en-US" sz="1400" dirty="0"/>
                        <a:t>Mode Share</a:t>
                      </a:r>
                    </a:p>
                  </a:txBody>
                  <a:tcPr marL="72977" marR="72977" marT="36489" marB="36489"/>
                </a:tc>
                <a:extLst>
                  <a:ext uri="{0D108BD9-81ED-4DB2-BD59-A6C34878D82A}">
                    <a16:rowId xmlns:a16="http://schemas.microsoft.com/office/drawing/2014/main" val="43561861"/>
                  </a:ext>
                </a:extLst>
              </a:tr>
              <a:tr h="295963">
                <a:tc>
                  <a:txBody>
                    <a:bodyPr/>
                    <a:lstStyle/>
                    <a:p>
                      <a:endParaRPr lang="en-US" sz="1400" dirty="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957544947"/>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2049587867"/>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380233555"/>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67982749"/>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1464760776"/>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2095514223"/>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100473543"/>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a:p>
                  </a:txBody>
                  <a:tcPr marL="72977" marR="72977" marT="36489" marB="36489"/>
                </a:tc>
                <a:extLst>
                  <a:ext uri="{0D108BD9-81ED-4DB2-BD59-A6C34878D82A}">
                    <a16:rowId xmlns:a16="http://schemas.microsoft.com/office/drawing/2014/main" val="3675330201"/>
                  </a:ext>
                </a:extLst>
              </a:tr>
              <a:tr h="295963">
                <a:tc>
                  <a:txBody>
                    <a:bodyPr/>
                    <a:lstStyle/>
                    <a:p>
                      <a:endParaRPr lang="en-US" sz="1400"/>
                    </a:p>
                  </a:txBody>
                  <a:tcPr marL="72977" marR="72977" marT="36489" marB="36489"/>
                </a:tc>
                <a:tc>
                  <a:txBody>
                    <a:bodyPr/>
                    <a:lstStyle/>
                    <a:p>
                      <a:endParaRPr lang="en-US" sz="1400"/>
                    </a:p>
                  </a:txBody>
                  <a:tcPr marL="72977" marR="72977" marT="36489" marB="36489"/>
                </a:tc>
                <a:tc>
                  <a:txBody>
                    <a:bodyPr/>
                    <a:lstStyle/>
                    <a:p>
                      <a:endParaRPr lang="en-US" sz="1400" dirty="0"/>
                    </a:p>
                  </a:txBody>
                  <a:tcPr marL="72977" marR="72977" marT="36489" marB="36489"/>
                </a:tc>
                <a:tc>
                  <a:txBody>
                    <a:bodyPr/>
                    <a:lstStyle/>
                    <a:p>
                      <a:endParaRPr lang="en-US" sz="1400" dirty="0"/>
                    </a:p>
                  </a:txBody>
                  <a:tcPr marL="72977" marR="72977" marT="36489" marB="36489"/>
                </a:tc>
                <a:extLst>
                  <a:ext uri="{0D108BD9-81ED-4DB2-BD59-A6C34878D82A}">
                    <a16:rowId xmlns:a16="http://schemas.microsoft.com/office/drawing/2014/main" val="1007980443"/>
                  </a:ext>
                </a:extLst>
              </a:tr>
              <a:tr h="295963">
                <a:tc>
                  <a:txBody>
                    <a:bodyPr/>
                    <a:lstStyle/>
                    <a:p>
                      <a:endParaRPr lang="en-US" sz="1400" dirty="0"/>
                    </a:p>
                  </a:txBody>
                  <a:tcPr marL="72977" marR="72977" marT="36489" marB="36489"/>
                </a:tc>
                <a:tc>
                  <a:txBody>
                    <a:bodyPr/>
                    <a:lstStyle/>
                    <a:p>
                      <a:endParaRPr lang="en-US" sz="1400"/>
                    </a:p>
                  </a:txBody>
                  <a:tcPr marL="72977" marR="72977" marT="36489" marB="36489"/>
                </a:tc>
                <a:tc>
                  <a:txBody>
                    <a:bodyPr/>
                    <a:lstStyle/>
                    <a:p>
                      <a:endParaRPr lang="en-US" sz="1400" dirty="0"/>
                    </a:p>
                  </a:txBody>
                  <a:tcPr marL="72977" marR="72977" marT="36489" marB="36489"/>
                </a:tc>
                <a:tc>
                  <a:txBody>
                    <a:bodyPr/>
                    <a:lstStyle/>
                    <a:p>
                      <a:endParaRPr lang="en-US" sz="1400" dirty="0"/>
                    </a:p>
                  </a:txBody>
                  <a:tcPr marL="72977" marR="72977" marT="36489" marB="36489"/>
                </a:tc>
                <a:extLst>
                  <a:ext uri="{0D108BD9-81ED-4DB2-BD59-A6C34878D82A}">
                    <a16:rowId xmlns:a16="http://schemas.microsoft.com/office/drawing/2014/main" val="3844206101"/>
                  </a:ext>
                </a:extLst>
              </a:tr>
            </a:tbl>
          </a:graphicData>
        </a:graphic>
      </p:graphicFrame>
    </p:spTree>
    <p:extLst>
      <p:ext uri="{BB962C8B-B14F-4D97-AF65-F5344CB8AC3E}">
        <p14:creationId xmlns:p14="http://schemas.microsoft.com/office/powerpoint/2010/main" val="353899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837084" cy="577205"/>
          </a:xfrm>
        </p:spPr>
        <p:txBody>
          <a:bodyPr vert="horz" lIns="91440" tIns="45720" rIns="91440" bIns="45720" rtlCol="0" anchor="t">
            <a:normAutofit fontScale="90000"/>
          </a:bodyPr>
          <a:lstStyle/>
          <a:p>
            <a:pPr>
              <a:lnSpc>
                <a:spcPct val="90000"/>
              </a:lnSpc>
            </a:pPr>
            <a:r>
              <a:rPr lang="en-US" sz="3400" dirty="0"/>
              <a:t>Map of [mode] mode share by us county, 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830997"/>
          </a:xfrm>
          <a:prstGeom prst="rect">
            <a:avLst/>
          </a:prstGeom>
          <a:noFill/>
        </p:spPr>
        <p:txBody>
          <a:bodyPr wrap="square">
            <a:spAutoFit/>
          </a:bodyPr>
          <a:lstStyle/>
          <a:p>
            <a:r>
              <a:rPr lang="en-US" sz="1600" i="1" dirty="0">
                <a:latin typeface="Abadi Extra Light" panose="020B0604020202020204" pitchFamily="34" charset="0"/>
              </a:rPr>
              <a:t>Which divisions and states appear to have the greatest share of the selected transportation mode? What factors do you feel may help explain this pattern?</a:t>
            </a:r>
            <a:endParaRPr lang="en-US" sz="1600" i="1" cap="none" dirty="0">
              <a:latin typeface="Abadi Extra Light" panose="020B0604020202020204" pitchFamily="34" charset="0"/>
            </a:endParaRP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E05C0E26-6021-12DF-7CAD-6A8CFCA2458B}"/>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map downloaded </a:t>
            </a:r>
            <a:br>
              <a:rPr lang="en-US" dirty="0"/>
            </a:br>
            <a:r>
              <a:rPr lang="en-US" dirty="0"/>
              <a:t>from exercise web page</a:t>
            </a:r>
          </a:p>
        </p:txBody>
      </p:sp>
    </p:spTree>
    <p:extLst>
      <p:ext uri="{BB962C8B-B14F-4D97-AF65-F5344CB8AC3E}">
        <p14:creationId xmlns:p14="http://schemas.microsoft.com/office/powerpoint/2010/main" val="3185828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837084" cy="577205"/>
          </a:xfrm>
        </p:spPr>
        <p:txBody>
          <a:bodyPr vert="horz" lIns="91440" tIns="45720" rIns="91440" bIns="45720" rtlCol="0" anchor="t">
            <a:normAutofit fontScale="90000"/>
          </a:bodyPr>
          <a:lstStyle/>
          <a:p>
            <a:pPr>
              <a:lnSpc>
                <a:spcPct val="90000"/>
              </a:lnSpc>
            </a:pPr>
            <a:r>
              <a:rPr lang="en-US" sz="3400" dirty="0"/>
              <a:t>Map of [mode] mode share by us county, 2023</a:t>
            </a:r>
          </a:p>
        </p:txBody>
      </p:sp>
      <p:sp>
        <p:nvSpPr>
          <p:cNvPr id="11" name="TextBox 10">
            <a:extLst>
              <a:ext uri="{FF2B5EF4-FFF2-40B4-BE49-F238E27FC236}">
                <a16:creationId xmlns:a16="http://schemas.microsoft.com/office/drawing/2014/main" id="{3E48FC44-1FA2-4F7A-0A80-59B4E81301D5}"/>
              </a:ext>
            </a:extLst>
          </p:cNvPr>
          <p:cNvSpPr txBox="1"/>
          <p:nvPr/>
        </p:nvSpPr>
        <p:spPr>
          <a:xfrm>
            <a:off x="669852" y="2663113"/>
            <a:ext cx="5507428" cy="830997"/>
          </a:xfrm>
          <a:prstGeom prst="rect">
            <a:avLst/>
          </a:prstGeom>
          <a:noFill/>
        </p:spPr>
        <p:txBody>
          <a:bodyPr wrap="square">
            <a:spAutoFit/>
          </a:bodyPr>
          <a:lstStyle/>
          <a:p>
            <a:r>
              <a:rPr lang="en-US" sz="1600" i="1" dirty="0">
                <a:latin typeface="Abadi Extra Light" panose="020B0604020202020204" pitchFamily="34" charset="0"/>
              </a:rPr>
              <a:t>Which divisions and states appear to have the greatest share of the selected transportation mode? What factors do you feel may help explain this pattern?</a:t>
            </a:r>
            <a:endParaRPr lang="en-US" sz="1600" i="1" cap="none" dirty="0">
              <a:latin typeface="Abadi Extra Light" panose="020B0604020202020204" pitchFamily="34" charset="0"/>
            </a:endParaRP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E05C0E26-6021-12DF-7CAD-6A8CFCA2458B}"/>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map downloaded </a:t>
            </a:r>
            <a:br>
              <a:rPr lang="en-US" dirty="0"/>
            </a:br>
            <a:r>
              <a:rPr lang="en-US" dirty="0"/>
              <a:t>from exercise web page</a:t>
            </a:r>
          </a:p>
        </p:txBody>
      </p:sp>
    </p:spTree>
    <p:extLst>
      <p:ext uri="{BB962C8B-B14F-4D97-AF65-F5344CB8AC3E}">
        <p14:creationId xmlns:p14="http://schemas.microsoft.com/office/powerpoint/2010/main" val="25212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Bar chart outline">
            <a:extLst>
              <a:ext uri="{FF2B5EF4-FFF2-40B4-BE49-F238E27FC236}">
                <a16:creationId xmlns:a16="http://schemas.microsoft.com/office/drawing/2014/main" id="{1729B74D-9E61-5E9C-2872-ADAACFE39A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3334" y="721360"/>
            <a:ext cx="2306320" cy="2306320"/>
          </a:xfrm>
          <a:prstGeom prst="rect">
            <a:avLst/>
          </a:prstGeom>
        </p:spPr>
      </p:pic>
      <p:pic>
        <p:nvPicPr>
          <p:cNvPr id="8" name="Graphic 7" descr="Signal with solid fill">
            <a:extLst>
              <a:ext uri="{FF2B5EF4-FFF2-40B4-BE49-F238E27FC236}">
                <a16:creationId xmlns:a16="http://schemas.microsoft.com/office/drawing/2014/main" id="{F9B071E1-AD63-C1DF-8366-3E552DE901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7094" y="3337840"/>
            <a:ext cx="2286000" cy="2286000"/>
          </a:xfrm>
          <a:prstGeom prst="rect">
            <a:avLst/>
          </a:prstGeom>
        </p:spPr>
      </p:pic>
      <p:pic>
        <p:nvPicPr>
          <p:cNvPr id="9" name="Graphic 8" descr="Decision chart outline">
            <a:extLst>
              <a:ext uri="{FF2B5EF4-FFF2-40B4-BE49-F238E27FC236}">
                <a16:creationId xmlns:a16="http://schemas.microsoft.com/office/drawing/2014/main" id="{00D7C6A1-3CDF-39CE-42C1-63B5AECBBF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53654" y="3182760"/>
            <a:ext cx="2286000" cy="2286000"/>
          </a:xfrm>
          <a:prstGeom prst="rect">
            <a:avLst/>
          </a:prstGeom>
        </p:spPr>
      </p:pic>
      <p:pic>
        <p:nvPicPr>
          <p:cNvPr id="10" name="Graphic 9" descr="Upward trend outline">
            <a:extLst>
              <a:ext uri="{FF2B5EF4-FFF2-40B4-BE49-F238E27FC236}">
                <a16:creationId xmlns:a16="http://schemas.microsoft.com/office/drawing/2014/main" id="{B7DD078A-3B34-6B26-B976-ECEFE46E9A3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77094" y="741680"/>
            <a:ext cx="2286000" cy="2286000"/>
          </a:xfrm>
          <a:prstGeom prst="rect">
            <a:avLst/>
          </a:prstGeom>
        </p:spPr>
      </p:pic>
      <p:pic>
        <p:nvPicPr>
          <p:cNvPr id="13" name="Picture 12">
            <a:extLst>
              <a:ext uri="{FF2B5EF4-FFF2-40B4-BE49-F238E27FC236}">
                <a16:creationId xmlns:a16="http://schemas.microsoft.com/office/drawing/2014/main" id="{0A7B5F9F-48AC-B79F-B410-771D684DE303}"/>
              </a:ext>
            </a:extLst>
          </p:cNvPr>
          <p:cNvPicPr>
            <a:picLocks noChangeAspect="1"/>
          </p:cNvPicPr>
          <p:nvPr/>
        </p:nvPicPr>
        <p:blipFill rotWithShape="1">
          <a:blip r:embed="rId10"/>
          <a:srcRect l="3751" r="4216"/>
          <a:stretch/>
        </p:blipFill>
        <p:spPr>
          <a:xfrm>
            <a:off x="9264694" y="970280"/>
            <a:ext cx="1835698" cy="1828800"/>
          </a:xfrm>
          <a:prstGeom prst="rect">
            <a:avLst/>
          </a:prstGeom>
        </p:spPr>
      </p:pic>
      <p:pic>
        <p:nvPicPr>
          <p:cNvPr id="14" name="Graphic 13" descr="Table outline">
            <a:extLst>
              <a:ext uri="{FF2B5EF4-FFF2-40B4-BE49-F238E27FC236}">
                <a16:creationId xmlns:a16="http://schemas.microsoft.com/office/drawing/2014/main" id="{D66810BB-10BC-B294-E351-F8BD02AF53C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39543" y="3337840"/>
            <a:ext cx="2286000" cy="2286000"/>
          </a:xfrm>
          <a:prstGeom prst="rect">
            <a:avLst/>
          </a:prstGeom>
        </p:spPr>
      </p:pic>
      <p:sp>
        <p:nvSpPr>
          <p:cNvPr id="36" name="Freeform: Shape 35">
            <a:extLst>
              <a:ext uri="{FF2B5EF4-FFF2-40B4-BE49-F238E27FC236}">
                <a16:creationId xmlns:a16="http://schemas.microsoft.com/office/drawing/2014/main" id="{109F0304-3FEC-8AD9-F328-7E7558549875}"/>
              </a:ext>
            </a:extLst>
          </p:cNvPr>
          <p:cNvSpPr/>
          <p:nvPr/>
        </p:nvSpPr>
        <p:spPr>
          <a:xfrm>
            <a:off x="707987" y="1100915"/>
            <a:ext cx="3974547" cy="951964"/>
          </a:xfrm>
          <a:custGeom>
            <a:avLst/>
            <a:gdLst>
              <a:gd name="connsiteX0" fmla="*/ 0 w 3974547"/>
              <a:gd name="connsiteY0" fmla="*/ 0 h 1110032"/>
              <a:gd name="connsiteX1" fmla="*/ 3974547 w 3974547"/>
              <a:gd name="connsiteY1" fmla="*/ 0 h 1110032"/>
              <a:gd name="connsiteX2" fmla="*/ 3974547 w 3974547"/>
              <a:gd name="connsiteY2" fmla="*/ 1110032 h 1110032"/>
              <a:gd name="connsiteX3" fmla="*/ 0 w 3974547"/>
              <a:gd name="connsiteY3" fmla="*/ 1110032 h 1110032"/>
              <a:gd name="connsiteX4" fmla="*/ 0 w 3974547"/>
              <a:gd name="connsiteY4" fmla="*/ 0 h 11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4547" h="1110032">
                <a:moveTo>
                  <a:pt x="0" y="0"/>
                </a:moveTo>
                <a:lnTo>
                  <a:pt x="3974547" y="0"/>
                </a:lnTo>
                <a:lnTo>
                  <a:pt x="3974547" y="1110032"/>
                </a:lnTo>
                <a:lnTo>
                  <a:pt x="0" y="1110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478" tIns="117478" rIns="117478" bIns="117478"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Abadi Extra Light" panose="020B0204020104020204" pitchFamily="34" charset="0"/>
              </a:rPr>
              <a:t>Use slide 8 to create an annotated mockup of a sustainable urban transportation data dashboard. (Use icons to represent particular types of data.)</a:t>
            </a:r>
          </a:p>
        </p:txBody>
      </p:sp>
      <p:sp>
        <p:nvSpPr>
          <p:cNvPr id="39" name="Freeform: Shape 38">
            <a:extLst>
              <a:ext uri="{FF2B5EF4-FFF2-40B4-BE49-F238E27FC236}">
                <a16:creationId xmlns:a16="http://schemas.microsoft.com/office/drawing/2014/main" id="{B0D2DDB3-638C-F250-A7D1-C8529A93A275}"/>
              </a:ext>
            </a:extLst>
          </p:cNvPr>
          <p:cNvSpPr/>
          <p:nvPr/>
        </p:nvSpPr>
        <p:spPr>
          <a:xfrm>
            <a:off x="707987" y="2021613"/>
            <a:ext cx="3974547" cy="951964"/>
          </a:xfrm>
          <a:custGeom>
            <a:avLst/>
            <a:gdLst>
              <a:gd name="connsiteX0" fmla="*/ 0 w 3974547"/>
              <a:gd name="connsiteY0" fmla="*/ 0 h 1110032"/>
              <a:gd name="connsiteX1" fmla="*/ 3974547 w 3974547"/>
              <a:gd name="connsiteY1" fmla="*/ 0 h 1110032"/>
              <a:gd name="connsiteX2" fmla="*/ 3974547 w 3974547"/>
              <a:gd name="connsiteY2" fmla="*/ 1110032 h 1110032"/>
              <a:gd name="connsiteX3" fmla="*/ 0 w 3974547"/>
              <a:gd name="connsiteY3" fmla="*/ 1110032 h 1110032"/>
              <a:gd name="connsiteX4" fmla="*/ 0 w 3974547"/>
              <a:gd name="connsiteY4" fmla="*/ 0 h 11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4547" h="1110032">
                <a:moveTo>
                  <a:pt x="0" y="0"/>
                </a:moveTo>
                <a:lnTo>
                  <a:pt x="3974547" y="0"/>
                </a:lnTo>
                <a:lnTo>
                  <a:pt x="3974547" y="1110032"/>
                </a:lnTo>
                <a:lnTo>
                  <a:pt x="0" y="1110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478" tIns="117478" rIns="117478" bIns="117478"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Abadi Extra Light" panose="020B0204020104020204" pitchFamily="34" charset="0"/>
              </a:rPr>
              <a:t>What dimension(s) of sustainable urban transportation would you like the dashboard to inform?</a:t>
            </a:r>
          </a:p>
        </p:txBody>
      </p:sp>
      <p:sp>
        <p:nvSpPr>
          <p:cNvPr id="42" name="Freeform: Shape 41">
            <a:extLst>
              <a:ext uri="{FF2B5EF4-FFF2-40B4-BE49-F238E27FC236}">
                <a16:creationId xmlns:a16="http://schemas.microsoft.com/office/drawing/2014/main" id="{D3AA9177-AD92-F6BA-5C3F-B3705518A17C}"/>
              </a:ext>
            </a:extLst>
          </p:cNvPr>
          <p:cNvSpPr/>
          <p:nvPr/>
        </p:nvSpPr>
        <p:spPr>
          <a:xfrm>
            <a:off x="707987" y="2942311"/>
            <a:ext cx="3974547" cy="951964"/>
          </a:xfrm>
          <a:custGeom>
            <a:avLst/>
            <a:gdLst>
              <a:gd name="connsiteX0" fmla="*/ 0 w 3974547"/>
              <a:gd name="connsiteY0" fmla="*/ 0 h 1110032"/>
              <a:gd name="connsiteX1" fmla="*/ 3974547 w 3974547"/>
              <a:gd name="connsiteY1" fmla="*/ 0 h 1110032"/>
              <a:gd name="connsiteX2" fmla="*/ 3974547 w 3974547"/>
              <a:gd name="connsiteY2" fmla="*/ 1110032 h 1110032"/>
              <a:gd name="connsiteX3" fmla="*/ 0 w 3974547"/>
              <a:gd name="connsiteY3" fmla="*/ 1110032 h 1110032"/>
              <a:gd name="connsiteX4" fmla="*/ 0 w 3974547"/>
              <a:gd name="connsiteY4" fmla="*/ 0 h 11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4547" h="1110032">
                <a:moveTo>
                  <a:pt x="0" y="0"/>
                </a:moveTo>
                <a:lnTo>
                  <a:pt x="3974547" y="0"/>
                </a:lnTo>
                <a:lnTo>
                  <a:pt x="3974547" y="1110032"/>
                </a:lnTo>
                <a:lnTo>
                  <a:pt x="0" y="1110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478" tIns="117478" rIns="117478" bIns="117478"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Abadi Extra Light" panose="020B0204020104020204" pitchFamily="34" charset="0"/>
              </a:rPr>
              <a:t>What types of indicators, data, or other information would you include on the dashboard to inform this(/these) dimension(s)?</a:t>
            </a:r>
          </a:p>
        </p:txBody>
      </p:sp>
      <p:sp>
        <p:nvSpPr>
          <p:cNvPr id="45" name="Freeform: Shape 44">
            <a:extLst>
              <a:ext uri="{FF2B5EF4-FFF2-40B4-BE49-F238E27FC236}">
                <a16:creationId xmlns:a16="http://schemas.microsoft.com/office/drawing/2014/main" id="{AFA90154-0826-60B2-F03A-ADDB3A0E06CC}"/>
              </a:ext>
            </a:extLst>
          </p:cNvPr>
          <p:cNvSpPr/>
          <p:nvPr/>
        </p:nvSpPr>
        <p:spPr>
          <a:xfrm>
            <a:off x="707987" y="3863009"/>
            <a:ext cx="3974547" cy="951964"/>
          </a:xfrm>
          <a:custGeom>
            <a:avLst/>
            <a:gdLst>
              <a:gd name="connsiteX0" fmla="*/ 0 w 3974547"/>
              <a:gd name="connsiteY0" fmla="*/ 0 h 1110032"/>
              <a:gd name="connsiteX1" fmla="*/ 3974547 w 3974547"/>
              <a:gd name="connsiteY1" fmla="*/ 0 h 1110032"/>
              <a:gd name="connsiteX2" fmla="*/ 3974547 w 3974547"/>
              <a:gd name="connsiteY2" fmla="*/ 1110032 h 1110032"/>
              <a:gd name="connsiteX3" fmla="*/ 0 w 3974547"/>
              <a:gd name="connsiteY3" fmla="*/ 1110032 h 1110032"/>
              <a:gd name="connsiteX4" fmla="*/ 0 w 3974547"/>
              <a:gd name="connsiteY4" fmla="*/ 0 h 11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4547" h="1110032">
                <a:moveTo>
                  <a:pt x="0" y="0"/>
                </a:moveTo>
                <a:lnTo>
                  <a:pt x="3974547" y="0"/>
                </a:lnTo>
                <a:lnTo>
                  <a:pt x="3974547" y="1110032"/>
                </a:lnTo>
                <a:lnTo>
                  <a:pt x="0" y="1110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478" tIns="117478" rIns="117478" bIns="117478"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Abadi Extra Light" panose="020B0204020104020204" pitchFamily="34" charset="0"/>
              </a:rPr>
              <a:t>Who (i.e., what constituencies and stakeholders?) do you think would benefit from using the dashboard (e.g., community-based organizations, federal agencies, commuters)?</a:t>
            </a:r>
          </a:p>
        </p:txBody>
      </p:sp>
      <p:sp>
        <p:nvSpPr>
          <p:cNvPr id="48" name="Freeform: Shape 47">
            <a:extLst>
              <a:ext uri="{FF2B5EF4-FFF2-40B4-BE49-F238E27FC236}">
                <a16:creationId xmlns:a16="http://schemas.microsoft.com/office/drawing/2014/main" id="{D03174BB-65FD-74E3-D65D-6B3019AB837A}"/>
              </a:ext>
            </a:extLst>
          </p:cNvPr>
          <p:cNvSpPr/>
          <p:nvPr/>
        </p:nvSpPr>
        <p:spPr>
          <a:xfrm>
            <a:off x="707987" y="4783708"/>
            <a:ext cx="3974547" cy="951964"/>
          </a:xfrm>
          <a:custGeom>
            <a:avLst/>
            <a:gdLst>
              <a:gd name="connsiteX0" fmla="*/ 0 w 3974547"/>
              <a:gd name="connsiteY0" fmla="*/ 0 h 1110032"/>
              <a:gd name="connsiteX1" fmla="*/ 3974547 w 3974547"/>
              <a:gd name="connsiteY1" fmla="*/ 0 h 1110032"/>
              <a:gd name="connsiteX2" fmla="*/ 3974547 w 3974547"/>
              <a:gd name="connsiteY2" fmla="*/ 1110032 h 1110032"/>
              <a:gd name="connsiteX3" fmla="*/ 0 w 3974547"/>
              <a:gd name="connsiteY3" fmla="*/ 1110032 h 1110032"/>
              <a:gd name="connsiteX4" fmla="*/ 0 w 3974547"/>
              <a:gd name="connsiteY4" fmla="*/ 0 h 1110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4547" h="1110032">
                <a:moveTo>
                  <a:pt x="0" y="0"/>
                </a:moveTo>
                <a:lnTo>
                  <a:pt x="3974547" y="0"/>
                </a:lnTo>
                <a:lnTo>
                  <a:pt x="3974547" y="1110032"/>
                </a:lnTo>
                <a:lnTo>
                  <a:pt x="0" y="1110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478" tIns="117478" rIns="117478" bIns="117478"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Abadi Extra Light" panose="020B0204020104020204" pitchFamily="34" charset="0"/>
              </a:rPr>
              <a:t>How could these constituencies or stakeholders use the information on the dashboard?</a:t>
            </a:r>
          </a:p>
        </p:txBody>
      </p:sp>
    </p:spTree>
    <p:extLst>
      <p:ext uri="{BB962C8B-B14F-4D97-AF65-F5344CB8AC3E}">
        <p14:creationId xmlns:p14="http://schemas.microsoft.com/office/powerpoint/2010/main" val="3114417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98367D9D-E749-871C-9426-849C9F0966A1}"/>
              </a:ext>
            </a:extLst>
          </p:cNvPr>
          <p:cNvSpPr>
            <a:spLocks noGrp="1"/>
          </p:cNvSpPr>
          <p:nvPr>
            <p:ph type="title"/>
          </p:nvPr>
        </p:nvSpPr>
        <p:spPr>
          <a:xfrm>
            <a:off x="686180" y="201125"/>
            <a:ext cx="8294533" cy="577205"/>
          </a:xfrm>
        </p:spPr>
        <p:txBody>
          <a:bodyPr vert="horz" lIns="91440" tIns="45720" rIns="91440" bIns="45720" rtlCol="0" anchor="t">
            <a:normAutofit/>
          </a:bodyPr>
          <a:lstStyle/>
          <a:p>
            <a:pPr>
              <a:lnSpc>
                <a:spcPct val="90000"/>
              </a:lnSpc>
            </a:pPr>
            <a:r>
              <a:rPr lang="en-US" sz="3400" dirty="0"/>
              <a:t>IMPROVING BIKE MODE SHARE IN CHICAGO</a:t>
            </a:r>
          </a:p>
        </p:txBody>
      </p:sp>
      <p:pic>
        <p:nvPicPr>
          <p:cNvPr id="3" name="Graphic 2" descr="Upward trend outline">
            <a:extLst>
              <a:ext uri="{FF2B5EF4-FFF2-40B4-BE49-F238E27FC236}">
                <a16:creationId xmlns:a16="http://schemas.microsoft.com/office/drawing/2014/main" id="{0551B1A3-5612-DFCE-F113-F20267DFB5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24456" y="1294130"/>
            <a:ext cx="2286000" cy="2286000"/>
          </a:xfrm>
          <a:prstGeom prst="rect">
            <a:avLst/>
          </a:prstGeom>
        </p:spPr>
      </p:pic>
      <p:pic>
        <p:nvPicPr>
          <p:cNvPr id="4" name="Picture 3">
            <a:extLst>
              <a:ext uri="{FF2B5EF4-FFF2-40B4-BE49-F238E27FC236}">
                <a16:creationId xmlns:a16="http://schemas.microsoft.com/office/drawing/2014/main" id="{B7C7C812-EA49-1884-C2AE-C41B9D327F68}"/>
              </a:ext>
            </a:extLst>
          </p:cNvPr>
          <p:cNvPicPr>
            <a:picLocks noChangeAspect="1"/>
          </p:cNvPicPr>
          <p:nvPr/>
        </p:nvPicPr>
        <p:blipFill rotWithShape="1">
          <a:blip r:embed="rId4"/>
          <a:srcRect l="3751" r="4216"/>
          <a:stretch/>
        </p:blipFill>
        <p:spPr>
          <a:xfrm>
            <a:off x="4826043" y="1522729"/>
            <a:ext cx="2129927" cy="2121923"/>
          </a:xfrm>
          <a:prstGeom prst="rect">
            <a:avLst/>
          </a:prstGeom>
        </p:spPr>
      </p:pic>
      <p:sp>
        <p:nvSpPr>
          <p:cNvPr id="5" name="TextBox 4">
            <a:extLst>
              <a:ext uri="{FF2B5EF4-FFF2-40B4-BE49-F238E27FC236}">
                <a16:creationId xmlns:a16="http://schemas.microsoft.com/office/drawing/2014/main" id="{1ADB1A9B-219E-84BA-108A-FBA5E835FDBB}"/>
              </a:ext>
            </a:extLst>
          </p:cNvPr>
          <p:cNvSpPr txBox="1"/>
          <p:nvPr/>
        </p:nvSpPr>
        <p:spPr>
          <a:xfrm>
            <a:off x="4873669" y="1153398"/>
            <a:ext cx="1975541" cy="369332"/>
          </a:xfrm>
          <a:prstGeom prst="rect">
            <a:avLst/>
          </a:prstGeom>
          <a:noFill/>
        </p:spPr>
        <p:txBody>
          <a:bodyPr wrap="none" rtlCol="0">
            <a:spAutoFit/>
          </a:bodyPr>
          <a:lstStyle/>
          <a:p>
            <a:r>
              <a:rPr lang="en-US" dirty="0"/>
              <a:t>Map of Bike Trips</a:t>
            </a:r>
          </a:p>
        </p:txBody>
      </p:sp>
      <p:sp>
        <p:nvSpPr>
          <p:cNvPr id="6" name="TextBox 5">
            <a:extLst>
              <a:ext uri="{FF2B5EF4-FFF2-40B4-BE49-F238E27FC236}">
                <a16:creationId xmlns:a16="http://schemas.microsoft.com/office/drawing/2014/main" id="{EE6ADB73-0C14-8B17-FE0A-4E6CC9B5AD3D}"/>
              </a:ext>
            </a:extLst>
          </p:cNvPr>
          <p:cNvSpPr txBox="1"/>
          <p:nvPr/>
        </p:nvSpPr>
        <p:spPr>
          <a:xfrm>
            <a:off x="2434915" y="1109464"/>
            <a:ext cx="2074094" cy="369332"/>
          </a:xfrm>
          <a:prstGeom prst="rect">
            <a:avLst/>
          </a:prstGeom>
          <a:noFill/>
        </p:spPr>
        <p:txBody>
          <a:bodyPr wrap="none" rtlCol="0">
            <a:spAutoFit/>
          </a:bodyPr>
          <a:lstStyle/>
          <a:p>
            <a:r>
              <a:rPr lang="en-US" dirty="0"/>
              <a:t>Bike trips </a:t>
            </a:r>
            <a:r>
              <a:rPr lang="en-US"/>
              <a:t>over time</a:t>
            </a:r>
            <a:endParaRPr lang="en-US" dirty="0"/>
          </a:p>
        </p:txBody>
      </p:sp>
    </p:spTree>
    <p:extLst>
      <p:ext uri="{BB962C8B-B14F-4D97-AF65-F5344CB8AC3E}">
        <p14:creationId xmlns:p14="http://schemas.microsoft.com/office/powerpoint/2010/main" val="425034161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9E2DFAF961F54A84E2255C106EB7C6" ma:contentTypeVersion="14" ma:contentTypeDescription="Create a new document." ma:contentTypeScope="" ma:versionID="37fda1044ea6fcdf3bd16bc3c94ad44f">
  <xsd:schema xmlns:xsd="http://www.w3.org/2001/XMLSchema" xmlns:xs="http://www.w3.org/2001/XMLSchema" xmlns:p="http://schemas.microsoft.com/office/2006/metadata/properties" xmlns:ns3="f1ca5527-4d73-4ce9-b1ce-36fa22ecda61" xmlns:ns4="3dc9000b-820f-4ca7-9747-1e0793ae1595" targetNamespace="http://schemas.microsoft.com/office/2006/metadata/properties" ma:root="true" ma:fieldsID="5af716157f5d25fba0ad372f267ba070" ns3:_="" ns4:_="">
    <xsd:import namespace="f1ca5527-4d73-4ce9-b1ce-36fa22ecda61"/>
    <xsd:import namespace="3dc9000b-820f-4ca7-9747-1e0793ae159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a5527-4d73-4ce9-b1ce-36fa22ecd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c9000b-820f-4ca7-9747-1e0793ae159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16F009-DBF7-445D-86F2-D269D4D5C9CA}">
  <ds:schemaRefs>
    <ds:schemaRef ds:uri="http://schemas.microsoft.com/sharepoint/v3/contenttype/forms"/>
  </ds:schemaRefs>
</ds:datastoreItem>
</file>

<file path=customXml/itemProps2.xml><?xml version="1.0" encoding="utf-8"?>
<ds:datastoreItem xmlns:ds="http://schemas.openxmlformats.org/officeDocument/2006/customXml" ds:itemID="{E65681D8-D955-4FCC-9752-6E901C9412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a5527-4d73-4ce9-b1ce-36fa22ecda61"/>
    <ds:schemaRef ds:uri="3dc9000b-820f-4ca7-9747-1e0793ae15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63FC6B2-8F98-4431-99CC-7C9E3804CD6C}">
  <ds:schemaRefs>
    <ds:schemaRef ds:uri="http://schemas.microsoft.com/office/infopath/2007/PartnerControls"/>
    <ds:schemaRef ds:uri="http://purl.org/dc/elements/1.1/"/>
    <ds:schemaRef ds:uri="http://schemas.microsoft.com/office/2006/metadata/properties"/>
    <ds:schemaRef ds:uri="http://purl.org/dc/terms/"/>
    <ds:schemaRef ds:uri="f1ca5527-4d73-4ce9-b1ce-36fa22ecda61"/>
    <ds:schemaRef ds:uri="http://schemas.openxmlformats.org/package/2006/metadata/core-properties"/>
    <ds:schemaRef ds:uri="http://schemas.microsoft.com/office/2006/documentManagement/types"/>
    <ds:schemaRef ds:uri="3dc9000b-820f-4ca7-9747-1e0793ae159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Retrospect</Template>
  <TotalTime>416</TotalTime>
  <Words>551</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Abadi Extra Light</vt:lpstr>
      <vt:lpstr>Arial</vt:lpstr>
      <vt:lpstr>Calisto MT</vt:lpstr>
      <vt:lpstr>Univers Condensed</vt:lpstr>
      <vt:lpstr>ChronicleVTI</vt:lpstr>
      <vt:lpstr>[mode] mode share trends, [division/state], 2010-2023</vt:lpstr>
      <vt:lpstr>[mode] mode share trends, [division/state], 2010-2023</vt:lpstr>
      <vt:lpstr>TOP ten counties in [MODE] mode sharE, 2023</vt:lpstr>
      <vt:lpstr>TOP ten counties in [MODE] mode sharE, 2023</vt:lpstr>
      <vt:lpstr>Map of [mode] mode share by us county, 2023</vt:lpstr>
      <vt:lpstr>Map of [mode] mode share by us county, 2023</vt:lpstr>
      <vt:lpstr>PowerPoint Presentation</vt:lpstr>
      <vt:lpstr>IMPROVING BIKE MODE SHARE IN CHICAGO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 dependency Ratio City of Philadelphia, 2020 by census tract</dc:title>
  <dc:creator>Smith, Christopher</dc:creator>
  <cp:lastModifiedBy>Smith, Christopher</cp:lastModifiedBy>
  <cp:revision>12</cp:revision>
  <dcterms:created xsi:type="dcterms:W3CDTF">2022-04-04T19:58:17Z</dcterms:created>
  <dcterms:modified xsi:type="dcterms:W3CDTF">2025-01-23T02:51:29Z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0x010100C89E2DFAF961F54A84E2255C106EB7C6</vt:lpwstr>
  </property>
</Properties>
</file>