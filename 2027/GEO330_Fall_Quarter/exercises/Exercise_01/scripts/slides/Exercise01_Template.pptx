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4"/>
  </p:sldMasterIdLst>
  <p:sldIdLst>
    <p:sldId id="258" r:id="rId5"/>
    <p:sldId id="276" r:id="rId6"/>
    <p:sldId id="273" r:id="rId7"/>
    <p:sldId id="274" r:id="rId8"/>
    <p:sldId id="275"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9A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DA1F6B1-B43D-4F92-8722-D0598E1F7E95}" v="8" dt="2026-09-08T02:37:06.3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321CF1EA-DDCA-4C73-9872-605BFFD8AB88}"/>
    <pc:docChg chg="undo custSel addSld delSld modSld">
      <pc:chgData name="Christopher Smith" userId="f635bcaf-d701-437b-bffd-1a8f160c01d9" providerId="ADAL" clId="{321CF1EA-DDCA-4C73-9872-605BFFD8AB88}" dt="2026-09-08T19:04:13.808" v="876" actId="20577"/>
      <pc:docMkLst>
        <pc:docMk/>
      </pc:docMkLst>
      <pc:sldChg chg="modSp mod">
        <pc:chgData name="Christopher Smith" userId="f635bcaf-d701-437b-bffd-1a8f160c01d9" providerId="ADAL" clId="{321CF1EA-DDCA-4C73-9872-605BFFD8AB88}" dt="2026-09-08T19:04:13.808" v="876" actId="20577"/>
        <pc:sldMkLst>
          <pc:docMk/>
          <pc:sldMk cId="3196567083" sldId="258"/>
        </pc:sldMkLst>
        <pc:spChg chg="mod">
          <ac:chgData name="Christopher Smith" userId="f635bcaf-d701-437b-bffd-1a8f160c01d9" providerId="ADAL" clId="{321CF1EA-DDCA-4C73-9872-605BFFD8AB88}" dt="2026-09-08T02:36:15.871" v="818" actId="20577"/>
          <ac:spMkLst>
            <pc:docMk/>
            <pc:sldMk cId="3196567083" sldId="258"/>
            <ac:spMk id="3" creationId="{ED507706-6F42-E11B-D908-0EABC71B74DF}"/>
          </ac:spMkLst>
        </pc:spChg>
        <pc:spChg chg="mod">
          <ac:chgData name="Christopher Smith" userId="f635bcaf-d701-437b-bffd-1a8f160c01d9" providerId="ADAL" clId="{321CF1EA-DDCA-4C73-9872-605BFFD8AB88}" dt="2026-09-08T19:04:13.808" v="876" actId="20577"/>
          <ac:spMkLst>
            <pc:docMk/>
            <pc:sldMk cId="3196567083" sldId="258"/>
            <ac:spMk id="6" creationId="{77977495-7045-4BEB-B038-AC19B9064EC1}"/>
          </ac:spMkLst>
        </pc:spChg>
        <pc:spChg chg="mod">
          <ac:chgData name="Christopher Smith" userId="f635bcaf-d701-437b-bffd-1a8f160c01d9" providerId="ADAL" clId="{321CF1EA-DDCA-4C73-9872-605BFFD8AB88}" dt="2026-09-08T02:33:15.985" v="463" actId="20577"/>
          <ac:spMkLst>
            <pc:docMk/>
            <pc:sldMk cId="3196567083" sldId="258"/>
            <ac:spMk id="11" creationId="{3E48FC44-1FA2-4F7A-0A80-59B4E81301D5}"/>
          </ac:spMkLst>
        </pc:spChg>
      </pc:sldChg>
      <pc:sldChg chg="del">
        <pc:chgData name="Christopher Smith" userId="f635bcaf-d701-437b-bffd-1a8f160c01d9" providerId="ADAL" clId="{321CF1EA-DDCA-4C73-9872-605BFFD8AB88}" dt="2026-09-08T02:22:26.724" v="8" actId="47"/>
        <pc:sldMkLst>
          <pc:docMk/>
          <pc:sldMk cId="570994172" sldId="265"/>
        </pc:sldMkLst>
      </pc:sldChg>
      <pc:sldChg chg="del">
        <pc:chgData name="Christopher Smith" userId="f635bcaf-d701-437b-bffd-1a8f160c01d9" providerId="ADAL" clId="{321CF1EA-DDCA-4C73-9872-605BFFD8AB88}" dt="2026-09-08T02:27:22.568" v="214" actId="47"/>
        <pc:sldMkLst>
          <pc:docMk/>
          <pc:sldMk cId="2783955809" sldId="267"/>
        </pc:sldMkLst>
      </pc:sldChg>
      <pc:sldChg chg="del">
        <pc:chgData name="Christopher Smith" userId="f635bcaf-d701-437b-bffd-1a8f160c01d9" providerId="ADAL" clId="{321CF1EA-DDCA-4C73-9872-605BFFD8AB88}" dt="2026-09-08T02:27:22.568" v="214" actId="47"/>
        <pc:sldMkLst>
          <pc:docMk/>
          <pc:sldMk cId="3538999179" sldId="268"/>
        </pc:sldMkLst>
      </pc:sldChg>
      <pc:sldChg chg="del">
        <pc:chgData name="Christopher Smith" userId="f635bcaf-d701-437b-bffd-1a8f160c01d9" providerId="ADAL" clId="{321CF1EA-DDCA-4C73-9872-605BFFD8AB88}" dt="2026-09-08T02:27:22.568" v="214" actId="47"/>
        <pc:sldMkLst>
          <pc:docMk/>
          <pc:sldMk cId="3185828549" sldId="269"/>
        </pc:sldMkLst>
      </pc:sldChg>
      <pc:sldChg chg="del">
        <pc:chgData name="Christopher Smith" userId="f635bcaf-d701-437b-bffd-1a8f160c01d9" providerId="ADAL" clId="{321CF1EA-DDCA-4C73-9872-605BFFD8AB88}" dt="2026-09-08T02:27:22.568" v="214" actId="47"/>
        <pc:sldMkLst>
          <pc:docMk/>
          <pc:sldMk cId="252128979" sldId="270"/>
        </pc:sldMkLst>
      </pc:sldChg>
      <pc:sldChg chg="del">
        <pc:chgData name="Christopher Smith" userId="f635bcaf-d701-437b-bffd-1a8f160c01d9" providerId="ADAL" clId="{321CF1EA-DDCA-4C73-9872-605BFFD8AB88}" dt="2026-09-08T02:30:28.557" v="342" actId="47"/>
        <pc:sldMkLst>
          <pc:docMk/>
          <pc:sldMk cId="3114417421" sldId="271"/>
        </pc:sldMkLst>
      </pc:sldChg>
      <pc:sldChg chg="del">
        <pc:chgData name="Christopher Smith" userId="f635bcaf-d701-437b-bffd-1a8f160c01d9" providerId="ADAL" clId="{321CF1EA-DDCA-4C73-9872-605BFFD8AB88}" dt="2026-09-08T02:27:25.390" v="215" actId="47"/>
        <pc:sldMkLst>
          <pc:docMk/>
          <pc:sldMk cId="4250341618" sldId="272"/>
        </pc:sldMkLst>
      </pc:sldChg>
      <pc:sldChg chg="modSp add mod">
        <pc:chgData name="Christopher Smith" userId="f635bcaf-d701-437b-bffd-1a8f160c01d9" providerId="ADAL" clId="{321CF1EA-DDCA-4C73-9872-605BFFD8AB88}" dt="2026-09-08T02:36:40.673" v="820"/>
        <pc:sldMkLst>
          <pc:docMk/>
          <pc:sldMk cId="4033029874" sldId="273"/>
        </pc:sldMkLst>
        <pc:spChg chg="mod">
          <ac:chgData name="Christopher Smith" userId="f635bcaf-d701-437b-bffd-1a8f160c01d9" providerId="ADAL" clId="{321CF1EA-DDCA-4C73-9872-605BFFD8AB88}" dt="2026-09-08T02:36:40.673" v="820"/>
          <ac:spMkLst>
            <pc:docMk/>
            <pc:sldMk cId="4033029874" sldId="273"/>
            <ac:spMk id="3" creationId="{7EE5C48A-9527-1587-CB5D-D2F546B0CF6E}"/>
          </ac:spMkLst>
        </pc:spChg>
        <pc:spChg chg="mod">
          <ac:chgData name="Christopher Smith" userId="f635bcaf-d701-437b-bffd-1a8f160c01d9" providerId="ADAL" clId="{321CF1EA-DDCA-4C73-9872-605BFFD8AB88}" dt="2026-09-08T02:24:19.457" v="106" actId="20577"/>
          <ac:spMkLst>
            <pc:docMk/>
            <pc:sldMk cId="4033029874" sldId="273"/>
            <ac:spMk id="6" creationId="{D8C060DE-8A3F-B6BE-1F69-10A41CD4C92C}"/>
          </ac:spMkLst>
        </pc:spChg>
        <pc:spChg chg="mod">
          <ac:chgData name="Christopher Smith" userId="f635bcaf-d701-437b-bffd-1a8f160c01d9" providerId="ADAL" clId="{321CF1EA-DDCA-4C73-9872-605BFFD8AB88}" dt="2026-09-08T02:33:48.451" v="488" actId="20577"/>
          <ac:spMkLst>
            <pc:docMk/>
            <pc:sldMk cId="4033029874" sldId="273"/>
            <ac:spMk id="11" creationId="{58451ECB-695D-DCAD-7E2A-DEDCD7EC2253}"/>
          </ac:spMkLst>
        </pc:spChg>
      </pc:sldChg>
      <pc:sldChg chg="modSp add mod">
        <pc:chgData name="Christopher Smith" userId="f635bcaf-d701-437b-bffd-1a8f160c01d9" providerId="ADAL" clId="{321CF1EA-DDCA-4C73-9872-605BFFD8AB88}" dt="2026-09-08T02:36:47.933" v="824" actId="20577"/>
        <pc:sldMkLst>
          <pc:docMk/>
          <pc:sldMk cId="1945915822" sldId="274"/>
        </pc:sldMkLst>
        <pc:spChg chg="mod">
          <ac:chgData name="Christopher Smith" userId="f635bcaf-d701-437b-bffd-1a8f160c01d9" providerId="ADAL" clId="{321CF1EA-DDCA-4C73-9872-605BFFD8AB88}" dt="2026-09-08T02:36:47.933" v="824" actId="20577"/>
          <ac:spMkLst>
            <pc:docMk/>
            <pc:sldMk cId="1945915822" sldId="274"/>
            <ac:spMk id="3" creationId="{18C37920-CDEE-2514-B915-30068AACC242}"/>
          </ac:spMkLst>
        </pc:spChg>
        <pc:spChg chg="mod">
          <ac:chgData name="Christopher Smith" userId="f635bcaf-d701-437b-bffd-1a8f160c01d9" providerId="ADAL" clId="{321CF1EA-DDCA-4C73-9872-605BFFD8AB88}" dt="2026-09-08T02:25:35.469" v="151" actId="20577"/>
          <ac:spMkLst>
            <pc:docMk/>
            <pc:sldMk cId="1945915822" sldId="274"/>
            <ac:spMk id="6" creationId="{3B572C6B-73AA-DC27-8725-BC31C98D41A5}"/>
          </ac:spMkLst>
        </pc:spChg>
        <pc:spChg chg="mod">
          <ac:chgData name="Christopher Smith" userId="f635bcaf-d701-437b-bffd-1a8f160c01d9" providerId="ADAL" clId="{321CF1EA-DDCA-4C73-9872-605BFFD8AB88}" dt="2026-09-08T02:36:03.215" v="811" actId="20577"/>
          <ac:spMkLst>
            <pc:docMk/>
            <pc:sldMk cId="1945915822" sldId="274"/>
            <ac:spMk id="11" creationId="{88351F3F-5752-69F6-9538-D292669878BE}"/>
          </ac:spMkLst>
        </pc:spChg>
      </pc:sldChg>
      <pc:sldChg chg="modSp add mod">
        <pc:chgData name="Christopher Smith" userId="f635bcaf-d701-437b-bffd-1a8f160c01d9" providerId="ADAL" clId="{321CF1EA-DDCA-4C73-9872-605BFFD8AB88}" dt="2026-09-08T02:37:09.738" v="863" actId="20577"/>
        <pc:sldMkLst>
          <pc:docMk/>
          <pc:sldMk cId="3803463582" sldId="275"/>
        </pc:sldMkLst>
        <pc:spChg chg="mod">
          <ac:chgData name="Christopher Smith" userId="f635bcaf-d701-437b-bffd-1a8f160c01d9" providerId="ADAL" clId="{321CF1EA-DDCA-4C73-9872-605BFFD8AB88}" dt="2026-09-08T02:37:09.738" v="863" actId="20577"/>
          <ac:spMkLst>
            <pc:docMk/>
            <pc:sldMk cId="3803463582" sldId="275"/>
            <ac:spMk id="3" creationId="{D34BE1B3-91E6-8A2F-68C4-6858BB53668C}"/>
          </ac:spMkLst>
        </pc:spChg>
        <pc:spChg chg="mod">
          <ac:chgData name="Christopher Smith" userId="f635bcaf-d701-437b-bffd-1a8f160c01d9" providerId="ADAL" clId="{321CF1EA-DDCA-4C73-9872-605BFFD8AB88}" dt="2026-09-08T02:27:43.063" v="252" actId="20577"/>
          <ac:spMkLst>
            <pc:docMk/>
            <pc:sldMk cId="3803463582" sldId="275"/>
            <ac:spMk id="6" creationId="{952B8E5A-8181-1590-5580-E925766C154A}"/>
          </ac:spMkLst>
        </pc:spChg>
      </pc:sldChg>
      <pc:sldChg chg="modSp add mod">
        <pc:chgData name="Christopher Smith" userId="f635bcaf-d701-437b-bffd-1a8f160c01d9" providerId="ADAL" clId="{321CF1EA-DDCA-4C73-9872-605BFFD8AB88}" dt="2026-09-08T02:36:33.178" v="819"/>
        <pc:sldMkLst>
          <pc:docMk/>
          <pc:sldMk cId="72989767" sldId="276"/>
        </pc:sldMkLst>
        <pc:spChg chg="mod">
          <ac:chgData name="Christopher Smith" userId="f635bcaf-d701-437b-bffd-1a8f160c01d9" providerId="ADAL" clId="{321CF1EA-DDCA-4C73-9872-605BFFD8AB88}" dt="2026-09-08T02:36:33.178" v="819"/>
          <ac:spMkLst>
            <pc:docMk/>
            <pc:sldMk cId="72989767" sldId="276"/>
            <ac:spMk id="3" creationId="{CCCB3394-C44A-7574-6284-F079751AEFC1}"/>
          </ac:spMkLst>
        </pc:spChg>
        <pc:spChg chg="mod">
          <ac:chgData name="Christopher Smith" userId="f635bcaf-d701-437b-bffd-1a8f160c01d9" providerId="ADAL" clId="{321CF1EA-DDCA-4C73-9872-605BFFD8AB88}" dt="2026-09-08T02:30:00.980" v="341" actId="14100"/>
          <ac:spMkLst>
            <pc:docMk/>
            <pc:sldMk cId="72989767" sldId="276"/>
            <ac:spMk id="6" creationId="{2A0E8101-6FD3-9312-509E-3ACCFF9CD6B5}"/>
          </ac:spMkLst>
        </pc:spChg>
        <pc:spChg chg="mod">
          <ac:chgData name="Christopher Smith" userId="f635bcaf-d701-437b-bffd-1a8f160c01d9" providerId="ADAL" clId="{321CF1EA-DDCA-4C73-9872-605BFFD8AB88}" dt="2026-09-08T02:29:31.636" v="317" actId="1076"/>
          <ac:spMkLst>
            <pc:docMk/>
            <pc:sldMk cId="72989767" sldId="276"/>
            <ac:spMk id="11" creationId="{C1E40558-41DA-DEC9-FB85-028CD1394E2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9018157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38666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25114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799256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673988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6908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82317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107925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036047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666897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F3E8B1C-86EF-43CF-8304-249481088644}" type="datetimeFigureOut">
              <a:rPr lang="en-US" smtClean="0"/>
              <a:t>9/8/2026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15691221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2F3E8B1C-86EF-43CF-8304-249481088644}" type="datetimeFigureOut">
              <a:rPr lang="en-US" smtClean="0"/>
              <a:pPr/>
              <a:t>9/8/2026</a:t>
            </a:fld>
            <a:endParaRPr lang="en-US" dirty="0"/>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C3DB2ADC-AF19-4574-8C10-79B5B04FCA27}" type="slidenum">
              <a:rPr lang="en-US" smtClean="0"/>
              <a:pPr/>
              <a:t>‹#›</a:t>
            </a:fld>
            <a:endParaRPr lang="en-US" dirty="0"/>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8564742"/>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797" r:id="rId6"/>
    <p:sldLayoutId id="2147483793" r:id="rId7"/>
    <p:sldLayoutId id="2147483794" r:id="rId8"/>
    <p:sldLayoutId id="2147483795" r:id="rId9"/>
    <p:sldLayoutId id="2147483796" r:id="rId10"/>
    <p:sldLayoutId id="2147483798" r:id="rId11"/>
  </p:sldLayoutIdLst>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mode share trends,</a:t>
            </a:r>
            <a:br>
              <a:rPr lang="en-US" sz="3400" dirty="0"/>
            </a:br>
            <a:r>
              <a:rPr lang="en-US" sz="3400" dirty="0"/>
              <a:t>United States,</a:t>
            </a:r>
            <a:br>
              <a:rPr lang="en-US" sz="3400" dirty="0"/>
            </a:br>
            <a:r>
              <a:rPr lang="en-US" sz="3400" dirty="0"/>
              <a:t>2010-2025</a:t>
            </a:r>
          </a:p>
        </p:txBody>
      </p:sp>
      <p:sp>
        <p:nvSpPr>
          <p:cNvPr id="11" name="TextBox 10">
            <a:extLst>
              <a:ext uri="{FF2B5EF4-FFF2-40B4-BE49-F238E27FC236}">
                <a16:creationId xmlns:a16="http://schemas.microsoft.com/office/drawing/2014/main" id="{3E48FC44-1FA2-4F7A-0A80-59B4E81301D5}"/>
              </a:ext>
            </a:extLst>
          </p:cNvPr>
          <p:cNvSpPr txBox="1"/>
          <p:nvPr/>
        </p:nvSpPr>
        <p:spPr>
          <a:xfrm>
            <a:off x="669852" y="2663113"/>
            <a:ext cx="5507428" cy="1323439"/>
          </a:xfrm>
          <a:prstGeom prst="rect">
            <a:avLst/>
          </a:prstGeom>
          <a:noFill/>
        </p:spPr>
        <p:txBody>
          <a:bodyPr wrap="square">
            <a:spAutoFit/>
          </a:bodyPr>
          <a:lstStyle/>
          <a:p>
            <a:r>
              <a:rPr lang="en-US" sz="1600" i="1" cap="none" dirty="0">
                <a:latin typeface="Abadi Extra Light" panose="020B0604020202020204" pitchFamily="34" charset="0"/>
              </a:rPr>
              <a:t>Summarize the commuting trends over th</a:t>
            </a:r>
            <a:r>
              <a:rPr lang="en-US" sz="1600" i="1" dirty="0">
                <a:latin typeface="Abadi Extra Light" panose="020B0604020202020204" pitchFamily="34" charset="0"/>
              </a:rPr>
              <a:t>is period </a:t>
            </a:r>
            <a:r>
              <a:rPr lang="en-US" sz="1600" i="1" cap="none" dirty="0">
                <a:latin typeface="Abadi Extra Light" panose="020B0604020202020204" pitchFamily="34" charset="0"/>
              </a:rPr>
              <a:t>for your selected </a:t>
            </a:r>
            <a:r>
              <a:rPr lang="en-US" sz="1600" i="1" dirty="0">
                <a:latin typeface="Abadi Extra Light" panose="020B0604020202020204" pitchFamily="34" charset="0"/>
              </a:rPr>
              <a:t>county by mode of transportation</a:t>
            </a:r>
            <a:r>
              <a:rPr lang="en-US" sz="1600" i="1" cap="none" dirty="0">
                <a:latin typeface="Abadi Extra Light" panose="020B0604020202020204" pitchFamily="34" charset="0"/>
              </a:rPr>
              <a:t>. What changes and trends do you see in mode share?  How do patterns in this county compare with national trends? What </a:t>
            </a:r>
            <a:r>
              <a:rPr lang="en-US" sz="1600" i="1" dirty="0">
                <a:latin typeface="Abadi Extra Light" panose="020B0604020202020204" pitchFamily="34" charset="0"/>
              </a:rPr>
              <a:t>factors </a:t>
            </a:r>
            <a:r>
              <a:rPr lang="en-US" sz="1600" i="1" cap="none" dirty="0">
                <a:latin typeface="Abadi Extra Light" panose="020B0604020202020204" pitchFamily="34" charset="0"/>
              </a:rPr>
              <a:t>do you feel may help explain these trends?</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ED507706-6F42-E11B-D908-0EABC71B74DF}"/>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chart copied from RStudio</a:t>
            </a:r>
          </a:p>
        </p:txBody>
      </p:sp>
    </p:spTree>
    <p:extLst>
      <p:ext uri="{BB962C8B-B14F-4D97-AF65-F5344CB8AC3E}">
        <p14:creationId xmlns:p14="http://schemas.microsoft.com/office/powerpoint/2010/main" val="31965670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F2D1-782F-20E9-4D65-154E86DE8C2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A0E8101-6FD3-9312-509E-3ACCFF9CD6B5}"/>
              </a:ext>
            </a:extLst>
          </p:cNvPr>
          <p:cNvSpPr>
            <a:spLocks noGrp="1"/>
          </p:cNvSpPr>
          <p:nvPr>
            <p:ph type="title"/>
          </p:nvPr>
        </p:nvSpPr>
        <p:spPr>
          <a:xfrm>
            <a:off x="669852" y="870596"/>
            <a:ext cx="5665634" cy="577205"/>
          </a:xfrm>
        </p:spPr>
        <p:txBody>
          <a:bodyPr vert="horz" lIns="91440" tIns="45720" rIns="91440" bIns="45720" rtlCol="0" anchor="t">
            <a:normAutofit fontScale="90000"/>
          </a:bodyPr>
          <a:lstStyle/>
          <a:p>
            <a:pPr>
              <a:lnSpc>
                <a:spcPct val="90000"/>
              </a:lnSpc>
            </a:pPr>
            <a:r>
              <a:rPr lang="en-US" sz="3400" dirty="0"/>
              <a:t>ACTIVE TRANSPORTATION (BIKE, WALK AND PUBLIC TRANSIT) MODE SHARE trends,</a:t>
            </a:r>
            <a:br>
              <a:rPr lang="en-US" sz="3400" dirty="0"/>
            </a:br>
            <a:r>
              <a:rPr lang="en-US" sz="3400" dirty="0"/>
              <a:t>[COUNTY],</a:t>
            </a:r>
            <a:br>
              <a:rPr lang="en-US" sz="3400" dirty="0"/>
            </a:br>
            <a:r>
              <a:rPr lang="en-US" sz="3400" dirty="0"/>
              <a:t>2010-2025</a:t>
            </a:r>
          </a:p>
        </p:txBody>
      </p:sp>
      <p:sp>
        <p:nvSpPr>
          <p:cNvPr id="11" name="TextBox 10">
            <a:extLst>
              <a:ext uri="{FF2B5EF4-FFF2-40B4-BE49-F238E27FC236}">
                <a16:creationId xmlns:a16="http://schemas.microsoft.com/office/drawing/2014/main" id="{C1E40558-41DA-DEC9-FB85-028CD1394E20}"/>
              </a:ext>
            </a:extLst>
          </p:cNvPr>
          <p:cNvSpPr txBox="1"/>
          <p:nvPr/>
        </p:nvSpPr>
        <p:spPr>
          <a:xfrm>
            <a:off x="669852" y="3365241"/>
            <a:ext cx="5507428" cy="1323439"/>
          </a:xfrm>
          <a:prstGeom prst="rect">
            <a:avLst/>
          </a:prstGeom>
          <a:noFill/>
        </p:spPr>
        <p:txBody>
          <a:bodyPr wrap="square">
            <a:spAutoFit/>
          </a:bodyPr>
          <a:lstStyle/>
          <a:p>
            <a:r>
              <a:rPr lang="en-US" sz="1600" i="1" cap="none" dirty="0">
                <a:latin typeface="Abadi Extra Light" panose="020B0604020202020204" pitchFamily="34" charset="0"/>
              </a:rPr>
              <a:t>Summarize the commuting trends over the past decade for your selected place and mode. What changes and trends do you see in mode share over this period?  How does this compare with national trends? What </a:t>
            </a:r>
            <a:r>
              <a:rPr lang="en-US" sz="1600" i="1" dirty="0">
                <a:latin typeface="Abadi Extra Light" panose="020B0604020202020204" pitchFamily="34" charset="0"/>
              </a:rPr>
              <a:t>factors </a:t>
            </a:r>
            <a:r>
              <a:rPr lang="en-US" sz="1600" i="1" cap="none" dirty="0">
                <a:latin typeface="Abadi Extra Light" panose="020B0604020202020204" pitchFamily="34" charset="0"/>
              </a:rPr>
              <a:t>do you feel may help explain this trend?</a:t>
            </a:r>
          </a:p>
        </p:txBody>
      </p:sp>
      <p:sp>
        <p:nvSpPr>
          <p:cNvPr id="12" name="TextBox 11">
            <a:extLst>
              <a:ext uri="{FF2B5EF4-FFF2-40B4-BE49-F238E27FC236}">
                <a16:creationId xmlns:a16="http://schemas.microsoft.com/office/drawing/2014/main" id="{B4EBCB2D-B860-6104-D207-E26AAF6F7BDF}"/>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CCCB3394-C44A-7574-6284-F079751AEFC1}"/>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chart copied from RStudio</a:t>
            </a:r>
          </a:p>
        </p:txBody>
      </p:sp>
    </p:spTree>
    <p:extLst>
      <p:ext uri="{BB962C8B-B14F-4D97-AF65-F5344CB8AC3E}">
        <p14:creationId xmlns:p14="http://schemas.microsoft.com/office/powerpoint/2010/main" val="72989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DECF1-CBE3-BFE5-B7C6-E9F5F8453AD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8C060DE-8A3F-B6BE-1F69-10A41CD4C92C}"/>
              </a:ext>
            </a:extLst>
          </p:cNvPr>
          <p:cNvSpPr>
            <a:spLocks noGrp="1"/>
          </p:cNvSpPr>
          <p:nvPr>
            <p:ph type="title"/>
          </p:nvPr>
        </p:nvSpPr>
        <p:spPr>
          <a:xfrm>
            <a:off x="669852" y="870596"/>
            <a:ext cx="5608484" cy="577205"/>
          </a:xfrm>
        </p:spPr>
        <p:txBody>
          <a:bodyPr vert="horz" lIns="91440" tIns="45720" rIns="91440" bIns="45720" rtlCol="0" anchor="t">
            <a:normAutofit fontScale="90000"/>
          </a:bodyPr>
          <a:lstStyle/>
          <a:p>
            <a:pPr>
              <a:lnSpc>
                <a:spcPct val="90000"/>
              </a:lnSpc>
            </a:pPr>
            <a:r>
              <a:rPr lang="en-US" sz="3400" dirty="0"/>
              <a:t>TOTAL PEDESTRIAN FATALITIES</a:t>
            </a:r>
            <a:br>
              <a:rPr lang="en-US" sz="3400" dirty="0"/>
            </a:br>
            <a:r>
              <a:rPr lang="en-US" sz="3400" dirty="0"/>
              <a:t>[COUNTY]</a:t>
            </a:r>
            <a:br>
              <a:rPr lang="en-US" sz="3400" dirty="0"/>
            </a:br>
            <a:r>
              <a:rPr lang="en-US" sz="3400" dirty="0"/>
              <a:t>2010-2025</a:t>
            </a:r>
          </a:p>
        </p:txBody>
      </p:sp>
      <p:sp>
        <p:nvSpPr>
          <p:cNvPr id="11" name="TextBox 10">
            <a:extLst>
              <a:ext uri="{FF2B5EF4-FFF2-40B4-BE49-F238E27FC236}">
                <a16:creationId xmlns:a16="http://schemas.microsoft.com/office/drawing/2014/main" id="{58451ECB-695D-DCAD-7E2A-DEDCD7EC2253}"/>
              </a:ext>
            </a:extLst>
          </p:cNvPr>
          <p:cNvSpPr txBox="1"/>
          <p:nvPr/>
        </p:nvSpPr>
        <p:spPr>
          <a:xfrm>
            <a:off x="669852" y="2663113"/>
            <a:ext cx="5507428" cy="1077218"/>
          </a:xfrm>
          <a:prstGeom prst="rect">
            <a:avLst/>
          </a:prstGeom>
          <a:noFill/>
        </p:spPr>
        <p:txBody>
          <a:bodyPr wrap="square">
            <a:spAutoFit/>
          </a:bodyPr>
          <a:lstStyle/>
          <a:p>
            <a:r>
              <a:rPr lang="en-US" sz="1600" i="1" cap="none" dirty="0">
                <a:latin typeface="Abadi Extra Light" panose="020B0604020202020204" pitchFamily="34" charset="0"/>
              </a:rPr>
              <a:t>Summarize pedestrian fatalities over the past decade for your selected place and mode. What trends do you see in pedestrian deaths?  How does this compare with national trends? What </a:t>
            </a:r>
            <a:r>
              <a:rPr lang="en-US" sz="1600" i="1" dirty="0">
                <a:latin typeface="Abadi Extra Light" panose="020B0604020202020204" pitchFamily="34" charset="0"/>
              </a:rPr>
              <a:t>factors </a:t>
            </a:r>
            <a:r>
              <a:rPr lang="en-US" sz="1600" i="1" cap="none" dirty="0">
                <a:latin typeface="Abadi Extra Light" panose="020B0604020202020204" pitchFamily="34" charset="0"/>
              </a:rPr>
              <a:t>do you feel may help explain this trend?</a:t>
            </a:r>
          </a:p>
        </p:txBody>
      </p:sp>
      <p:sp>
        <p:nvSpPr>
          <p:cNvPr id="12" name="TextBox 11">
            <a:extLst>
              <a:ext uri="{FF2B5EF4-FFF2-40B4-BE49-F238E27FC236}">
                <a16:creationId xmlns:a16="http://schemas.microsoft.com/office/drawing/2014/main" id="{3C6EE368-2DB0-340C-6F88-DE8462D9E281}"/>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7EE5C48A-9527-1587-CB5D-D2F546B0CF6E}"/>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chart copied from RStudio</a:t>
            </a:r>
          </a:p>
        </p:txBody>
      </p:sp>
    </p:spTree>
    <p:extLst>
      <p:ext uri="{BB962C8B-B14F-4D97-AF65-F5344CB8AC3E}">
        <p14:creationId xmlns:p14="http://schemas.microsoft.com/office/powerpoint/2010/main" val="40330298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D2456-00E9-1745-0524-298FB6604D2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B572C6B-73AA-DC27-8725-BC31C98D41A5}"/>
              </a:ext>
            </a:extLst>
          </p:cNvPr>
          <p:cNvSpPr>
            <a:spLocks noGrp="1"/>
          </p:cNvSpPr>
          <p:nvPr>
            <p:ph type="title"/>
          </p:nvPr>
        </p:nvSpPr>
        <p:spPr>
          <a:xfrm>
            <a:off x="669851" y="870596"/>
            <a:ext cx="6212641" cy="577205"/>
          </a:xfrm>
        </p:spPr>
        <p:txBody>
          <a:bodyPr vert="horz" lIns="91440" tIns="45720" rIns="91440" bIns="45720" rtlCol="0" anchor="t">
            <a:normAutofit fontScale="90000"/>
          </a:bodyPr>
          <a:lstStyle/>
          <a:p>
            <a:pPr>
              <a:lnSpc>
                <a:spcPct val="90000"/>
              </a:lnSpc>
            </a:pPr>
            <a:r>
              <a:rPr lang="en-US" sz="3400" dirty="0"/>
              <a:t>PEDESTRIAN fatality hot spots</a:t>
            </a:r>
            <a:br>
              <a:rPr lang="en-US" sz="3400" dirty="0"/>
            </a:br>
            <a:r>
              <a:rPr lang="en-US" sz="3400" dirty="0"/>
              <a:t>[county]</a:t>
            </a:r>
            <a:br>
              <a:rPr lang="en-US" sz="3400" dirty="0"/>
            </a:br>
            <a:r>
              <a:rPr lang="en-US" sz="3400" dirty="0"/>
              <a:t>2025</a:t>
            </a:r>
          </a:p>
        </p:txBody>
      </p:sp>
      <p:sp>
        <p:nvSpPr>
          <p:cNvPr id="11" name="TextBox 10">
            <a:extLst>
              <a:ext uri="{FF2B5EF4-FFF2-40B4-BE49-F238E27FC236}">
                <a16:creationId xmlns:a16="http://schemas.microsoft.com/office/drawing/2014/main" id="{88351F3F-5752-69F6-9538-D292669878BE}"/>
              </a:ext>
            </a:extLst>
          </p:cNvPr>
          <p:cNvSpPr txBox="1"/>
          <p:nvPr/>
        </p:nvSpPr>
        <p:spPr>
          <a:xfrm>
            <a:off x="669852" y="2663113"/>
            <a:ext cx="5507428" cy="1077218"/>
          </a:xfrm>
          <a:prstGeom prst="rect">
            <a:avLst/>
          </a:prstGeom>
          <a:noFill/>
        </p:spPr>
        <p:txBody>
          <a:bodyPr wrap="square">
            <a:spAutoFit/>
          </a:bodyPr>
          <a:lstStyle/>
          <a:p>
            <a:r>
              <a:rPr lang="en-US" sz="1600" i="1" dirty="0">
                <a:latin typeface="Abadi Extra Light" panose="020B0604020202020204" pitchFamily="34" charset="0"/>
              </a:rPr>
              <a:t>Examine the pedestrian fatality hot spot map that you created for your county. Are there hot spots in your county? If so, how many and where are they located? What do you feel may contribute to this distribution?</a:t>
            </a:r>
            <a:endParaRPr lang="en-US" sz="1600" i="1" cap="none" dirty="0">
              <a:latin typeface="Abadi Extra Light" panose="020B0604020202020204" pitchFamily="34" charset="0"/>
            </a:endParaRPr>
          </a:p>
        </p:txBody>
      </p:sp>
      <p:sp>
        <p:nvSpPr>
          <p:cNvPr id="12" name="TextBox 11">
            <a:extLst>
              <a:ext uri="{FF2B5EF4-FFF2-40B4-BE49-F238E27FC236}">
                <a16:creationId xmlns:a16="http://schemas.microsoft.com/office/drawing/2014/main" id="{3ACA1447-8728-1184-29E2-3464F249A70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18C37920-CDEE-2514-B915-30068AACC242}"/>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map copied from RStudio</a:t>
            </a:r>
          </a:p>
        </p:txBody>
      </p:sp>
    </p:spTree>
    <p:extLst>
      <p:ext uri="{BB962C8B-B14F-4D97-AF65-F5344CB8AC3E}">
        <p14:creationId xmlns:p14="http://schemas.microsoft.com/office/powerpoint/2010/main" val="1945915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615DE-7D92-CAE0-640F-2F565646961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52B8E5A-8181-1590-5580-E925766C154A}"/>
              </a:ext>
            </a:extLst>
          </p:cNvPr>
          <p:cNvSpPr>
            <a:spLocks noGrp="1"/>
          </p:cNvSpPr>
          <p:nvPr>
            <p:ph type="title"/>
          </p:nvPr>
        </p:nvSpPr>
        <p:spPr>
          <a:xfrm>
            <a:off x="669851" y="870596"/>
            <a:ext cx="6212641" cy="577205"/>
          </a:xfrm>
        </p:spPr>
        <p:txBody>
          <a:bodyPr vert="horz" lIns="91440" tIns="45720" rIns="91440" bIns="45720" rtlCol="0" anchor="t">
            <a:normAutofit/>
          </a:bodyPr>
          <a:lstStyle/>
          <a:p>
            <a:pPr>
              <a:lnSpc>
                <a:spcPct val="90000"/>
              </a:lnSpc>
            </a:pPr>
            <a:r>
              <a:rPr lang="en-US" sz="3400" dirty="0"/>
              <a:t>INTERSECTION </a:t>
            </a:r>
          </a:p>
        </p:txBody>
      </p:sp>
      <p:sp>
        <p:nvSpPr>
          <p:cNvPr id="11" name="TextBox 10">
            <a:extLst>
              <a:ext uri="{FF2B5EF4-FFF2-40B4-BE49-F238E27FC236}">
                <a16:creationId xmlns:a16="http://schemas.microsoft.com/office/drawing/2014/main" id="{37D97EBE-2CC4-2AEF-5E63-2C1BEB89A7B9}"/>
              </a:ext>
            </a:extLst>
          </p:cNvPr>
          <p:cNvSpPr txBox="1"/>
          <p:nvPr/>
        </p:nvSpPr>
        <p:spPr>
          <a:xfrm>
            <a:off x="669852" y="2663113"/>
            <a:ext cx="5507428" cy="1323439"/>
          </a:xfrm>
          <a:prstGeom prst="rect">
            <a:avLst/>
          </a:prstGeom>
          <a:noFill/>
        </p:spPr>
        <p:txBody>
          <a:bodyPr wrap="square">
            <a:spAutoFit/>
          </a:bodyPr>
          <a:lstStyle/>
          <a:p>
            <a:r>
              <a:rPr lang="en-US" sz="1600" i="1" cap="none" dirty="0">
                <a:latin typeface="Abadi Extra Light" panose="020B0604020202020204" pitchFamily="34" charset="0"/>
              </a:rPr>
              <a:t>Summarize the commuting trends over the past decade for your selected place and mode. What changes and trends do you see in mode share over this period?  How does this compare with national trends? What </a:t>
            </a:r>
            <a:r>
              <a:rPr lang="en-US" sz="1600" i="1" dirty="0">
                <a:latin typeface="Abadi Extra Light" panose="020B0604020202020204" pitchFamily="34" charset="0"/>
              </a:rPr>
              <a:t>factors </a:t>
            </a:r>
            <a:r>
              <a:rPr lang="en-US" sz="1600" i="1" cap="none" dirty="0">
                <a:latin typeface="Abadi Extra Light" panose="020B0604020202020204" pitchFamily="34" charset="0"/>
              </a:rPr>
              <a:t>do you feel may help explain this trend?</a:t>
            </a:r>
          </a:p>
        </p:txBody>
      </p:sp>
      <p:sp>
        <p:nvSpPr>
          <p:cNvPr id="12" name="TextBox 11">
            <a:extLst>
              <a:ext uri="{FF2B5EF4-FFF2-40B4-BE49-F238E27FC236}">
                <a16:creationId xmlns:a16="http://schemas.microsoft.com/office/drawing/2014/main" id="{A1B47200-A8D0-F68B-2CA0-D4757846FB08}"/>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D34BE1B3-91E6-8A2F-68C4-6858BB53668C}"/>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Insert map </a:t>
            </a:r>
            <a:r>
              <a:rPr lang="en-US" dirty="0"/>
              <a:t>copied from RStudio</a:t>
            </a:r>
          </a:p>
        </p:txBody>
      </p:sp>
    </p:spTree>
    <p:extLst>
      <p:ext uri="{BB962C8B-B14F-4D97-AF65-F5344CB8AC3E}">
        <p14:creationId xmlns:p14="http://schemas.microsoft.com/office/powerpoint/2010/main" val="3803463582"/>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08E4D90-5116-4BF0-876B-3F422DD1F65F}" vid="{AA21DC3D-92A8-43A4-8358-ED428371CD55}"/>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89E2DFAF961F54A84E2255C106EB7C6" ma:contentTypeVersion="14" ma:contentTypeDescription="Create a new document." ma:contentTypeScope="" ma:versionID="37fda1044ea6fcdf3bd16bc3c94ad44f">
  <xsd:schema xmlns:xsd="http://www.w3.org/2001/XMLSchema" xmlns:xs="http://www.w3.org/2001/XMLSchema" xmlns:p="http://schemas.microsoft.com/office/2006/metadata/properties" xmlns:ns3="f1ca5527-4d73-4ce9-b1ce-36fa22ecda61" xmlns:ns4="3dc9000b-820f-4ca7-9747-1e0793ae1595" targetNamespace="http://schemas.microsoft.com/office/2006/metadata/properties" ma:root="true" ma:fieldsID="5af716157f5d25fba0ad372f267ba070" ns3:_="" ns4:_="">
    <xsd:import namespace="f1ca5527-4d73-4ce9-b1ce-36fa22ecda61"/>
    <xsd:import namespace="3dc9000b-820f-4ca7-9747-1e0793ae159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ca5527-4d73-4ce9-b1ce-36fa22ecda6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dc9000b-820f-4ca7-9747-1e0793ae159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63FC6B2-8F98-4431-99CC-7C9E3804CD6C}">
  <ds:schemaRefs>
    <ds:schemaRef ds:uri="http://schemas.microsoft.com/office/infopath/2007/PartnerControls"/>
    <ds:schemaRef ds:uri="http://purl.org/dc/elements/1.1/"/>
    <ds:schemaRef ds:uri="http://schemas.microsoft.com/office/2006/metadata/properties"/>
    <ds:schemaRef ds:uri="http://purl.org/dc/terms/"/>
    <ds:schemaRef ds:uri="f1ca5527-4d73-4ce9-b1ce-36fa22ecda61"/>
    <ds:schemaRef ds:uri="http://schemas.openxmlformats.org/package/2006/metadata/core-properties"/>
    <ds:schemaRef ds:uri="http://schemas.microsoft.com/office/2006/documentManagement/types"/>
    <ds:schemaRef ds:uri="3dc9000b-820f-4ca7-9747-1e0793ae1595"/>
    <ds:schemaRef ds:uri="http://www.w3.org/XML/1998/namespace"/>
    <ds:schemaRef ds:uri="http://purl.org/dc/dcmitype/"/>
  </ds:schemaRefs>
</ds:datastoreItem>
</file>

<file path=customXml/itemProps2.xml><?xml version="1.0" encoding="utf-8"?>
<ds:datastoreItem xmlns:ds="http://schemas.openxmlformats.org/officeDocument/2006/customXml" ds:itemID="{9F16F009-DBF7-445D-86F2-D269D4D5C9CA}">
  <ds:schemaRefs>
    <ds:schemaRef ds:uri="http://schemas.microsoft.com/sharepoint/v3/contenttype/forms"/>
  </ds:schemaRefs>
</ds:datastoreItem>
</file>

<file path=customXml/itemProps3.xml><?xml version="1.0" encoding="utf-8"?>
<ds:datastoreItem xmlns:ds="http://schemas.openxmlformats.org/officeDocument/2006/customXml" ds:itemID="{E65681D8-D955-4FCC-9752-6E901C9412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ca5527-4d73-4ce9-b1ce-36fa22ecda61"/>
    <ds:schemaRef ds:uri="3dc9000b-820f-4ca7-9747-1e0793ae159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Retrospect</Template>
  <TotalTime>621</TotalTime>
  <Words>380</Words>
  <Application>Microsoft Office PowerPoint</Application>
  <PresentationFormat>Widescreen</PresentationFormat>
  <Paragraphs>20</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Abadi Extra Light</vt:lpstr>
      <vt:lpstr>Arial</vt:lpstr>
      <vt:lpstr>Calisto MT</vt:lpstr>
      <vt:lpstr>Univers Condensed</vt:lpstr>
      <vt:lpstr>ChronicleVTI</vt:lpstr>
      <vt:lpstr>mode share trends, United States, 2010-2025</vt:lpstr>
      <vt:lpstr>ACTIVE TRANSPORTATION (BIKE, WALK AND PUBLIC TRANSIT) MODE SHARE trends, [COUNTY], 2010-2025</vt:lpstr>
      <vt:lpstr>TOTAL PEDESTRIAN FATALITIES [COUNTY] 2010-2025</vt:lpstr>
      <vt:lpstr>PEDESTRIAN fatality hot spots [county] 2025</vt:lpstr>
      <vt:lpstr>INTERSECTION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 dependency Ratio City of Philadelphia, 2020 by census tract</dc:title>
  <dc:creator>Smith, Christopher</dc:creator>
  <cp:lastModifiedBy>Christopher Smith</cp:lastModifiedBy>
  <cp:revision>12</cp:revision>
  <dcterms:created xsi:type="dcterms:W3CDTF">2022-04-04T19:58:17Z</dcterms:created>
  <dcterms:modified xsi:type="dcterms:W3CDTF">2026-09-08T19:04:21Z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0x010100C89E2DFAF961F54A84E2255C106EB7C6</vt:lpwstr>
  </property>
</Properties>
</file>