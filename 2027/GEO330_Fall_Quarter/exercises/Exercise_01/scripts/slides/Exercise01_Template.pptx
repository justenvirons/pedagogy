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4"/>
  </p:sldMasterIdLst>
  <p:sldIdLst>
    <p:sldId id="258" r:id="rId5"/>
    <p:sldId id="276" r:id="rId6"/>
    <p:sldId id="273" r:id="rId7"/>
    <p:sldId id="274" r:id="rId8"/>
    <p:sldId id="275"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9A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Smith" userId="f635bcaf-d701-437b-bffd-1a8f160c01d9" providerId="ADAL" clId="{321CF1EA-DDCA-4C73-9872-605BFFD8AB88}"/>
    <pc:docChg chg="undo custSel addSld delSld modSld">
      <pc:chgData name="Christopher Smith" userId="f635bcaf-d701-437b-bffd-1a8f160c01d9" providerId="ADAL" clId="{321CF1EA-DDCA-4C73-9872-605BFFD8AB88}" dt="2026-09-13T23:14:24.923" v="1620" actId="478"/>
      <pc:docMkLst>
        <pc:docMk/>
      </pc:docMkLst>
      <pc:sldChg chg="addSp delSp modSp mod">
        <pc:chgData name="Christopher Smith" userId="f635bcaf-d701-437b-bffd-1a8f160c01d9" providerId="ADAL" clId="{321CF1EA-DDCA-4C73-9872-605BFFD8AB88}" dt="2026-09-13T23:14:24.923" v="1620" actId="478"/>
        <pc:sldMkLst>
          <pc:docMk/>
          <pc:sldMk cId="3196567083" sldId="258"/>
        </pc:sldMkLst>
        <pc:spChg chg="add del mod">
          <ac:chgData name="Christopher Smith" userId="f635bcaf-d701-437b-bffd-1a8f160c01d9" providerId="ADAL" clId="{321CF1EA-DDCA-4C73-9872-605BFFD8AB88}" dt="2026-09-13T23:14:24.923" v="1620" actId="478"/>
          <ac:spMkLst>
            <pc:docMk/>
            <pc:sldMk cId="3196567083" sldId="258"/>
            <ac:spMk id="3" creationId="{ED507706-6F42-E11B-D908-0EABC71B74DF}"/>
          </ac:spMkLst>
        </pc:spChg>
        <pc:spChg chg="mod">
          <ac:chgData name="Christopher Smith" userId="f635bcaf-d701-437b-bffd-1a8f160c01d9" providerId="ADAL" clId="{321CF1EA-DDCA-4C73-9872-605BFFD8AB88}" dt="2026-09-11T20:20:35.782" v="1536" actId="20577"/>
          <ac:spMkLst>
            <pc:docMk/>
            <pc:sldMk cId="3196567083" sldId="258"/>
            <ac:spMk id="6" creationId="{77977495-7045-4BEB-B038-AC19B9064EC1}"/>
          </ac:spMkLst>
        </pc:spChg>
        <pc:spChg chg="mod">
          <ac:chgData name="Christopher Smith" userId="f635bcaf-d701-437b-bffd-1a8f160c01d9" providerId="ADAL" clId="{321CF1EA-DDCA-4C73-9872-605BFFD8AB88}" dt="2026-09-09T13:40:34.540" v="1496" actId="20577"/>
          <ac:spMkLst>
            <pc:docMk/>
            <pc:sldMk cId="3196567083" sldId="258"/>
            <ac:spMk id="11" creationId="{3E48FC44-1FA2-4F7A-0A80-59B4E81301D5}"/>
          </ac:spMkLst>
        </pc:spChg>
        <pc:picChg chg="add del mod">
          <ac:chgData name="Christopher Smith" userId="f635bcaf-d701-437b-bffd-1a8f160c01d9" providerId="ADAL" clId="{321CF1EA-DDCA-4C73-9872-605BFFD8AB88}" dt="2026-09-13T23:14:24.443" v="1619" actId="22"/>
          <ac:picMkLst>
            <pc:docMk/>
            <pc:sldMk cId="3196567083" sldId="258"/>
            <ac:picMk id="4" creationId="{A8A6836B-219D-B065-2232-9334EDFB143A}"/>
          </ac:picMkLst>
        </pc:picChg>
      </pc:sldChg>
      <pc:sldChg chg="modSp add mod">
        <pc:chgData name="Christopher Smith" userId="f635bcaf-d701-437b-bffd-1a8f160c01d9" providerId="ADAL" clId="{321CF1EA-DDCA-4C73-9872-605BFFD8AB88}" dt="2026-09-11T20:20:42.798" v="1540" actId="20577"/>
        <pc:sldMkLst>
          <pc:docMk/>
          <pc:sldMk cId="4033029874" sldId="273"/>
        </pc:sldMkLst>
        <pc:spChg chg="mod">
          <ac:chgData name="Christopher Smith" userId="f635bcaf-d701-437b-bffd-1a8f160c01d9" providerId="ADAL" clId="{321CF1EA-DDCA-4C73-9872-605BFFD8AB88}" dt="2026-09-11T20:19:48.214" v="1520" actId="20577"/>
          <ac:spMkLst>
            <pc:docMk/>
            <pc:sldMk cId="4033029874" sldId="273"/>
            <ac:spMk id="3" creationId="{7EE5C48A-9527-1587-CB5D-D2F546B0CF6E}"/>
          </ac:spMkLst>
        </pc:spChg>
        <pc:spChg chg="mod">
          <ac:chgData name="Christopher Smith" userId="f635bcaf-d701-437b-bffd-1a8f160c01d9" providerId="ADAL" clId="{321CF1EA-DDCA-4C73-9872-605BFFD8AB88}" dt="2026-09-11T20:20:42.798" v="1540" actId="20577"/>
          <ac:spMkLst>
            <pc:docMk/>
            <pc:sldMk cId="4033029874" sldId="273"/>
            <ac:spMk id="6" creationId="{D8C060DE-8A3F-B6BE-1F69-10A41CD4C92C}"/>
          </ac:spMkLst>
        </pc:spChg>
        <pc:spChg chg="mod">
          <ac:chgData name="Christopher Smith" userId="f635bcaf-d701-437b-bffd-1a8f160c01d9" providerId="ADAL" clId="{321CF1EA-DDCA-4C73-9872-605BFFD8AB88}" dt="2026-09-09T13:40:46.399" v="1497" actId="1076"/>
          <ac:spMkLst>
            <pc:docMk/>
            <pc:sldMk cId="4033029874" sldId="273"/>
            <ac:spMk id="11" creationId="{58451ECB-695D-DCAD-7E2A-DEDCD7EC2253}"/>
          </ac:spMkLst>
        </pc:spChg>
      </pc:sldChg>
      <pc:sldChg chg="modSp add mod">
        <pc:chgData name="Christopher Smith" userId="f635bcaf-d701-437b-bffd-1a8f160c01d9" providerId="ADAL" clId="{321CF1EA-DDCA-4C73-9872-605BFFD8AB88}" dt="2026-09-11T20:20:32.230" v="1534" actId="20577"/>
        <pc:sldMkLst>
          <pc:docMk/>
          <pc:sldMk cId="1945915822" sldId="274"/>
        </pc:sldMkLst>
        <pc:spChg chg="mod">
          <ac:chgData name="Christopher Smith" userId="f635bcaf-d701-437b-bffd-1a8f160c01d9" providerId="ADAL" clId="{321CF1EA-DDCA-4C73-9872-605BFFD8AB88}" dt="2026-09-11T20:20:17.638" v="1532" actId="20577"/>
          <ac:spMkLst>
            <pc:docMk/>
            <pc:sldMk cId="1945915822" sldId="274"/>
            <ac:spMk id="3" creationId="{18C37920-CDEE-2514-B915-30068AACC242}"/>
          </ac:spMkLst>
        </pc:spChg>
        <pc:spChg chg="mod">
          <ac:chgData name="Christopher Smith" userId="f635bcaf-d701-437b-bffd-1a8f160c01d9" providerId="ADAL" clId="{321CF1EA-DDCA-4C73-9872-605BFFD8AB88}" dt="2026-09-11T20:20:32.230" v="1534" actId="20577"/>
          <ac:spMkLst>
            <pc:docMk/>
            <pc:sldMk cId="1945915822" sldId="274"/>
            <ac:spMk id="6" creationId="{3B572C6B-73AA-DC27-8725-BC31C98D41A5}"/>
          </ac:spMkLst>
        </pc:spChg>
        <pc:spChg chg="mod">
          <ac:chgData name="Christopher Smith" userId="f635bcaf-d701-437b-bffd-1a8f160c01d9" providerId="ADAL" clId="{321CF1EA-DDCA-4C73-9872-605BFFD8AB88}" dt="2026-09-08T22:16:45.481" v="1036"/>
          <ac:spMkLst>
            <pc:docMk/>
            <pc:sldMk cId="1945915822" sldId="274"/>
            <ac:spMk id="11" creationId="{88351F3F-5752-69F6-9538-D292669878BE}"/>
          </ac:spMkLst>
        </pc:spChg>
        <pc:spChg chg="mod">
          <ac:chgData name="Christopher Smith" userId="f635bcaf-d701-437b-bffd-1a8f160c01d9" providerId="ADAL" clId="{321CF1EA-DDCA-4C73-9872-605BFFD8AB88}" dt="2026-09-08T22:17:51.562" v="1144" actId="20577"/>
          <ac:spMkLst>
            <pc:docMk/>
            <pc:sldMk cId="1945915822" sldId="274"/>
            <ac:spMk id="12" creationId="{3ACA1447-8728-1184-29E2-3464F249A700}"/>
          </ac:spMkLst>
        </pc:spChg>
      </pc:sldChg>
      <pc:sldChg chg="delSp modSp add mod">
        <pc:chgData name="Christopher Smith" userId="f635bcaf-d701-437b-bffd-1a8f160c01d9" providerId="ADAL" clId="{321CF1EA-DDCA-4C73-9872-605BFFD8AB88}" dt="2026-09-11T20:21:32.510" v="1612" actId="20577"/>
        <pc:sldMkLst>
          <pc:docMk/>
          <pc:sldMk cId="3803463582" sldId="275"/>
        </pc:sldMkLst>
        <pc:spChg chg="mod">
          <ac:chgData name="Christopher Smith" userId="f635bcaf-d701-437b-bffd-1a8f160c01d9" providerId="ADAL" clId="{321CF1EA-DDCA-4C73-9872-605BFFD8AB88}" dt="2026-09-11T20:21:32.510" v="1612" actId="20577"/>
          <ac:spMkLst>
            <pc:docMk/>
            <pc:sldMk cId="3803463582" sldId="275"/>
            <ac:spMk id="3" creationId="{D34BE1B3-91E6-8A2F-68C4-6858BB53668C}"/>
          </ac:spMkLst>
        </pc:spChg>
        <pc:spChg chg="mod">
          <ac:chgData name="Christopher Smith" userId="f635bcaf-d701-437b-bffd-1a8f160c01d9" providerId="ADAL" clId="{321CF1EA-DDCA-4C73-9872-605BFFD8AB88}" dt="2026-09-08T22:17:09.983" v="1066" actId="27636"/>
          <ac:spMkLst>
            <pc:docMk/>
            <pc:sldMk cId="3803463582" sldId="275"/>
            <ac:spMk id="6" creationId="{952B8E5A-8181-1590-5580-E925766C154A}"/>
          </ac:spMkLst>
        </pc:spChg>
        <pc:spChg chg="mod">
          <ac:chgData name="Christopher Smith" userId="f635bcaf-d701-437b-bffd-1a8f160c01d9" providerId="ADAL" clId="{321CF1EA-DDCA-4C73-9872-605BFFD8AB88}" dt="2026-09-08T22:18:41.321" v="1159" actId="20577"/>
          <ac:spMkLst>
            <pc:docMk/>
            <pc:sldMk cId="3803463582" sldId="275"/>
            <ac:spMk id="11" creationId="{37D97EBE-2CC4-2AEF-5E63-2C1BEB89A7B9}"/>
          </ac:spMkLst>
        </pc:spChg>
      </pc:sldChg>
      <pc:sldChg chg="addSp delSp modSp add mod">
        <pc:chgData name="Christopher Smith" userId="f635bcaf-d701-437b-bffd-1a8f160c01d9" providerId="ADAL" clId="{321CF1EA-DDCA-4C73-9872-605BFFD8AB88}" dt="2026-09-11T20:20:39.133" v="1538" actId="20577"/>
        <pc:sldMkLst>
          <pc:docMk/>
          <pc:sldMk cId="72989767" sldId="276"/>
        </pc:sldMkLst>
        <pc:spChg chg="mod">
          <ac:chgData name="Christopher Smith" userId="f635bcaf-d701-437b-bffd-1a8f160c01d9" providerId="ADAL" clId="{321CF1EA-DDCA-4C73-9872-605BFFD8AB88}" dt="2026-09-09T13:38:18.986" v="1445" actId="20577"/>
          <ac:spMkLst>
            <pc:docMk/>
            <pc:sldMk cId="72989767" sldId="276"/>
            <ac:spMk id="3" creationId="{CCCB3394-C44A-7574-6284-F079751AEFC1}"/>
          </ac:spMkLst>
        </pc:spChg>
        <pc:spChg chg="add mod">
          <ac:chgData name="Christopher Smith" userId="f635bcaf-d701-437b-bffd-1a8f160c01d9" providerId="ADAL" clId="{321CF1EA-DDCA-4C73-9872-605BFFD8AB88}" dt="2026-09-09T13:36:16.546" v="1328" actId="1035"/>
          <ac:spMkLst>
            <pc:docMk/>
            <pc:sldMk cId="72989767" sldId="276"/>
            <ac:spMk id="4" creationId="{63221CCC-54C2-4639-24CB-F9975FB54705}"/>
          </ac:spMkLst>
        </pc:spChg>
        <pc:spChg chg="mod">
          <ac:chgData name="Christopher Smith" userId="f635bcaf-d701-437b-bffd-1a8f160c01d9" providerId="ADAL" clId="{321CF1EA-DDCA-4C73-9872-605BFFD8AB88}" dt="2026-09-11T20:20:39.133" v="1538" actId="20577"/>
          <ac:spMkLst>
            <pc:docMk/>
            <pc:sldMk cId="72989767" sldId="276"/>
            <ac:spMk id="6" creationId="{2A0E8101-6FD3-9312-509E-3ACCFF9CD6B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2F3E8B1C-86EF-43CF-8304-249481088644}" type="datetimeFigureOut">
              <a:rPr lang="en-US" smtClean="0"/>
              <a:t>9/11/2026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901815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F3E8B1C-86EF-43CF-8304-249481088644}" type="datetimeFigureOut">
              <a:rPr lang="en-US" smtClean="0"/>
              <a:t>9/11/2026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386662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2F3E8B1C-86EF-43CF-8304-249481088644}" type="datetimeFigureOut">
              <a:rPr lang="en-US" smtClean="0"/>
              <a:t>9/11/2026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251141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2F3E8B1C-86EF-43CF-8304-249481088644}" type="datetimeFigureOut">
              <a:rPr lang="en-US" smtClean="0"/>
              <a:t>9/11/2026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799256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2F3E8B1C-86EF-43CF-8304-249481088644}" type="datetimeFigureOut">
              <a:rPr lang="en-US" smtClean="0"/>
              <a:t>9/11/2026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673988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2F3E8B1C-86EF-43CF-8304-249481088644}" type="datetimeFigureOut">
              <a:rPr lang="en-US" smtClean="0"/>
              <a:t>9/11/2026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4269082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2F3E8B1C-86EF-43CF-8304-249481088644}" type="datetimeFigureOut">
              <a:rPr lang="en-US" smtClean="0"/>
              <a:t>9/11/2026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4282317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F3E8B1C-86EF-43CF-8304-249481088644}" type="datetimeFigureOut">
              <a:rPr lang="en-US" smtClean="0"/>
              <a:t>9/11/2026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107925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2F3E8B1C-86EF-43CF-8304-249481088644}" type="datetimeFigureOut">
              <a:rPr lang="en-US" smtClean="0"/>
              <a:t>9/11/2026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036047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2F3E8B1C-86EF-43CF-8304-249481088644}" type="datetimeFigureOut">
              <a:rPr lang="en-US" smtClean="0"/>
              <a:t>9/11/2026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666897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F3E8B1C-86EF-43CF-8304-249481088644}" type="datetimeFigureOut">
              <a:rPr lang="en-US" smtClean="0"/>
              <a:t>9/11/2026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1569122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2F3E8B1C-86EF-43CF-8304-249481088644}" type="datetimeFigureOut">
              <a:rPr lang="en-US" smtClean="0"/>
              <a:pPr/>
              <a:t>9/11/2026</a:t>
            </a:fld>
            <a:endParaRPr lang="en-US" dirty="0"/>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C3DB2ADC-AF19-4574-8C10-79B5B04FCA27}" type="slidenum">
              <a:rPr lang="en-US" smtClean="0"/>
              <a:pPr/>
              <a:t>‹#›</a:t>
            </a:fld>
            <a:endParaRPr lang="en-US" dirty="0"/>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8564742"/>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797" r:id="rId6"/>
    <p:sldLayoutId id="2147483793" r:id="rId7"/>
    <p:sldLayoutId id="2147483794" r:id="rId8"/>
    <p:sldLayoutId id="2147483795" r:id="rId9"/>
    <p:sldLayoutId id="2147483796" r:id="rId10"/>
    <p:sldLayoutId id="2147483798" r:id="rId11"/>
  </p:sldLayoutIdLst>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77495-7045-4BEB-B038-AC19B9064EC1}"/>
              </a:ext>
            </a:extLst>
          </p:cNvPr>
          <p:cNvSpPr>
            <a:spLocks noGrp="1"/>
          </p:cNvSpPr>
          <p:nvPr>
            <p:ph type="title"/>
          </p:nvPr>
        </p:nvSpPr>
        <p:spPr>
          <a:xfrm>
            <a:off x="669852" y="870596"/>
            <a:ext cx="5426148" cy="577205"/>
          </a:xfrm>
        </p:spPr>
        <p:txBody>
          <a:bodyPr vert="horz" lIns="91440" tIns="45720" rIns="91440" bIns="45720" rtlCol="0" anchor="t">
            <a:normAutofit fontScale="90000"/>
          </a:bodyPr>
          <a:lstStyle/>
          <a:p>
            <a:pPr>
              <a:lnSpc>
                <a:spcPct val="90000"/>
              </a:lnSpc>
            </a:pPr>
            <a:r>
              <a:rPr lang="en-US" sz="3400" dirty="0"/>
              <a:t>mode share trends</a:t>
            </a:r>
            <a:br>
              <a:rPr lang="en-US" sz="3400" dirty="0"/>
            </a:br>
            <a:r>
              <a:rPr lang="en-US" sz="3400" dirty="0"/>
              <a:t>United States</a:t>
            </a:r>
            <a:br>
              <a:rPr lang="en-US" sz="3400" dirty="0"/>
            </a:br>
            <a:r>
              <a:rPr lang="en-US" sz="3400" dirty="0"/>
              <a:t>2010-2024</a:t>
            </a:r>
          </a:p>
        </p:txBody>
      </p:sp>
      <p:sp>
        <p:nvSpPr>
          <p:cNvPr id="11" name="TextBox 10">
            <a:extLst>
              <a:ext uri="{FF2B5EF4-FFF2-40B4-BE49-F238E27FC236}">
                <a16:creationId xmlns:a16="http://schemas.microsoft.com/office/drawing/2014/main" id="{3E48FC44-1FA2-4F7A-0A80-59B4E81301D5}"/>
              </a:ext>
            </a:extLst>
          </p:cNvPr>
          <p:cNvSpPr txBox="1"/>
          <p:nvPr/>
        </p:nvSpPr>
        <p:spPr>
          <a:xfrm>
            <a:off x="923397" y="2352870"/>
            <a:ext cx="5507428" cy="2800767"/>
          </a:xfrm>
          <a:prstGeom prst="rect">
            <a:avLst/>
          </a:prstGeom>
          <a:noFill/>
        </p:spPr>
        <p:txBody>
          <a:bodyPr wrap="square">
            <a:spAutoFit/>
          </a:bodyPr>
          <a:lstStyle/>
          <a:p>
            <a:r>
              <a:rPr lang="en-US" sz="1600" i="1" cap="none" dirty="0">
                <a:latin typeface="Abadi Extra Light" panose="020B0604020202020204" pitchFamily="34" charset="0"/>
              </a:rPr>
              <a:t>Use this space to </a:t>
            </a:r>
            <a:r>
              <a:rPr lang="en-US" sz="1600" i="1" dirty="0">
                <a:latin typeface="Abadi Extra Light" panose="020B0604020202020204" pitchFamily="34" charset="0"/>
              </a:rPr>
              <a:t>s</a:t>
            </a:r>
            <a:r>
              <a:rPr lang="en-US" sz="1600" i="1" cap="none" dirty="0">
                <a:latin typeface="Abadi Extra Light" panose="020B0604020202020204" pitchFamily="34" charset="0"/>
              </a:rPr>
              <a:t>ummarize nationwide commuting trends by mode of transportation, using the exercise data to describe how commuting patterns have changed over time. What changes and trends do you see in mode share? Are certain modes, such as driving alone, public transit, or working from home, becoming more or less common over the years, and are there any periods where the changes seem especially sharp? What factors do you feel may help explain these trends? Consider whether things like the rise of remote work, gas prices, public transportation investment, or major events such as the COVID-19 pandemic might have played a role in shaping the patterns you observe.</a:t>
            </a:r>
          </a:p>
        </p:txBody>
      </p:sp>
      <p:sp>
        <p:nvSpPr>
          <p:cNvPr id="12" name="TextBox 11">
            <a:extLst>
              <a:ext uri="{FF2B5EF4-FFF2-40B4-BE49-F238E27FC236}">
                <a16:creationId xmlns:a16="http://schemas.microsoft.com/office/drawing/2014/main" id="{87D582C6-CEC0-AFAA-58EF-768E3AC494E0}"/>
              </a:ext>
            </a:extLst>
          </p:cNvPr>
          <p:cNvSpPr txBox="1"/>
          <p:nvPr/>
        </p:nvSpPr>
        <p:spPr>
          <a:xfrm>
            <a:off x="700331" y="5580302"/>
            <a:ext cx="5953561" cy="307777"/>
          </a:xfrm>
          <a:prstGeom prst="rect">
            <a:avLst/>
          </a:prstGeom>
          <a:noFill/>
        </p:spPr>
        <p:txBody>
          <a:bodyPr wrap="square">
            <a:spAutoFit/>
          </a:bodyPr>
          <a:lstStyle/>
          <a:p>
            <a:r>
              <a:rPr lang="en-US" sz="1400" i="1" dirty="0">
                <a:latin typeface="Abadi Extra Light" panose="020B0604020202020204" pitchFamily="34" charset="0"/>
              </a:rPr>
              <a:t>Data sources: US Census Bureau TIGER/Line; ACS 5-Year Estimates B08301.</a:t>
            </a:r>
            <a:endParaRPr lang="en-US" sz="1400" i="1" cap="none" dirty="0">
              <a:latin typeface="Abadi Extra Light" panose="020B0604020202020204" pitchFamily="34" charset="0"/>
            </a:endParaRPr>
          </a:p>
        </p:txBody>
      </p:sp>
      <p:sp>
        <p:nvSpPr>
          <p:cNvPr id="3" name="Rectangle: Rounded Corners 2">
            <a:extLst>
              <a:ext uri="{FF2B5EF4-FFF2-40B4-BE49-F238E27FC236}">
                <a16:creationId xmlns:a16="http://schemas.microsoft.com/office/drawing/2014/main" id="{ED507706-6F42-E11B-D908-0EABC71B74DF}"/>
              </a:ext>
            </a:extLst>
          </p:cNvPr>
          <p:cNvSpPr/>
          <p:nvPr/>
        </p:nvSpPr>
        <p:spPr>
          <a:xfrm>
            <a:off x="6735536" y="1698171"/>
            <a:ext cx="4302578" cy="3788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national mode share trends plot</a:t>
            </a:r>
            <a:br>
              <a:rPr lang="en-US" dirty="0"/>
            </a:br>
            <a:r>
              <a:rPr lang="en-US" dirty="0"/>
              <a:t>available in step #3 of exercise.</a:t>
            </a:r>
          </a:p>
        </p:txBody>
      </p:sp>
      <p:sp>
        <p:nvSpPr>
          <p:cNvPr id="20" name="Footer Placeholder 19"/>
          <p:cNvSpPr>
            <a:spLocks noGrp="1"/>
          </p:cNvSpPr>
          <p:nvPr>
            <p:ph type="ftr" sz="quarter" idx="11"/>
          </p:nvPr>
        </p:nvSpPr>
        <p:spPr>
          <a:xfrm>
            <a:off x="715383" y="6230000"/>
            <a:ext cx="10095603" cy="365125"/>
          </a:xfrm>
        </p:spPr>
        <p:txBody>
          <a:bodyPr/>
          <a:lstStyle/>
          <a:p>
            <a:r>
              <a:rPr lang="en-US" sz="1050" dirty="0"/>
              <a:t>Sustainable Urban Transportation Exercise #1  |  Autumn 2026  |  DePaul University  |  C. Scott Smith, PhD AICP</a:t>
            </a:r>
          </a:p>
        </p:txBody>
      </p:sp>
      <p:sp>
        <p:nvSpPr>
          <p:cNvPr id="21" name="Slide Number Placeholder 20"/>
          <p:cNvSpPr>
            <a:spLocks noGrp="1"/>
          </p:cNvSpPr>
          <p:nvPr>
            <p:ph type="sldNum" sz="quarter" idx="12"/>
          </p:nvPr>
        </p:nvSpPr>
        <p:spPr>
          <a:xfrm>
            <a:off x="10810986" y="6230000"/>
            <a:ext cx="672354" cy="365125"/>
          </a:xfrm>
        </p:spPr>
        <p:txBody>
          <a:bodyPr/>
          <a:lstStyle/>
          <a:p>
            <a:fld id="{C3DB2ADC-AF19-4574-8C10-79B5B04FCA27}" type="slidenum">
              <a:rPr lang="en-US" sz="1050"/>
              <a:t>‹#›</a:t>
            </a:fld>
          </a:p>
        </p:txBody>
      </p:sp>
    </p:spTree>
    <p:extLst>
      <p:ext uri="{BB962C8B-B14F-4D97-AF65-F5344CB8AC3E}">
        <p14:creationId xmlns:p14="http://schemas.microsoft.com/office/powerpoint/2010/main" val="3196567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FF2D1-782F-20E9-4D65-154E86DE8C2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A0E8101-6FD3-9312-509E-3ACCFF9CD6B5}"/>
              </a:ext>
            </a:extLst>
          </p:cNvPr>
          <p:cNvSpPr>
            <a:spLocks noGrp="1"/>
          </p:cNvSpPr>
          <p:nvPr>
            <p:ph type="title"/>
          </p:nvPr>
        </p:nvSpPr>
        <p:spPr>
          <a:xfrm>
            <a:off x="669852" y="870596"/>
            <a:ext cx="5665634" cy="577205"/>
          </a:xfrm>
        </p:spPr>
        <p:txBody>
          <a:bodyPr vert="horz" lIns="91440" tIns="45720" rIns="91440" bIns="45720" rtlCol="0" anchor="t">
            <a:normAutofit fontScale="90000"/>
          </a:bodyPr>
          <a:lstStyle/>
          <a:p>
            <a:pPr>
              <a:lnSpc>
                <a:spcPct val="90000"/>
              </a:lnSpc>
            </a:pPr>
            <a:r>
              <a:rPr lang="en-US" sz="3400" dirty="0"/>
              <a:t>MODE SHARE trends</a:t>
            </a:r>
            <a:br>
              <a:rPr lang="en-US" sz="3400" dirty="0"/>
            </a:br>
            <a:r>
              <a:rPr lang="en-US" sz="3400" dirty="0"/>
              <a:t>[INSERT COUNTY, state]</a:t>
            </a:r>
            <a:br>
              <a:rPr lang="en-US" sz="3400" dirty="0"/>
            </a:br>
            <a:r>
              <a:rPr lang="en-US" sz="3400" dirty="0"/>
              <a:t>2010-2024</a:t>
            </a:r>
          </a:p>
        </p:txBody>
      </p:sp>
      <p:sp>
        <p:nvSpPr>
          <p:cNvPr id="12" name="TextBox 11">
            <a:extLst>
              <a:ext uri="{FF2B5EF4-FFF2-40B4-BE49-F238E27FC236}">
                <a16:creationId xmlns:a16="http://schemas.microsoft.com/office/drawing/2014/main" id="{B4EBCB2D-B860-6104-D207-E26AAF6F7BDF}"/>
              </a:ext>
            </a:extLst>
          </p:cNvPr>
          <p:cNvSpPr txBox="1"/>
          <p:nvPr/>
        </p:nvSpPr>
        <p:spPr>
          <a:xfrm>
            <a:off x="700331" y="5580302"/>
            <a:ext cx="5953561" cy="307777"/>
          </a:xfrm>
          <a:prstGeom prst="rect">
            <a:avLst/>
          </a:prstGeom>
          <a:noFill/>
        </p:spPr>
        <p:txBody>
          <a:bodyPr wrap="square">
            <a:spAutoFit/>
          </a:bodyPr>
          <a:lstStyle/>
          <a:p>
            <a:r>
              <a:rPr lang="en-US" sz="1400" i="1" dirty="0">
                <a:latin typeface="Abadi Extra Light" panose="020B0604020202020204" pitchFamily="34" charset="0"/>
              </a:rPr>
              <a:t>Data sources: US Census Bureau TIGER/Line; ACS 5-Year Estimates B08301.</a:t>
            </a:r>
            <a:endParaRPr lang="en-US" sz="1400" i="1" cap="none" dirty="0">
              <a:latin typeface="Abadi Extra Light" panose="020B0604020202020204" pitchFamily="34" charset="0"/>
            </a:endParaRPr>
          </a:p>
        </p:txBody>
      </p:sp>
      <p:sp>
        <p:nvSpPr>
          <p:cNvPr id="3" name="Rectangle: Rounded Corners 2">
            <a:extLst>
              <a:ext uri="{FF2B5EF4-FFF2-40B4-BE49-F238E27FC236}">
                <a16:creationId xmlns:a16="http://schemas.microsoft.com/office/drawing/2014/main" id="{CCCB3394-C44A-7574-6284-F079751AEFC1}"/>
              </a:ext>
            </a:extLst>
          </p:cNvPr>
          <p:cNvSpPr/>
          <p:nvPr/>
        </p:nvSpPr>
        <p:spPr>
          <a:xfrm>
            <a:off x="6735536" y="1698171"/>
            <a:ext cx="4302578" cy="3788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custom mode share trends plot for your county </a:t>
            </a:r>
            <a:br>
              <a:rPr lang="en-US" dirty="0"/>
            </a:br>
            <a:r>
              <a:rPr lang="en-US" dirty="0"/>
              <a:t>created in step #3 of exercise.</a:t>
            </a:r>
          </a:p>
        </p:txBody>
      </p:sp>
      <p:sp>
        <p:nvSpPr>
          <p:cNvPr id="4" name="TextBox 3">
            <a:extLst>
              <a:ext uri="{FF2B5EF4-FFF2-40B4-BE49-F238E27FC236}">
                <a16:creationId xmlns:a16="http://schemas.microsoft.com/office/drawing/2014/main" id="{63221CCC-54C2-4639-24CB-F9975FB54705}"/>
              </a:ext>
            </a:extLst>
          </p:cNvPr>
          <p:cNvSpPr txBox="1"/>
          <p:nvPr/>
        </p:nvSpPr>
        <p:spPr>
          <a:xfrm>
            <a:off x="923397" y="2426350"/>
            <a:ext cx="5507428" cy="2800767"/>
          </a:xfrm>
          <a:prstGeom prst="rect">
            <a:avLst/>
          </a:prstGeom>
          <a:noFill/>
        </p:spPr>
        <p:txBody>
          <a:bodyPr wrap="square">
            <a:spAutoFit/>
          </a:bodyPr>
          <a:lstStyle/>
          <a:p>
            <a:r>
              <a:rPr lang="en-US" sz="1600" i="1" cap="none" dirty="0">
                <a:latin typeface="Abadi Extra Light" panose="020B0604020202020204" pitchFamily="34" charset="0"/>
              </a:rPr>
              <a:t>Now compare mode share trends in your selected county to nationwide patterns. How does your county's mix of commuting modes compare to the national averages, and are the same modes rising or falling in your county as they are nationwide? Are there any notable differences between your county</a:t>
            </a:r>
            <a:r>
              <a:rPr lang="en-US" sz="1600" i="1" dirty="0">
                <a:latin typeface="Abadi Extra Light" panose="020B0604020202020204" pitchFamily="34" charset="0"/>
              </a:rPr>
              <a:t> and </a:t>
            </a:r>
            <a:r>
              <a:rPr lang="en-US" sz="1600" i="1" cap="none" dirty="0">
                <a:latin typeface="Abadi Extra Light" panose="020B0604020202020204" pitchFamily="34" charset="0"/>
              </a:rPr>
              <a:t>neighboring counties (refer to nationwide maps </a:t>
            </a:r>
            <a:r>
              <a:rPr lang="en-US" sz="1600" i="1" dirty="0">
                <a:latin typeface="Abadi Extra Light" panose="020B0604020202020204" pitchFamily="34" charset="0"/>
              </a:rPr>
              <a:t>on exercise web page</a:t>
            </a:r>
            <a:r>
              <a:rPr lang="en-US" sz="1600" i="1" cap="none" dirty="0">
                <a:latin typeface="Abadi Extra Light" panose="020B0604020202020204" pitchFamily="34" charset="0"/>
              </a:rPr>
              <a:t>), and if so, what might explain them? Do you think local factors, such as population density, availability of public transit, average commute distance, or the local job market, could be influencing your county's commuting patterns in ways that differ from national trends?</a:t>
            </a:r>
          </a:p>
        </p:txBody>
      </p:sp>
      <p:sp>
        <p:nvSpPr>
          <p:cNvPr id="20" name="Footer Placeholder 19"/>
          <p:cNvSpPr>
            <a:spLocks noGrp="1"/>
          </p:cNvSpPr>
          <p:nvPr>
            <p:ph type="ftr" sz="quarter" idx="11"/>
          </p:nvPr>
        </p:nvSpPr>
        <p:spPr>
          <a:xfrm>
            <a:off x="715383" y="6230000"/>
            <a:ext cx="10095603" cy="365125"/>
          </a:xfrm>
        </p:spPr>
        <p:txBody>
          <a:bodyPr/>
          <a:lstStyle/>
          <a:p>
            <a:r>
              <a:rPr lang="en-US" sz="1050" dirty="0"/>
              <a:t>Sustainable Urban Transportation Exercise #1  |  Autumn 2026  |  DePaul University  |  C. Scott Smith, PhD AICP</a:t>
            </a:r>
          </a:p>
        </p:txBody>
      </p:sp>
      <p:sp>
        <p:nvSpPr>
          <p:cNvPr id="21" name="Slide Number Placeholder 20"/>
          <p:cNvSpPr>
            <a:spLocks noGrp="1"/>
          </p:cNvSpPr>
          <p:nvPr>
            <p:ph type="sldNum" sz="quarter" idx="12"/>
          </p:nvPr>
        </p:nvSpPr>
        <p:spPr>
          <a:xfrm>
            <a:off x="10810986" y="6230000"/>
            <a:ext cx="672354" cy="365125"/>
          </a:xfrm>
        </p:spPr>
        <p:txBody>
          <a:bodyPr/>
          <a:lstStyle/>
          <a:p>
            <a:fld id="{C3DB2ADC-AF19-4574-8C10-79B5B04FCA27}" type="slidenum">
              <a:rPr lang="en-US" sz="1050"/>
              <a:t>‹#›</a:t>
            </a:fld>
          </a:p>
        </p:txBody>
      </p:sp>
    </p:spTree>
    <p:extLst>
      <p:ext uri="{BB962C8B-B14F-4D97-AF65-F5344CB8AC3E}">
        <p14:creationId xmlns:p14="http://schemas.microsoft.com/office/powerpoint/2010/main" val="72989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DECF1-CBE3-BFE5-B7C6-E9F5F8453AD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8C060DE-8A3F-B6BE-1F69-10A41CD4C92C}"/>
              </a:ext>
            </a:extLst>
          </p:cNvPr>
          <p:cNvSpPr>
            <a:spLocks noGrp="1"/>
          </p:cNvSpPr>
          <p:nvPr>
            <p:ph type="title"/>
          </p:nvPr>
        </p:nvSpPr>
        <p:spPr>
          <a:xfrm>
            <a:off x="669852" y="870596"/>
            <a:ext cx="5608484" cy="577205"/>
          </a:xfrm>
        </p:spPr>
        <p:txBody>
          <a:bodyPr vert="horz" lIns="91440" tIns="45720" rIns="91440" bIns="45720" rtlCol="0" anchor="t">
            <a:normAutofit fontScale="90000"/>
          </a:bodyPr>
          <a:lstStyle/>
          <a:p>
            <a:pPr>
              <a:lnSpc>
                <a:spcPct val="90000"/>
              </a:lnSpc>
            </a:pPr>
            <a:r>
              <a:rPr lang="en-US" sz="3400" dirty="0"/>
              <a:t>TOTAL PEDESTRIAN FATALITIES</a:t>
            </a:r>
            <a:br>
              <a:rPr lang="en-US" sz="3400" dirty="0"/>
            </a:br>
            <a:r>
              <a:rPr lang="en-US" sz="3400" dirty="0"/>
              <a:t>[COUNTY]</a:t>
            </a:r>
            <a:br>
              <a:rPr lang="en-US" sz="3400" dirty="0"/>
            </a:br>
            <a:r>
              <a:rPr lang="en-US" sz="3400" dirty="0"/>
              <a:t>2010-2024</a:t>
            </a:r>
          </a:p>
        </p:txBody>
      </p:sp>
      <p:sp>
        <p:nvSpPr>
          <p:cNvPr id="11" name="TextBox 10">
            <a:extLst>
              <a:ext uri="{FF2B5EF4-FFF2-40B4-BE49-F238E27FC236}">
                <a16:creationId xmlns:a16="http://schemas.microsoft.com/office/drawing/2014/main" id="{58451ECB-695D-DCAD-7E2A-DEDCD7EC2253}"/>
              </a:ext>
            </a:extLst>
          </p:cNvPr>
          <p:cNvSpPr txBox="1"/>
          <p:nvPr/>
        </p:nvSpPr>
        <p:spPr>
          <a:xfrm>
            <a:off x="785439" y="2410025"/>
            <a:ext cx="5507428" cy="2554545"/>
          </a:xfrm>
          <a:prstGeom prst="rect">
            <a:avLst/>
          </a:prstGeom>
          <a:noFill/>
        </p:spPr>
        <p:txBody>
          <a:bodyPr wrap="square">
            <a:spAutoFit/>
          </a:bodyPr>
          <a:lstStyle/>
          <a:p>
            <a:r>
              <a:rPr lang="en-US" sz="1600" i="1" cap="none" dirty="0">
                <a:latin typeface="Abadi Extra Light" panose="020B0604020202020204" pitchFamily="34" charset="0"/>
              </a:rPr>
              <a:t>Summarize pedestrian fatalities for your selected place and mode. What trends do you see in pedestrian deaths, and has the number of fatalities generally increased, decreased, or stayed relatively stable over this period? Are there specific years that stand out as noticeably higher or lower, and if so, what might have contributed to those changes? What factors do you feel may help explain this trend? Consider whether things like changes in traffic volume, road design, vehicle size, speed limits, land use patterns, or pedestrian infrastructure investments might be playing a role in the pattern you observe.</a:t>
            </a:r>
          </a:p>
        </p:txBody>
      </p:sp>
      <p:sp>
        <p:nvSpPr>
          <p:cNvPr id="12" name="TextBox 11">
            <a:extLst>
              <a:ext uri="{FF2B5EF4-FFF2-40B4-BE49-F238E27FC236}">
                <a16:creationId xmlns:a16="http://schemas.microsoft.com/office/drawing/2014/main" id="{3C6EE368-2DB0-340C-6F88-DE8462D9E281}"/>
              </a:ext>
            </a:extLst>
          </p:cNvPr>
          <p:cNvSpPr txBox="1"/>
          <p:nvPr/>
        </p:nvSpPr>
        <p:spPr>
          <a:xfrm>
            <a:off x="700331" y="5580302"/>
            <a:ext cx="5953561" cy="307777"/>
          </a:xfrm>
          <a:prstGeom prst="rect">
            <a:avLst/>
          </a:prstGeom>
          <a:noFill/>
        </p:spPr>
        <p:txBody>
          <a:bodyPr wrap="square">
            <a:spAutoFit/>
          </a:bodyPr>
          <a:lstStyle/>
          <a:p>
            <a:r>
              <a:rPr lang="en-US" sz="1400" i="1" dirty="0">
                <a:latin typeface="Abadi Extra Light" panose="020B0604020202020204" pitchFamily="34" charset="0"/>
              </a:rPr>
              <a:t>Data sources: US Census Bureau TIGER/Line; ACS 5-Year Estimates B08301.</a:t>
            </a:r>
            <a:endParaRPr lang="en-US" sz="1400" i="1" cap="none" dirty="0">
              <a:latin typeface="Abadi Extra Light" panose="020B0604020202020204" pitchFamily="34" charset="0"/>
            </a:endParaRPr>
          </a:p>
        </p:txBody>
      </p:sp>
      <p:sp>
        <p:nvSpPr>
          <p:cNvPr id="3" name="Rectangle: Rounded Corners 2">
            <a:extLst>
              <a:ext uri="{FF2B5EF4-FFF2-40B4-BE49-F238E27FC236}">
                <a16:creationId xmlns:a16="http://schemas.microsoft.com/office/drawing/2014/main" id="{7EE5C48A-9527-1587-CB5D-D2F546B0CF6E}"/>
              </a:ext>
            </a:extLst>
          </p:cNvPr>
          <p:cNvSpPr/>
          <p:nvPr/>
        </p:nvSpPr>
        <p:spPr>
          <a:xfrm>
            <a:off x="6735536" y="1698171"/>
            <a:ext cx="4302578" cy="3788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custom pedestrian fatalities trends plot for your county </a:t>
            </a:r>
            <a:br>
              <a:rPr lang="en-US" dirty="0"/>
            </a:br>
            <a:r>
              <a:rPr lang="en-US" dirty="0"/>
              <a:t>created in step #4 of exercise.</a:t>
            </a:r>
          </a:p>
        </p:txBody>
      </p:sp>
      <p:sp>
        <p:nvSpPr>
          <p:cNvPr id="20" name="Footer Placeholder 19"/>
          <p:cNvSpPr>
            <a:spLocks noGrp="1"/>
          </p:cNvSpPr>
          <p:nvPr>
            <p:ph type="ftr" sz="quarter" idx="11"/>
          </p:nvPr>
        </p:nvSpPr>
        <p:spPr>
          <a:xfrm>
            <a:off x="715383" y="6230000"/>
            <a:ext cx="10095603" cy="365125"/>
          </a:xfrm>
        </p:spPr>
        <p:txBody>
          <a:bodyPr/>
          <a:lstStyle/>
          <a:p>
            <a:r>
              <a:rPr lang="en-US" sz="1050" dirty="0"/>
              <a:t>Sustainable Urban Transportation Exercise #1  |  Autumn 2026  |  DePaul University  |  C. Scott Smith, PhD AICP</a:t>
            </a:r>
          </a:p>
        </p:txBody>
      </p:sp>
      <p:sp>
        <p:nvSpPr>
          <p:cNvPr id="21" name="Slide Number Placeholder 20"/>
          <p:cNvSpPr>
            <a:spLocks noGrp="1"/>
          </p:cNvSpPr>
          <p:nvPr>
            <p:ph type="sldNum" sz="quarter" idx="12"/>
          </p:nvPr>
        </p:nvSpPr>
        <p:spPr>
          <a:xfrm>
            <a:off x="10810986" y="6230000"/>
            <a:ext cx="672354" cy="365125"/>
          </a:xfrm>
        </p:spPr>
        <p:txBody>
          <a:bodyPr/>
          <a:lstStyle/>
          <a:p>
            <a:fld id="{C3DB2ADC-AF19-4574-8C10-79B5B04FCA27}" type="slidenum">
              <a:rPr lang="en-US" sz="1050"/>
              <a:t>‹#›</a:t>
            </a:fld>
          </a:p>
        </p:txBody>
      </p:sp>
    </p:spTree>
    <p:extLst>
      <p:ext uri="{BB962C8B-B14F-4D97-AF65-F5344CB8AC3E}">
        <p14:creationId xmlns:p14="http://schemas.microsoft.com/office/powerpoint/2010/main" val="4033029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D2456-00E9-1745-0524-298FB6604D2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B572C6B-73AA-DC27-8725-BC31C98D41A5}"/>
              </a:ext>
            </a:extLst>
          </p:cNvPr>
          <p:cNvSpPr>
            <a:spLocks noGrp="1"/>
          </p:cNvSpPr>
          <p:nvPr>
            <p:ph type="title"/>
          </p:nvPr>
        </p:nvSpPr>
        <p:spPr>
          <a:xfrm>
            <a:off x="669851" y="870596"/>
            <a:ext cx="6212641" cy="577205"/>
          </a:xfrm>
        </p:spPr>
        <p:txBody>
          <a:bodyPr vert="horz" lIns="91440" tIns="45720" rIns="91440" bIns="45720" rtlCol="0" anchor="t">
            <a:normAutofit fontScale="90000"/>
          </a:bodyPr>
          <a:lstStyle/>
          <a:p>
            <a:pPr>
              <a:lnSpc>
                <a:spcPct val="90000"/>
              </a:lnSpc>
            </a:pPr>
            <a:r>
              <a:rPr lang="en-US" sz="3400" dirty="0"/>
              <a:t>PEDESTRIAN fatality hot spots</a:t>
            </a:r>
            <a:br>
              <a:rPr lang="en-US" sz="3400" dirty="0"/>
            </a:br>
            <a:r>
              <a:rPr lang="en-US" sz="3400" dirty="0"/>
              <a:t>[county]</a:t>
            </a:r>
            <a:br>
              <a:rPr lang="en-US" sz="3400" dirty="0"/>
            </a:br>
            <a:r>
              <a:rPr lang="en-US" sz="3400" dirty="0"/>
              <a:t>2024</a:t>
            </a:r>
          </a:p>
        </p:txBody>
      </p:sp>
      <p:sp>
        <p:nvSpPr>
          <p:cNvPr id="11" name="TextBox 10">
            <a:extLst>
              <a:ext uri="{FF2B5EF4-FFF2-40B4-BE49-F238E27FC236}">
                <a16:creationId xmlns:a16="http://schemas.microsoft.com/office/drawing/2014/main" id="{88351F3F-5752-69F6-9538-D292669878BE}"/>
              </a:ext>
            </a:extLst>
          </p:cNvPr>
          <p:cNvSpPr txBox="1"/>
          <p:nvPr/>
        </p:nvSpPr>
        <p:spPr>
          <a:xfrm>
            <a:off x="669852" y="2663113"/>
            <a:ext cx="5507428" cy="2800767"/>
          </a:xfrm>
          <a:prstGeom prst="rect">
            <a:avLst/>
          </a:prstGeom>
          <a:noFill/>
        </p:spPr>
        <p:txBody>
          <a:bodyPr wrap="square">
            <a:spAutoFit/>
          </a:bodyPr>
          <a:lstStyle/>
          <a:p>
            <a:r>
              <a:rPr lang="en-US" sz="1600" i="1" dirty="0">
                <a:latin typeface="Abadi Extra Light" panose="020B0604020202020204" pitchFamily="34" charset="0"/>
              </a:rPr>
              <a:t>Examine the pedestrian fatality hot spot map that you created for your county. Are there hot spots in your county, and if so, how many did you identify and where are they located, such as along major corridors, near intersections, downtown areas, or specific neighborhoods? Do the hot spots appear clustered in a particular part of the county, or are they more scattered? What do you feel may contribute to this distribution? Consider whether factors like traffic volume, road design, speed limits, availability of sidewalks or crosswalks, population density, or proximity to transit stops, schools, or commercial areas might help explain why fatalities are concentrated in these locations.</a:t>
            </a:r>
            <a:endParaRPr lang="en-US" sz="1600" i="1" cap="none" dirty="0">
              <a:latin typeface="Abadi Extra Light" panose="020B0604020202020204" pitchFamily="34" charset="0"/>
            </a:endParaRPr>
          </a:p>
        </p:txBody>
      </p:sp>
      <p:sp>
        <p:nvSpPr>
          <p:cNvPr id="12" name="TextBox 11">
            <a:extLst>
              <a:ext uri="{FF2B5EF4-FFF2-40B4-BE49-F238E27FC236}">
                <a16:creationId xmlns:a16="http://schemas.microsoft.com/office/drawing/2014/main" id="{3ACA1447-8728-1184-29E2-3464F249A700}"/>
              </a:ext>
            </a:extLst>
          </p:cNvPr>
          <p:cNvSpPr txBox="1"/>
          <p:nvPr/>
        </p:nvSpPr>
        <p:spPr>
          <a:xfrm>
            <a:off x="700331" y="5580302"/>
            <a:ext cx="5953561" cy="523220"/>
          </a:xfrm>
          <a:prstGeom prst="rect">
            <a:avLst/>
          </a:prstGeom>
          <a:noFill/>
        </p:spPr>
        <p:txBody>
          <a:bodyPr wrap="square">
            <a:spAutoFit/>
          </a:bodyPr>
          <a:lstStyle/>
          <a:p>
            <a:r>
              <a:rPr lang="en-US" sz="1400" i="1" dirty="0">
                <a:latin typeface="Abadi Extra Light" panose="020B0604020202020204" pitchFamily="34" charset="0"/>
              </a:rPr>
              <a:t>Data sources: US Census Bureau TIGER/Line; ACS 5-Year Estimates B08301; FARS.</a:t>
            </a:r>
            <a:endParaRPr lang="en-US" sz="1400" i="1" cap="none" dirty="0">
              <a:latin typeface="Abadi Extra Light" panose="020B0604020202020204" pitchFamily="34" charset="0"/>
            </a:endParaRPr>
          </a:p>
        </p:txBody>
      </p:sp>
      <p:sp>
        <p:nvSpPr>
          <p:cNvPr id="3" name="Rectangle: Rounded Corners 2">
            <a:extLst>
              <a:ext uri="{FF2B5EF4-FFF2-40B4-BE49-F238E27FC236}">
                <a16:creationId xmlns:a16="http://schemas.microsoft.com/office/drawing/2014/main" id="{18C37920-CDEE-2514-B915-30068AACC242}"/>
              </a:ext>
            </a:extLst>
          </p:cNvPr>
          <p:cNvSpPr/>
          <p:nvPr/>
        </p:nvSpPr>
        <p:spPr>
          <a:xfrm>
            <a:off x="6735536" y="1698171"/>
            <a:ext cx="4302578" cy="3788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custom pedestrian fatalities hot spot map for your county </a:t>
            </a:r>
            <a:br>
              <a:rPr lang="en-US" dirty="0"/>
            </a:br>
            <a:r>
              <a:rPr lang="en-US" dirty="0"/>
              <a:t>created in step #4 of exercise.</a:t>
            </a:r>
          </a:p>
        </p:txBody>
      </p:sp>
      <p:sp>
        <p:nvSpPr>
          <p:cNvPr id="20" name="Footer Placeholder 19"/>
          <p:cNvSpPr>
            <a:spLocks noGrp="1"/>
          </p:cNvSpPr>
          <p:nvPr>
            <p:ph type="ftr" sz="quarter" idx="11"/>
          </p:nvPr>
        </p:nvSpPr>
        <p:spPr>
          <a:xfrm>
            <a:off x="715383" y="6230000"/>
            <a:ext cx="10095603" cy="365125"/>
          </a:xfrm>
        </p:spPr>
        <p:txBody>
          <a:bodyPr/>
          <a:lstStyle/>
          <a:p>
            <a:r>
              <a:rPr lang="en-US" sz="1050" dirty="0"/>
              <a:t>Sustainable Urban Transportation Exercise #1  |  Autumn 2026  |  DePaul University  |  C. Scott Smith, PhD AICP</a:t>
            </a:r>
          </a:p>
        </p:txBody>
      </p:sp>
      <p:sp>
        <p:nvSpPr>
          <p:cNvPr id="21" name="Slide Number Placeholder 20"/>
          <p:cNvSpPr>
            <a:spLocks noGrp="1"/>
          </p:cNvSpPr>
          <p:nvPr>
            <p:ph type="sldNum" sz="quarter" idx="12"/>
          </p:nvPr>
        </p:nvSpPr>
        <p:spPr>
          <a:xfrm>
            <a:off x="10810986" y="6230000"/>
            <a:ext cx="672354" cy="365125"/>
          </a:xfrm>
        </p:spPr>
        <p:txBody>
          <a:bodyPr/>
          <a:lstStyle/>
          <a:p>
            <a:fld id="{C3DB2ADC-AF19-4574-8C10-79B5B04FCA27}" type="slidenum">
              <a:rPr lang="en-US" sz="1050"/>
              <a:t>‹#›</a:t>
            </a:fld>
          </a:p>
        </p:txBody>
      </p:sp>
    </p:spTree>
    <p:extLst>
      <p:ext uri="{BB962C8B-B14F-4D97-AF65-F5344CB8AC3E}">
        <p14:creationId xmlns:p14="http://schemas.microsoft.com/office/powerpoint/2010/main" val="1945915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615DE-7D92-CAE0-640F-2F565646961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52B8E5A-8181-1590-5580-E925766C154A}"/>
              </a:ext>
            </a:extLst>
          </p:cNvPr>
          <p:cNvSpPr>
            <a:spLocks noGrp="1"/>
          </p:cNvSpPr>
          <p:nvPr>
            <p:ph type="title"/>
          </p:nvPr>
        </p:nvSpPr>
        <p:spPr>
          <a:xfrm>
            <a:off x="669851" y="870596"/>
            <a:ext cx="6212641" cy="577205"/>
          </a:xfrm>
        </p:spPr>
        <p:txBody>
          <a:bodyPr vert="horz" lIns="91440" tIns="45720" rIns="91440" bIns="45720" rtlCol="0" anchor="t">
            <a:normAutofit/>
          </a:bodyPr>
          <a:lstStyle/>
          <a:p>
            <a:pPr>
              <a:lnSpc>
                <a:spcPct val="90000"/>
              </a:lnSpc>
            </a:pPr>
            <a:r>
              <a:rPr lang="en-US" sz="3400" dirty="0"/>
              <a:t>DESIGN RECOMMENDATIONS </a:t>
            </a:r>
          </a:p>
        </p:txBody>
      </p:sp>
      <p:sp>
        <p:nvSpPr>
          <p:cNvPr id="11" name="TextBox 10">
            <a:extLst>
              <a:ext uri="{FF2B5EF4-FFF2-40B4-BE49-F238E27FC236}">
                <a16:creationId xmlns:a16="http://schemas.microsoft.com/office/drawing/2014/main" id="{37D97EBE-2CC4-2AEF-5E63-2C1BEB89A7B9}"/>
              </a:ext>
            </a:extLst>
          </p:cNvPr>
          <p:cNvSpPr txBox="1"/>
          <p:nvPr/>
        </p:nvSpPr>
        <p:spPr>
          <a:xfrm>
            <a:off x="669852" y="2663113"/>
            <a:ext cx="5507428" cy="1815882"/>
          </a:xfrm>
          <a:prstGeom prst="rect">
            <a:avLst/>
          </a:prstGeom>
          <a:noFill/>
        </p:spPr>
        <p:txBody>
          <a:bodyPr wrap="square">
            <a:spAutoFit/>
          </a:bodyPr>
          <a:lstStyle/>
          <a:p>
            <a:r>
              <a:rPr lang="en-US" sz="1600" i="1" dirty="0">
                <a:latin typeface="Abadi Extra Light" panose="020B0604020202020204" pitchFamily="34" charset="0"/>
              </a:rPr>
              <a:t>Use Google Street View to examine one of the hotspot corridors or intersections identified in your map. What do you observe about the street design in this area? What challenges does the current design create for pedestrian safety? What interventions, such as narrower travel lanes, raised crosswalks, protected bike lanes or shorter crossing distances, would you recommend for this location?</a:t>
            </a:r>
            <a:endParaRPr lang="en-US" sz="1600" i="1" cap="none" dirty="0">
              <a:latin typeface="Abadi Extra Light" panose="020B0604020202020204" pitchFamily="34" charset="0"/>
            </a:endParaRPr>
          </a:p>
        </p:txBody>
      </p:sp>
      <p:sp>
        <p:nvSpPr>
          <p:cNvPr id="3" name="Rectangle: Rounded Corners 2">
            <a:extLst>
              <a:ext uri="{FF2B5EF4-FFF2-40B4-BE49-F238E27FC236}">
                <a16:creationId xmlns:a16="http://schemas.microsoft.com/office/drawing/2014/main" id="{D34BE1B3-91E6-8A2F-68C4-6858BB53668C}"/>
              </a:ext>
            </a:extLst>
          </p:cNvPr>
          <p:cNvSpPr/>
          <p:nvPr/>
        </p:nvSpPr>
        <p:spPr>
          <a:xfrm>
            <a:off x="6735536" y="1698171"/>
            <a:ext cx="4302578" cy="3788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map or image copied from online map or Google Streetview showing selected intersection and/or corridor</a:t>
            </a:r>
          </a:p>
        </p:txBody>
      </p:sp>
      <p:sp>
        <p:nvSpPr>
          <p:cNvPr id="20" name="Footer Placeholder 19"/>
          <p:cNvSpPr>
            <a:spLocks noGrp="1"/>
          </p:cNvSpPr>
          <p:nvPr>
            <p:ph type="ftr" sz="quarter" idx="11"/>
          </p:nvPr>
        </p:nvSpPr>
        <p:spPr>
          <a:xfrm>
            <a:off x="715383" y="6230000"/>
            <a:ext cx="10095603" cy="365125"/>
          </a:xfrm>
        </p:spPr>
        <p:txBody>
          <a:bodyPr/>
          <a:lstStyle/>
          <a:p>
            <a:r>
              <a:rPr lang="en-US" sz="1050" dirty="0"/>
              <a:t>Sustainable Urban Transportation Exercise #1  |  Autumn 2026  |  DePaul University  |  C. Scott Smith, PhD AICP</a:t>
            </a:r>
          </a:p>
        </p:txBody>
      </p:sp>
      <p:sp>
        <p:nvSpPr>
          <p:cNvPr id="21" name="Slide Number Placeholder 20"/>
          <p:cNvSpPr>
            <a:spLocks noGrp="1"/>
          </p:cNvSpPr>
          <p:nvPr>
            <p:ph type="sldNum" sz="quarter" idx="12"/>
          </p:nvPr>
        </p:nvSpPr>
        <p:spPr>
          <a:xfrm>
            <a:off x="10810986" y="6230000"/>
            <a:ext cx="672354" cy="365125"/>
          </a:xfrm>
        </p:spPr>
        <p:txBody>
          <a:bodyPr/>
          <a:lstStyle/>
          <a:p>
            <a:fld id="{C3DB2ADC-AF19-4574-8C10-79B5B04FCA27}" type="slidenum">
              <a:rPr lang="en-US" sz="1050"/>
              <a:t>‹#›</a:t>
            </a:fld>
          </a:p>
        </p:txBody>
      </p:sp>
    </p:spTree>
    <p:extLst>
      <p:ext uri="{BB962C8B-B14F-4D97-AF65-F5344CB8AC3E}">
        <p14:creationId xmlns:p14="http://schemas.microsoft.com/office/powerpoint/2010/main" val="3803463582"/>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08E4D90-5116-4BF0-876B-3F422DD1F65F}" vid="{AA21DC3D-92A8-43A4-8358-ED428371CD5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89E2DFAF961F54A84E2255C106EB7C6" ma:contentTypeVersion="14" ma:contentTypeDescription="Create a new document." ma:contentTypeScope="" ma:versionID="37fda1044ea6fcdf3bd16bc3c94ad44f">
  <xsd:schema xmlns:xsd="http://www.w3.org/2001/XMLSchema" xmlns:xs="http://www.w3.org/2001/XMLSchema" xmlns:p="http://schemas.microsoft.com/office/2006/metadata/properties" xmlns:ns3="f1ca5527-4d73-4ce9-b1ce-36fa22ecda61" xmlns:ns4="3dc9000b-820f-4ca7-9747-1e0793ae1595" targetNamespace="http://schemas.microsoft.com/office/2006/metadata/properties" ma:root="true" ma:fieldsID="5af716157f5d25fba0ad372f267ba070" ns3:_="" ns4:_="">
    <xsd:import namespace="f1ca5527-4d73-4ce9-b1ce-36fa22ecda61"/>
    <xsd:import namespace="3dc9000b-820f-4ca7-9747-1e0793ae159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ca5527-4d73-4ce9-b1ce-36fa22ecda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dc9000b-820f-4ca7-9747-1e0793ae159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63FC6B2-8F98-4431-99CC-7C9E3804CD6C}">
  <ds:schemaRefs>
    <ds:schemaRef ds:uri="http://schemas.microsoft.com/office/infopath/2007/PartnerControls"/>
    <ds:schemaRef ds:uri="http://purl.org/dc/elements/1.1/"/>
    <ds:schemaRef ds:uri="http://schemas.microsoft.com/office/2006/metadata/properties"/>
    <ds:schemaRef ds:uri="http://purl.org/dc/terms/"/>
    <ds:schemaRef ds:uri="f1ca5527-4d73-4ce9-b1ce-36fa22ecda61"/>
    <ds:schemaRef ds:uri="http://schemas.openxmlformats.org/package/2006/metadata/core-properties"/>
    <ds:schemaRef ds:uri="http://schemas.microsoft.com/office/2006/documentManagement/types"/>
    <ds:schemaRef ds:uri="3dc9000b-820f-4ca7-9747-1e0793ae1595"/>
    <ds:schemaRef ds:uri="http://www.w3.org/XML/1998/namespace"/>
    <ds:schemaRef ds:uri="http://purl.org/dc/dcmitype/"/>
  </ds:schemaRefs>
</ds:datastoreItem>
</file>

<file path=customXml/itemProps2.xml><?xml version="1.0" encoding="utf-8"?>
<ds:datastoreItem xmlns:ds="http://schemas.openxmlformats.org/officeDocument/2006/customXml" ds:itemID="{9F16F009-DBF7-445D-86F2-D269D4D5C9CA}">
  <ds:schemaRefs>
    <ds:schemaRef ds:uri="http://schemas.microsoft.com/sharepoint/v3/contenttype/forms"/>
  </ds:schemaRefs>
</ds:datastoreItem>
</file>

<file path=customXml/itemProps3.xml><?xml version="1.0" encoding="utf-8"?>
<ds:datastoreItem xmlns:ds="http://schemas.openxmlformats.org/officeDocument/2006/customXml" ds:itemID="{E65681D8-D955-4FCC-9752-6E901C9412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1ca5527-4d73-4ce9-b1ce-36fa22ecda61"/>
    <ds:schemaRef ds:uri="3dc9000b-820f-4ca7-9747-1e0793ae159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Retrospect</Template>
  <TotalTime>3688</TotalTime>
  <Words>735</Words>
  <Application>Microsoft Office PowerPoint</Application>
  <PresentationFormat>Widescreen</PresentationFormat>
  <Paragraphs>19</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Abadi Extra Light</vt:lpstr>
      <vt:lpstr>Arial</vt:lpstr>
      <vt:lpstr>Calisto MT</vt:lpstr>
      <vt:lpstr>Univers Condensed</vt:lpstr>
      <vt:lpstr>ChronicleVTI</vt:lpstr>
      <vt:lpstr>mode share trends United States 2010-2024</vt:lpstr>
      <vt:lpstr>MODE SHARE trends [INSERT COUNTY, state] 2010-2024</vt:lpstr>
      <vt:lpstr>TOTAL PEDESTRIAN FATALITIES [COUNTY] 2010-2024</vt:lpstr>
      <vt:lpstr>PEDESTRIAN fatality hot spots [county] 2024</vt:lpstr>
      <vt:lpstr>DESIGN RECOMMENDATIONS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 dependency Ratio City of Philadelphia, 2020 by census tract</dc:title>
  <dc:creator>Smith, Christopher</dc:creator>
  <cp:lastModifiedBy>Christopher Smith</cp:lastModifiedBy>
  <cp:revision>12</cp:revision>
  <dcterms:created xsi:type="dcterms:W3CDTF">2022-04-04T19:58:17Z</dcterms:created>
  <dcterms:modified xsi:type="dcterms:W3CDTF">2026-09-13T23:14:26Z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0x010100C89E2DFAF961F54A84E2255C106EB7C6</vt:lpwstr>
  </property>
</Properties>
</file>