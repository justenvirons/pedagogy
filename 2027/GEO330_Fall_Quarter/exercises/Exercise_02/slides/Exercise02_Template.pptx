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4" r:id="rId4"/>
  </p:sldMasterIdLst>
  <p:sldIdLst>
    <p:sldId id="258" r:id="rId5"/>
    <p:sldId id="276" r:id="rId6"/>
    <p:sldId id="273" r:id="rId7"/>
    <p:sldId id="274" r:id="rId8"/>
    <p:sldId id="275" r:id="rId9"/>
    <p:sldId id="277" r:id="rId10"/>
    <p:sldId id="279" r:id="rId11"/>
    <p:sldId id="278"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B9A8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F611EC7-DCCE-40BE-9882-3AA59DBCF717}" v="1" dt="2026-09-29T16:05:05.28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17" d="100"/>
          <a:sy n="117" d="100"/>
        </p:scale>
        <p:origin x="35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ristopher Smith" userId="f635bcaf-d701-437b-bffd-1a8f160c01d9" providerId="ADAL" clId="{321CF1EA-DDCA-4C73-9872-605BFFD8AB88}"/>
    <pc:docChg chg="undo custSel addSld delSld modSld sldOrd">
      <pc:chgData name="Christopher Smith" userId="f635bcaf-d701-437b-bffd-1a8f160c01d9" providerId="ADAL" clId="{321CF1EA-DDCA-4C73-9872-605BFFD8AB88}" dt="2026-09-29T16:11:40.571" v="1651" actId="20577"/>
      <pc:docMkLst>
        <pc:docMk/>
      </pc:docMkLst>
      <pc:sldChg chg="modSp mod">
        <pc:chgData name="Christopher Smith" userId="f635bcaf-d701-437b-bffd-1a8f160c01d9" providerId="ADAL" clId="{321CF1EA-DDCA-4C73-9872-605BFFD8AB88}" dt="2026-09-29T16:05:06.022" v="1622" actId="20577"/>
        <pc:sldMkLst>
          <pc:docMk/>
          <pc:sldMk cId="3196567084" sldId="258"/>
        </pc:sldMkLst>
        <pc:spChg chg="mod">
          <ac:chgData name="Christopher Smith" userId="f635bcaf-d701-437b-bffd-1a8f160c01d9" providerId="ADAL" clId="{321CF1EA-DDCA-4C73-9872-605BFFD8AB88}" dt="2026-09-29T16:05:06.022" v="1622" actId="20577"/>
          <ac:spMkLst>
            <pc:docMk/>
            <pc:sldMk cId="3196567084" sldId="258"/>
            <ac:spMk id="11" creationId="{3E48FC44-1FA2-4F7A-0A80-59B4E81301D5}"/>
          </ac:spMkLst>
        </pc:spChg>
      </pc:sldChg>
      <pc:sldChg chg="modSp mod">
        <pc:chgData name="Christopher Smith" userId="f635bcaf-d701-437b-bffd-1a8f160c01d9" providerId="ADAL" clId="{321CF1EA-DDCA-4C73-9872-605BFFD8AB88}" dt="2026-09-29T16:06:41.504" v="1627" actId="20577"/>
        <pc:sldMkLst>
          <pc:docMk/>
          <pc:sldMk cId="3196567086" sldId="273"/>
        </pc:sldMkLst>
        <pc:spChg chg="mod">
          <ac:chgData name="Christopher Smith" userId="f635bcaf-d701-437b-bffd-1a8f160c01d9" providerId="ADAL" clId="{321CF1EA-DDCA-4C73-9872-605BFFD8AB88}" dt="2026-09-29T16:06:41.504" v="1627" actId="20577"/>
          <ac:spMkLst>
            <pc:docMk/>
            <pc:sldMk cId="3196567086" sldId="273"/>
            <ac:spMk id="11" creationId="{3E48FC44-1FA2-4F7A-0A80-59B4E81301D5}"/>
          </ac:spMkLst>
        </pc:spChg>
      </pc:sldChg>
      <pc:sldChg chg="modSp mod">
        <pc:chgData name="Christopher Smith" userId="f635bcaf-d701-437b-bffd-1a8f160c01d9" providerId="ADAL" clId="{321CF1EA-DDCA-4C73-9872-605BFFD8AB88}" dt="2026-09-29T16:10:42.125" v="1645" actId="20577"/>
        <pc:sldMkLst>
          <pc:docMk/>
          <pc:sldMk cId="3196567087" sldId="274"/>
        </pc:sldMkLst>
        <pc:spChg chg="mod">
          <ac:chgData name="Christopher Smith" userId="f635bcaf-d701-437b-bffd-1a8f160c01d9" providerId="ADAL" clId="{321CF1EA-DDCA-4C73-9872-605BFFD8AB88}" dt="2026-09-29T16:10:42.125" v="1645" actId="20577"/>
          <ac:spMkLst>
            <pc:docMk/>
            <pc:sldMk cId="3196567087" sldId="274"/>
            <ac:spMk id="3" creationId="{00000000-0000-0000-0000-000000000000}"/>
          </ac:spMkLst>
        </pc:spChg>
        <pc:spChg chg="mod">
          <ac:chgData name="Christopher Smith" userId="f635bcaf-d701-437b-bffd-1a8f160c01d9" providerId="ADAL" clId="{321CF1EA-DDCA-4C73-9872-605BFFD8AB88}" dt="2026-09-29T16:06:50.404" v="1628" actId="14100"/>
          <ac:spMkLst>
            <pc:docMk/>
            <pc:sldMk cId="3196567087" sldId="274"/>
            <ac:spMk id="6" creationId="{77977495-7045-4BEB-B038-AC19B9064EC1}"/>
          </ac:spMkLst>
        </pc:spChg>
        <pc:spChg chg="mod">
          <ac:chgData name="Christopher Smith" userId="f635bcaf-d701-437b-bffd-1a8f160c01d9" providerId="ADAL" clId="{321CF1EA-DDCA-4C73-9872-605BFFD8AB88}" dt="2026-09-29T16:08:01.706" v="1630" actId="20577"/>
          <ac:spMkLst>
            <pc:docMk/>
            <pc:sldMk cId="3196567087" sldId="274"/>
            <ac:spMk id="11" creationId="{3E48FC44-1FA2-4F7A-0A80-59B4E81301D5}"/>
          </ac:spMkLst>
        </pc:spChg>
      </pc:sldChg>
      <pc:sldChg chg="modSp mod">
        <pc:chgData name="Christopher Smith" userId="f635bcaf-d701-437b-bffd-1a8f160c01d9" providerId="ADAL" clId="{321CF1EA-DDCA-4C73-9872-605BFFD8AB88}" dt="2026-09-29T16:06:29.852" v="1626" actId="20577"/>
        <pc:sldMkLst>
          <pc:docMk/>
          <pc:sldMk cId="3196567085" sldId="276"/>
        </pc:sldMkLst>
        <pc:spChg chg="mod">
          <ac:chgData name="Christopher Smith" userId="f635bcaf-d701-437b-bffd-1a8f160c01d9" providerId="ADAL" clId="{321CF1EA-DDCA-4C73-9872-605BFFD8AB88}" dt="2026-09-29T16:06:29.852" v="1626" actId="20577"/>
          <ac:spMkLst>
            <pc:docMk/>
            <pc:sldMk cId="3196567085" sldId="276"/>
            <ac:spMk id="11" creationId="{3E48FC44-1FA2-4F7A-0A80-59B4E81301D5}"/>
          </ac:spMkLst>
        </pc:spChg>
      </pc:sldChg>
      <pc:sldChg chg="modSp mod">
        <pc:chgData name="Christopher Smith" userId="f635bcaf-d701-437b-bffd-1a8f160c01d9" providerId="ADAL" clId="{321CF1EA-DDCA-4C73-9872-605BFFD8AB88}" dt="2026-09-29T16:11:07.737" v="1646" actId="20577"/>
        <pc:sldMkLst>
          <pc:docMk/>
          <pc:sldMk cId="3196567089" sldId="277"/>
        </pc:sldMkLst>
        <pc:spChg chg="mod">
          <ac:chgData name="Christopher Smith" userId="f635bcaf-d701-437b-bffd-1a8f160c01d9" providerId="ADAL" clId="{321CF1EA-DDCA-4C73-9872-605BFFD8AB88}" dt="2026-09-29T16:11:07.737" v="1646" actId="20577"/>
          <ac:spMkLst>
            <pc:docMk/>
            <pc:sldMk cId="3196567089" sldId="277"/>
            <ac:spMk id="3" creationId="{00000000-0000-0000-0000-000000000000}"/>
          </ac:spMkLst>
        </pc:spChg>
      </pc:sldChg>
      <pc:sldChg chg="modSp mod">
        <pc:chgData name="Christopher Smith" userId="f635bcaf-d701-437b-bffd-1a8f160c01d9" providerId="ADAL" clId="{321CF1EA-DDCA-4C73-9872-605BFFD8AB88}" dt="2026-09-29T16:11:33.910" v="1649" actId="20577"/>
        <pc:sldMkLst>
          <pc:docMk/>
          <pc:sldMk cId="3196567090" sldId="278"/>
        </pc:sldMkLst>
        <pc:spChg chg="mod">
          <ac:chgData name="Christopher Smith" userId="f635bcaf-d701-437b-bffd-1a8f160c01d9" providerId="ADAL" clId="{321CF1EA-DDCA-4C73-9872-605BFFD8AB88}" dt="2026-09-29T16:11:33.910" v="1649" actId="20577"/>
          <ac:spMkLst>
            <pc:docMk/>
            <pc:sldMk cId="3196567090" sldId="278"/>
            <ac:spMk id="3" creationId="{00000000-0000-0000-0000-000000000000}"/>
          </ac:spMkLst>
        </pc:spChg>
      </pc:sldChg>
      <pc:sldChg chg="modSp mod ord">
        <pc:chgData name="Christopher Smith" userId="f635bcaf-d701-437b-bffd-1a8f160c01d9" providerId="ADAL" clId="{321CF1EA-DDCA-4C73-9872-605BFFD8AB88}" dt="2026-09-29T16:11:40.571" v="1651" actId="20577"/>
        <pc:sldMkLst>
          <pc:docMk/>
          <pc:sldMk cId="3196567091" sldId="279"/>
        </pc:sldMkLst>
        <pc:spChg chg="mod">
          <ac:chgData name="Christopher Smith" userId="f635bcaf-d701-437b-bffd-1a8f160c01d9" providerId="ADAL" clId="{321CF1EA-DDCA-4C73-9872-605BFFD8AB88}" dt="2026-09-29T16:11:40.571" v="1651" actId="20577"/>
          <ac:spMkLst>
            <pc:docMk/>
            <pc:sldMk cId="3196567091" sldId="279"/>
            <ac:spMk id="3"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678426" y="889820"/>
            <a:ext cx="9989574" cy="3598606"/>
          </a:xfrm>
        </p:spPr>
        <p:txBody>
          <a:bodyPr anchor="t">
            <a:normAutofit/>
          </a:bodyPr>
          <a:lstStyle>
            <a:lvl1pPr algn="l">
              <a:defRPr sz="5400"/>
            </a:lvl1pPr>
          </a:lstStyle>
          <a:p>
            <a:r>
              <a:rPr lang="en-US" dirty="0"/>
              <a:t>Click to edit Master title style</a:t>
            </a:r>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678426"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2F3E8B1C-86EF-43CF-8304-249481088644}" type="datetimeFigureOut">
              <a:rPr lang="en-US" smtClean="0"/>
              <a:t>9/29/2026</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C3DB2ADC-AF19-4574-8C10-79B5B04FCA27}" type="slidenum">
              <a:rPr lang="en-US" smtClean="0"/>
              <a:t>‹#›</a:t>
            </a:fld>
            <a:endParaRPr lang="en-US"/>
          </a:p>
        </p:txBody>
      </p:sp>
    </p:spTree>
    <p:extLst>
      <p:ext uri="{BB962C8B-B14F-4D97-AF65-F5344CB8AC3E}">
        <p14:creationId xmlns:p14="http://schemas.microsoft.com/office/powerpoint/2010/main" val="29018157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2F3E8B1C-86EF-43CF-8304-249481088644}" type="datetimeFigureOut">
              <a:rPr lang="en-US" smtClean="0"/>
              <a:t>9/29/2026</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C3DB2ADC-AF19-4574-8C10-79B5B04FCA27}" type="slidenum">
              <a:rPr lang="en-US" smtClean="0"/>
              <a:t>‹#›</a:t>
            </a:fld>
            <a:endParaRPr lang="en-US"/>
          </a:p>
        </p:txBody>
      </p:sp>
    </p:spTree>
    <p:extLst>
      <p:ext uri="{BB962C8B-B14F-4D97-AF65-F5344CB8AC3E}">
        <p14:creationId xmlns:p14="http://schemas.microsoft.com/office/powerpoint/2010/main" val="23866621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dirty="0"/>
              <a:t>Click to edit Master title style</a:t>
            </a:r>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2F3E8B1C-86EF-43CF-8304-249481088644}" type="datetimeFigureOut">
              <a:rPr lang="en-US" smtClean="0"/>
              <a:t>9/29/2026</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C3DB2ADC-AF19-4574-8C10-79B5B04FCA27}" type="slidenum">
              <a:rPr lang="en-US" smtClean="0"/>
              <a:t>‹#›</a:t>
            </a:fld>
            <a:endParaRPr lang="en-US"/>
          </a:p>
        </p:txBody>
      </p:sp>
    </p:spTree>
    <p:extLst>
      <p:ext uri="{BB962C8B-B14F-4D97-AF65-F5344CB8AC3E}">
        <p14:creationId xmlns:p14="http://schemas.microsoft.com/office/powerpoint/2010/main" val="32511417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22096"/>
            <a:ext cx="10691265" cy="1127930"/>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15383" y="2128684"/>
            <a:ext cx="5304417" cy="384441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72200" y="2128684"/>
            <a:ext cx="5219700" cy="384441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2F3E8B1C-86EF-43CF-8304-249481088644}" type="datetimeFigureOut">
              <a:rPr lang="en-US" smtClean="0"/>
              <a:t>9/29/2026</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C3DB2ADC-AF19-4574-8C10-79B5B04FCA27}" type="slidenum">
              <a:rPr lang="en-US" smtClean="0"/>
              <a:t>‹#›</a:t>
            </a:fld>
            <a:endParaRPr lang="en-US"/>
          </a:p>
        </p:txBody>
      </p:sp>
    </p:spTree>
    <p:extLst>
      <p:ext uri="{BB962C8B-B14F-4D97-AF65-F5344CB8AC3E}">
        <p14:creationId xmlns:p14="http://schemas.microsoft.com/office/powerpoint/2010/main" val="37992561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685887" y="929148"/>
            <a:ext cx="10640005" cy="761540"/>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15384" y="1681163"/>
            <a:ext cx="5282192"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15384" y="2505075"/>
            <a:ext cx="5282192" cy="342377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72200" y="1681163"/>
            <a:ext cx="5183188"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72200" y="2505075"/>
            <a:ext cx="5183188" cy="34237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2F3E8B1C-86EF-43CF-8304-249481088644}" type="datetimeFigureOut">
              <a:rPr lang="en-US" smtClean="0"/>
              <a:t>9/29/2026</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C3DB2ADC-AF19-4574-8C10-79B5B04FCA27}" type="slidenum">
              <a:rPr lang="en-US" smtClean="0"/>
              <a:t>‹#›</a:t>
            </a:fld>
            <a:endParaRPr lang="en-US"/>
          </a:p>
        </p:txBody>
      </p:sp>
    </p:spTree>
    <p:extLst>
      <p:ext uri="{BB962C8B-B14F-4D97-AF65-F5344CB8AC3E}">
        <p14:creationId xmlns:p14="http://schemas.microsoft.com/office/powerpoint/2010/main" val="26739885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2F3E8B1C-86EF-43CF-8304-249481088644}" type="datetimeFigureOut">
              <a:rPr lang="en-US" smtClean="0"/>
              <a:t>9/29/2026</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C3DB2ADC-AF19-4574-8C10-79B5B04FCA27}" type="slidenum">
              <a:rPr lang="en-US" smtClean="0"/>
              <a:t>‹#›</a:t>
            </a:fld>
            <a:endParaRPr lang="en-US"/>
          </a:p>
        </p:txBody>
      </p:sp>
    </p:spTree>
    <p:extLst>
      <p:ext uri="{BB962C8B-B14F-4D97-AF65-F5344CB8AC3E}">
        <p14:creationId xmlns:p14="http://schemas.microsoft.com/office/powerpoint/2010/main" val="42690823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2F3E8B1C-86EF-43CF-8304-249481088644}" type="datetimeFigureOut">
              <a:rPr lang="en-US" smtClean="0"/>
              <a:t>9/29/2026</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C3DB2ADC-AF19-4574-8C10-79B5B04FCA27}" type="slidenum">
              <a:rPr lang="en-US" smtClean="0"/>
              <a:t>‹#›</a:t>
            </a:fld>
            <a:endParaRPr lang="en-US"/>
          </a:p>
        </p:txBody>
      </p:sp>
    </p:spTree>
    <p:extLst>
      <p:ext uri="{BB962C8B-B14F-4D97-AF65-F5344CB8AC3E}">
        <p14:creationId xmlns:p14="http://schemas.microsoft.com/office/powerpoint/2010/main" val="42823173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678426" y="781665"/>
            <a:ext cx="4093599" cy="1223452"/>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688258" y="2315497"/>
            <a:ext cx="4093599" cy="355349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2F3E8B1C-86EF-43CF-8304-249481088644}" type="datetimeFigureOut">
              <a:rPr lang="en-US" smtClean="0"/>
              <a:t>9/29/2026</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C3DB2ADC-AF19-4574-8C10-79B5B04FCA27}" type="slidenum">
              <a:rPr lang="en-US" smtClean="0"/>
              <a:t>‹#›</a:t>
            </a:fld>
            <a:endParaRPr lang="en-US"/>
          </a:p>
        </p:txBody>
      </p:sp>
    </p:spTree>
    <p:extLst>
      <p:ext uri="{BB962C8B-B14F-4D97-AF65-F5344CB8AC3E}">
        <p14:creationId xmlns:p14="http://schemas.microsoft.com/office/powerpoint/2010/main" val="31079259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683342" y="1066800"/>
            <a:ext cx="4103431" cy="1317523"/>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683342"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2F3E8B1C-86EF-43CF-8304-249481088644}" type="datetimeFigureOut">
              <a:rPr lang="en-US" smtClean="0"/>
              <a:t>9/29/2026</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C3DB2ADC-AF19-4574-8C10-79B5B04FCA27}" type="slidenum">
              <a:rPr lang="en-US" smtClean="0"/>
              <a:t>‹#›</a:t>
            </a:fld>
            <a:endParaRPr lang="en-US"/>
          </a:p>
        </p:txBody>
      </p:sp>
    </p:spTree>
    <p:extLst>
      <p:ext uri="{BB962C8B-B14F-4D97-AF65-F5344CB8AC3E}">
        <p14:creationId xmlns:p14="http://schemas.microsoft.com/office/powerpoint/2010/main" val="30360475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2F3E8B1C-86EF-43CF-8304-249481088644}" type="datetimeFigureOut">
              <a:rPr lang="en-US" smtClean="0"/>
              <a:t>9/29/2026</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C3DB2ADC-AF19-4574-8C10-79B5B04FCA27}" type="slidenum">
              <a:rPr lang="en-US" smtClean="0"/>
              <a:t>‹#›</a:t>
            </a:fld>
            <a:endParaRPr lang="en-US"/>
          </a:p>
        </p:txBody>
      </p:sp>
    </p:spTree>
    <p:extLst>
      <p:ext uri="{BB962C8B-B14F-4D97-AF65-F5344CB8AC3E}">
        <p14:creationId xmlns:p14="http://schemas.microsoft.com/office/powerpoint/2010/main" val="36668971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838200" y="997973"/>
            <a:ext cx="8404122" cy="4984956"/>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2F3E8B1C-86EF-43CF-8304-249481088644}" type="datetimeFigureOut">
              <a:rPr lang="en-US" smtClean="0"/>
              <a:t>9/29/2026</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C3DB2ADC-AF19-4574-8C10-79B5B04FCA27}" type="slidenum">
              <a:rPr lang="en-US" smtClean="0"/>
              <a:t>‹#›</a:t>
            </a:fld>
            <a:endParaRPr lang="en-US"/>
          </a:p>
        </p:txBody>
      </p:sp>
    </p:spTree>
    <p:extLst>
      <p:ext uri="{BB962C8B-B14F-4D97-AF65-F5344CB8AC3E}">
        <p14:creationId xmlns:p14="http://schemas.microsoft.com/office/powerpoint/2010/main" val="15691221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22096"/>
            <a:ext cx="10691265" cy="137103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93126"/>
            <a:ext cx="10691265" cy="363608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92594" cy="365125"/>
          </a:xfrm>
          <a:prstGeom prst="rect">
            <a:avLst/>
          </a:prstGeom>
        </p:spPr>
        <p:txBody>
          <a:bodyPr vert="horz" lIns="91440" tIns="45720" rIns="91440" bIns="45720" rtlCol="0" anchor="ctr"/>
          <a:lstStyle>
            <a:lvl1pPr algn="r">
              <a:defRPr sz="1050">
                <a:solidFill>
                  <a:schemeClr val="tx1"/>
                </a:solidFill>
                <a:latin typeface="+mj-lt"/>
              </a:defRPr>
            </a:lvl1pPr>
          </a:lstStyle>
          <a:p>
            <a:fld id="{2F3E8B1C-86EF-43CF-8304-249481088644}" type="datetimeFigureOut">
              <a:rPr lang="en-US" smtClean="0"/>
              <a:pPr/>
              <a:t>9/29/2026</a:t>
            </a:fld>
            <a:endParaRPr lang="en-US" dirty="0"/>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15383"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C3DB2ADC-AF19-4574-8C10-79B5B04FCA27}" type="slidenum">
              <a:rPr lang="en-US" smtClean="0"/>
              <a:pPr/>
              <a:t>‹#›</a:t>
            </a:fld>
            <a:endParaRPr lang="en-US" dirty="0"/>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8564742"/>
      </p:ext>
    </p:extLst>
  </p:cSld>
  <p:clrMap bg1="lt1" tx1="dk1" bg2="lt2" tx2="dk2" accent1="accent1" accent2="accent2" accent3="accent3" accent4="accent4" accent5="accent5" accent6="accent6" hlink="hlink" folHlink="folHlink"/>
  <p:sldLayoutIdLst>
    <p:sldLayoutId id="2147483799" r:id="rId1"/>
    <p:sldLayoutId id="2147483800" r:id="rId2"/>
    <p:sldLayoutId id="2147483801" r:id="rId3"/>
    <p:sldLayoutId id="2147483802" r:id="rId4"/>
    <p:sldLayoutId id="2147483803" r:id="rId5"/>
    <p:sldLayoutId id="2147483797" r:id="rId6"/>
    <p:sldLayoutId id="2147483793" r:id="rId7"/>
    <p:sldLayoutId id="2147483794" r:id="rId8"/>
    <p:sldLayoutId id="2147483795" r:id="rId9"/>
    <p:sldLayoutId id="2147483796" r:id="rId10"/>
    <p:sldLayoutId id="2147483798" r:id="rId11"/>
  </p:sldLayoutIdLst>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7977495-7045-4BEB-B038-AC19B9064EC1}"/>
              </a:ext>
            </a:extLst>
          </p:cNvPr>
          <p:cNvSpPr>
            <a:spLocks noGrp="1"/>
          </p:cNvSpPr>
          <p:nvPr>
            <p:ph type="title"/>
          </p:nvPr>
        </p:nvSpPr>
        <p:spPr>
          <a:xfrm>
            <a:off x="669852" y="870596"/>
            <a:ext cx="5426148" cy="577205"/>
          </a:xfrm>
        </p:spPr>
        <p:txBody>
          <a:bodyPr vert="horz" lIns="91440" tIns="45720" rIns="91440" bIns="45720" rtlCol="0" anchor="t">
            <a:normAutofit fontScale="90000"/>
          </a:bodyPr>
          <a:lstStyle/>
          <a:p>
            <a:pPr>
              <a:lnSpc>
                <a:spcPct val="90000"/>
              </a:lnSpc>
            </a:pPr>
            <a:r>
              <a:rPr lang="en-US" sz="3400" dirty="0"/>
              <a:t>CUMULATIVE DIVVY TRIPS</a:t>
            </a:r>
            <a:br>
              <a:rPr lang="en-US" sz="3400" dirty="0"/>
            </a:br>
            <a:r>
              <a:rPr lang="en-US" sz="3400" dirty="0"/>
              <a:t>City of Chicago</a:t>
            </a:r>
            <a:br>
              <a:rPr lang="en-US" sz="3400" dirty="0"/>
            </a:br>
            <a:r>
              <a:rPr lang="en-US" sz="3400" dirty="0"/>
              <a:t>2013-2026</a:t>
            </a:r>
          </a:p>
        </p:txBody>
      </p:sp>
      <p:sp>
        <p:nvSpPr>
          <p:cNvPr id="11" name="TextBox 10">
            <a:extLst>
              <a:ext uri="{FF2B5EF4-FFF2-40B4-BE49-F238E27FC236}">
                <a16:creationId xmlns:a16="http://schemas.microsoft.com/office/drawing/2014/main" id="{3E48FC44-1FA2-4F7A-0A80-59B4E81301D5}"/>
              </a:ext>
            </a:extLst>
          </p:cNvPr>
          <p:cNvSpPr txBox="1"/>
          <p:nvPr/>
        </p:nvSpPr>
        <p:spPr>
          <a:xfrm>
            <a:off x="700331" y="2150000"/>
            <a:ext cx="5700000" cy="2308324"/>
          </a:xfrm>
          <a:prstGeom prst="rect">
            <a:avLst/>
          </a:prstGeom>
          <a:noFill/>
        </p:spPr>
        <p:txBody>
          <a:bodyPr wrap="square">
            <a:spAutoFit/>
          </a:bodyPr>
          <a:lstStyle/>
          <a:p>
            <a:r>
              <a:rPr lang="en-US" sz="1600" i="1" dirty="0">
                <a:latin typeface="Abadi Extra Light" panose="020B0604020202020204" pitchFamily="34" charset="0"/>
              </a:rPr>
              <a:t>Use this space to describe the cumulative growth of Divvy's systemwide ridership since its launch on June 27, 2013. How many trips have been logged on the Divvy system since its initial rollout? On what date did the system surpass 10 million trips? What does the spacing between the vertical lines suggest about whether the pace of growth has sped up or slowed down over time? Has the pace of growth sped up or slowed down over time? Consider whether things like system expansions, e-bikes, pricing or the COVID-19 pandemic might help explain the pattern you observe.</a:t>
            </a:r>
          </a:p>
        </p:txBody>
      </p:sp>
      <p:sp>
        <p:nvSpPr>
          <p:cNvPr id="12" name="TextBox 11">
            <a:extLst>
              <a:ext uri="{FF2B5EF4-FFF2-40B4-BE49-F238E27FC236}">
                <a16:creationId xmlns:a16="http://schemas.microsoft.com/office/drawing/2014/main" id="{87D582C6-CEC0-AFAA-58EF-768E3AC494E0}"/>
              </a:ext>
            </a:extLst>
          </p:cNvPr>
          <p:cNvSpPr txBox="1"/>
          <p:nvPr/>
        </p:nvSpPr>
        <p:spPr>
          <a:xfrm>
            <a:off x="700331" y="5580302"/>
            <a:ext cx="5953561" cy="307777"/>
          </a:xfrm>
          <a:prstGeom prst="rect">
            <a:avLst/>
          </a:prstGeom>
          <a:noFill/>
        </p:spPr>
        <p:txBody>
          <a:bodyPr wrap="square">
            <a:spAutoFit/>
          </a:bodyPr>
          <a:lstStyle/>
          <a:p>
            <a:r>
              <a:rPr lang="en-US" sz="1400" i="1" dirty="0">
                <a:latin typeface="Abadi Extra Light" panose="020B0604020202020204" pitchFamily="34" charset="0"/>
              </a:rPr>
              <a:t>Data sources: City of Chicago Data Portal (Divvy Trips); Divvy System Data.</a:t>
            </a:r>
            <a:endParaRPr lang="en-US" sz="1400" i="1" cap="none" dirty="0">
              <a:latin typeface="Abadi Extra Light" panose="020B0604020202020204" pitchFamily="34" charset="0"/>
            </a:endParaRPr>
          </a:p>
        </p:txBody>
      </p:sp>
      <p:sp>
        <p:nvSpPr>
          <p:cNvPr id="3" name="Placeholder 1"/>
          <p:cNvSpPr/>
          <p:nvPr/>
        </p:nvSpPr>
        <p:spPr>
          <a:xfrm>
            <a:off x="6735536" y="1698171"/>
            <a:ext cx="4302578" cy="378822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Insert cumulative Divvy trips plot (Figure 1)</a:t>
            </a:r>
            <a:br>
              <a:rPr lang="en-US" dirty="0"/>
            </a:br>
            <a:r>
              <a:rPr lang="en-US" dirty="0"/>
              <a:t>available in step #3 of exercise.</a:t>
            </a:r>
          </a:p>
        </p:txBody>
      </p:sp>
      <p:sp>
        <p:nvSpPr>
          <p:cNvPr id="20" name="Footer Placeholder 19"/>
          <p:cNvSpPr>
            <a:spLocks noGrp="1"/>
          </p:cNvSpPr>
          <p:nvPr>
            <p:ph type="ftr" sz="quarter" idx="11"/>
          </p:nvPr>
        </p:nvSpPr>
        <p:spPr>
          <a:xfrm>
            <a:off x="715383" y="6230000"/>
            <a:ext cx="10095603" cy="365125"/>
          </a:xfrm>
        </p:spPr>
        <p:txBody>
          <a:bodyPr/>
          <a:lstStyle/>
          <a:p>
            <a:r>
              <a:rPr lang="en-US" sz="1050" dirty="0"/>
              <a:t>Sustainable Urban Transportation Exercise #2  |  Autumn 2026  |  DePaul University  |  C. Scott Smith, PhD AICP</a:t>
            </a:r>
          </a:p>
        </p:txBody>
      </p:sp>
      <p:sp>
        <p:nvSpPr>
          <p:cNvPr id="21" name="Slide Number Placeholder 20"/>
          <p:cNvSpPr>
            <a:spLocks noGrp="1"/>
          </p:cNvSpPr>
          <p:nvPr>
            <p:ph type="sldNum" sz="quarter" idx="12"/>
          </p:nvPr>
        </p:nvSpPr>
        <p:spPr>
          <a:xfrm>
            <a:off x="10810986" y="6230000"/>
            <a:ext cx="672354" cy="365125"/>
          </a:xfrm>
        </p:spPr>
        <p:txBody>
          <a:bodyPr/>
          <a:lstStyle/>
          <a:p>
            <a:fld id="{C3DB2ADC-AF19-4574-8C10-79B5B04FCA27}" type="slidenum">
              <a:rPr lang="en-US" sz="1050"/>
              <a:t>1</a:t>
            </a:fld>
            <a:endParaRPr lang="en-US" sz="1050"/>
          </a:p>
        </p:txBody>
      </p:sp>
    </p:spTree>
    <p:extLst>
      <p:ext uri="{BB962C8B-B14F-4D97-AF65-F5344CB8AC3E}">
        <p14:creationId xmlns:p14="http://schemas.microsoft.com/office/powerpoint/2010/main" val="31965670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7977495-7045-4BEB-B038-AC19B9064EC1}"/>
              </a:ext>
            </a:extLst>
          </p:cNvPr>
          <p:cNvSpPr>
            <a:spLocks noGrp="1"/>
          </p:cNvSpPr>
          <p:nvPr>
            <p:ph type="title"/>
          </p:nvPr>
        </p:nvSpPr>
        <p:spPr>
          <a:xfrm>
            <a:off x="669852" y="870596"/>
            <a:ext cx="5426148" cy="577205"/>
          </a:xfrm>
        </p:spPr>
        <p:txBody>
          <a:bodyPr vert="horz" lIns="91440" tIns="45720" rIns="91440" bIns="45720" rtlCol="0" anchor="t">
            <a:normAutofit fontScale="90000"/>
          </a:bodyPr>
          <a:lstStyle/>
          <a:p>
            <a:pPr>
              <a:lnSpc>
                <a:spcPct val="90000"/>
              </a:lnSpc>
            </a:pPr>
            <a:r>
              <a:rPr lang="en-US" sz="3400" dirty="0"/>
              <a:t>MONTHLY DIVVY TRIPS</a:t>
            </a:r>
            <a:br>
              <a:rPr lang="en-US" sz="3400" dirty="0"/>
            </a:br>
            <a:r>
              <a:rPr lang="en-US" sz="3400" dirty="0"/>
              <a:t>City of Chicago</a:t>
            </a:r>
            <a:br>
              <a:rPr lang="en-US" sz="3400" dirty="0"/>
            </a:br>
            <a:r>
              <a:rPr lang="en-US" sz="3400" dirty="0"/>
              <a:t>2013-2026</a:t>
            </a:r>
          </a:p>
        </p:txBody>
      </p:sp>
      <p:sp>
        <p:nvSpPr>
          <p:cNvPr id="11" name="TextBox 10">
            <a:extLst>
              <a:ext uri="{FF2B5EF4-FFF2-40B4-BE49-F238E27FC236}">
                <a16:creationId xmlns:a16="http://schemas.microsoft.com/office/drawing/2014/main" id="{3E48FC44-1FA2-4F7A-0A80-59B4E81301D5}"/>
              </a:ext>
            </a:extLst>
          </p:cNvPr>
          <p:cNvSpPr txBox="1"/>
          <p:nvPr/>
        </p:nvSpPr>
        <p:spPr>
          <a:xfrm>
            <a:off x="700331" y="2150000"/>
            <a:ext cx="5700000" cy="1815882"/>
          </a:xfrm>
          <a:prstGeom prst="rect">
            <a:avLst/>
          </a:prstGeom>
          <a:noFill/>
        </p:spPr>
        <p:txBody>
          <a:bodyPr wrap="square">
            <a:spAutoFit/>
          </a:bodyPr>
          <a:lstStyle/>
          <a:p>
            <a:r>
              <a:rPr lang="en-US" sz="1600" i="1" dirty="0">
                <a:latin typeface="Abadi Extra Light" panose="020B0604020202020204" pitchFamily="34" charset="0"/>
              </a:rPr>
              <a:t>Note any patterns and/or variations you see in monthly ridership. How does ridership in winter months (December to February) compare with the rest of the year? What factors do you feel explain differences in ridership by month? What other non-seasonal factors do you feel may have influenced ridership? Consider whether things like system expansions, the introduction of e-bikes might have played a role.</a:t>
            </a:r>
          </a:p>
        </p:txBody>
      </p:sp>
      <p:sp>
        <p:nvSpPr>
          <p:cNvPr id="12" name="TextBox 11">
            <a:extLst>
              <a:ext uri="{FF2B5EF4-FFF2-40B4-BE49-F238E27FC236}">
                <a16:creationId xmlns:a16="http://schemas.microsoft.com/office/drawing/2014/main" id="{87D582C6-CEC0-AFAA-58EF-768E3AC494E0}"/>
              </a:ext>
            </a:extLst>
          </p:cNvPr>
          <p:cNvSpPr txBox="1"/>
          <p:nvPr/>
        </p:nvSpPr>
        <p:spPr>
          <a:xfrm>
            <a:off x="700331" y="5580302"/>
            <a:ext cx="5953561" cy="307777"/>
          </a:xfrm>
          <a:prstGeom prst="rect">
            <a:avLst/>
          </a:prstGeom>
          <a:noFill/>
        </p:spPr>
        <p:txBody>
          <a:bodyPr wrap="square">
            <a:spAutoFit/>
          </a:bodyPr>
          <a:lstStyle/>
          <a:p>
            <a:r>
              <a:rPr lang="en-US" sz="1400" i="1" dirty="0">
                <a:latin typeface="Abadi Extra Light" panose="020B0604020202020204" pitchFamily="34" charset="0"/>
              </a:rPr>
              <a:t>Data sources: City of Chicago Data Portal (Divvy Trips); Divvy System Data.</a:t>
            </a:r>
            <a:endParaRPr lang="en-US" sz="1400" i="1" cap="none" dirty="0">
              <a:latin typeface="Abadi Extra Light" panose="020B0604020202020204" pitchFamily="34" charset="0"/>
            </a:endParaRPr>
          </a:p>
        </p:txBody>
      </p:sp>
      <p:sp>
        <p:nvSpPr>
          <p:cNvPr id="3" name="Placeholder 1"/>
          <p:cNvSpPr/>
          <p:nvPr/>
        </p:nvSpPr>
        <p:spPr>
          <a:xfrm>
            <a:off x="6735536" y="1698171"/>
            <a:ext cx="4302578" cy="378822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Insert monthly Divvy trips plot (Figure 2)</a:t>
            </a:r>
            <a:br>
              <a:rPr lang="en-US" dirty="0"/>
            </a:br>
            <a:r>
              <a:rPr lang="en-US" dirty="0"/>
              <a:t>available in step #3 of exercise.</a:t>
            </a:r>
          </a:p>
        </p:txBody>
      </p:sp>
      <p:sp>
        <p:nvSpPr>
          <p:cNvPr id="20" name="Footer Placeholder 19"/>
          <p:cNvSpPr>
            <a:spLocks noGrp="1"/>
          </p:cNvSpPr>
          <p:nvPr>
            <p:ph type="ftr" sz="quarter" idx="11"/>
          </p:nvPr>
        </p:nvSpPr>
        <p:spPr>
          <a:xfrm>
            <a:off x="715383" y="6230000"/>
            <a:ext cx="10095603" cy="365125"/>
          </a:xfrm>
        </p:spPr>
        <p:txBody>
          <a:bodyPr/>
          <a:lstStyle/>
          <a:p>
            <a:r>
              <a:rPr lang="en-US" sz="1050" dirty="0"/>
              <a:t>Sustainable Urban Transportation Exercise #2  |  Autumn 2026  |  DePaul University  |  C. Scott Smith, PhD AICP</a:t>
            </a:r>
          </a:p>
        </p:txBody>
      </p:sp>
      <p:sp>
        <p:nvSpPr>
          <p:cNvPr id="21" name="Slide Number Placeholder 20"/>
          <p:cNvSpPr>
            <a:spLocks noGrp="1"/>
          </p:cNvSpPr>
          <p:nvPr>
            <p:ph type="sldNum" sz="quarter" idx="12"/>
          </p:nvPr>
        </p:nvSpPr>
        <p:spPr>
          <a:xfrm>
            <a:off x="10810986" y="6230000"/>
            <a:ext cx="672354" cy="365125"/>
          </a:xfrm>
        </p:spPr>
        <p:txBody>
          <a:bodyPr/>
          <a:lstStyle/>
          <a:p>
            <a:fld id="{C3DB2ADC-AF19-4574-8C10-79B5B04FCA27}" type="slidenum">
              <a:rPr lang="en-US" sz="1050"/>
              <a:t>2</a:t>
            </a:fld>
            <a:endParaRPr lang="en-US" sz="1050"/>
          </a:p>
        </p:txBody>
      </p:sp>
    </p:spTree>
    <p:extLst>
      <p:ext uri="{BB962C8B-B14F-4D97-AF65-F5344CB8AC3E}">
        <p14:creationId xmlns:p14="http://schemas.microsoft.com/office/powerpoint/2010/main" val="31965670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7977495-7045-4BEB-B038-AC19B9064EC1}"/>
              </a:ext>
            </a:extLst>
          </p:cNvPr>
          <p:cNvSpPr>
            <a:spLocks noGrp="1"/>
          </p:cNvSpPr>
          <p:nvPr>
            <p:ph type="title"/>
          </p:nvPr>
        </p:nvSpPr>
        <p:spPr>
          <a:xfrm>
            <a:off x="669852" y="870596"/>
            <a:ext cx="5426148" cy="577205"/>
          </a:xfrm>
        </p:spPr>
        <p:txBody>
          <a:bodyPr vert="horz" lIns="91440" tIns="45720" rIns="91440" bIns="45720" rtlCol="0" anchor="t">
            <a:normAutofit fontScale="90000"/>
          </a:bodyPr>
          <a:lstStyle/>
          <a:p>
            <a:pPr>
              <a:lnSpc>
                <a:spcPct val="90000"/>
              </a:lnSpc>
            </a:pPr>
            <a:r>
              <a:rPr lang="en-US" sz="3400" dirty="0"/>
              <a:t>DAILY TRIPS &amp; TRIP DURATION</a:t>
            </a:r>
            <a:br>
              <a:rPr lang="en-US" sz="3400" dirty="0"/>
            </a:br>
            <a:r>
              <a:rPr lang="en-US" sz="3400" dirty="0"/>
              <a:t>City of Chicago</a:t>
            </a:r>
            <a:br>
              <a:rPr lang="en-US" sz="3400" dirty="0"/>
            </a:br>
            <a:r>
              <a:rPr lang="en-US" sz="3400" dirty="0"/>
              <a:t>2013-2026</a:t>
            </a:r>
          </a:p>
        </p:txBody>
      </p:sp>
      <p:sp>
        <p:nvSpPr>
          <p:cNvPr id="11" name="TextBox 10">
            <a:extLst>
              <a:ext uri="{FF2B5EF4-FFF2-40B4-BE49-F238E27FC236}">
                <a16:creationId xmlns:a16="http://schemas.microsoft.com/office/drawing/2014/main" id="{3E48FC44-1FA2-4F7A-0A80-59B4E81301D5}"/>
              </a:ext>
            </a:extLst>
          </p:cNvPr>
          <p:cNvSpPr txBox="1"/>
          <p:nvPr/>
        </p:nvSpPr>
        <p:spPr>
          <a:xfrm>
            <a:off x="700331" y="2150000"/>
            <a:ext cx="5700000" cy="1815882"/>
          </a:xfrm>
          <a:prstGeom prst="rect">
            <a:avLst/>
          </a:prstGeom>
          <a:noFill/>
        </p:spPr>
        <p:txBody>
          <a:bodyPr wrap="square">
            <a:spAutoFit/>
          </a:bodyPr>
          <a:lstStyle/>
          <a:p>
            <a:r>
              <a:rPr lang="en-US" sz="1600" i="1" dirty="0">
                <a:latin typeface="Abadi Extra Light" panose="020B0604020202020204" pitchFamily="34" charset="0"/>
              </a:rPr>
              <a:t>Note any patterns and/or variations you see in daily ridership (Figure 3). How does weekend ridership compare with weekday ridership, and what factors do you feel explain daily differences? Next, note any trends or seasonal patterns in average trip duration (Figure 4). Have trips become shorter or longer over time? What factors, such as pricing, membership or weather, might explain the changes?</a:t>
            </a:r>
          </a:p>
        </p:txBody>
      </p:sp>
      <p:sp>
        <p:nvSpPr>
          <p:cNvPr id="12" name="TextBox 11">
            <a:extLst>
              <a:ext uri="{FF2B5EF4-FFF2-40B4-BE49-F238E27FC236}">
                <a16:creationId xmlns:a16="http://schemas.microsoft.com/office/drawing/2014/main" id="{87D582C6-CEC0-AFAA-58EF-768E3AC494E0}"/>
              </a:ext>
            </a:extLst>
          </p:cNvPr>
          <p:cNvSpPr txBox="1"/>
          <p:nvPr/>
        </p:nvSpPr>
        <p:spPr>
          <a:xfrm>
            <a:off x="700331" y="5580302"/>
            <a:ext cx="5953561" cy="307777"/>
          </a:xfrm>
          <a:prstGeom prst="rect">
            <a:avLst/>
          </a:prstGeom>
          <a:noFill/>
        </p:spPr>
        <p:txBody>
          <a:bodyPr wrap="square">
            <a:spAutoFit/>
          </a:bodyPr>
          <a:lstStyle/>
          <a:p>
            <a:r>
              <a:rPr lang="en-US" sz="1400" i="1" dirty="0">
                <a:latin typeface="Abadi Extra Light" panose="020B0604020202020204" pitchFamily="34" charset="0"/>
              </a:rPr>
              <a:t>Data sources: City of Chicago Data Portal (Divvy Trips); Divvy System Data.</a:t>
            </a:r>
            <a:endParaRPr lang="en-US" sz="1400" i="1" cap="none" dirty="0">
              <a:latin typeface="Abadi Extra Light" panose="020B0604020202020204" pitchFamily="34" charset="0"/>
            </a:endParaRPr>
          </a:p>
        </p:txBody>
      </p:sp>
      <p:sp>
        <p:nvSpPr>
          <p:cNvPr id="3" name="Placeholder 1"/>
          <p:cNvSpPr/>
          <p:nvPr/>
        </p:nvSpPr>
        <p:spPr>
          <a:xfrm>
            <a:off x="6735536" y="1698171"/>
            <a:ext cx="4302578" cy="179911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Insert daily Divvy trips plot</a:t>
            </a:r>
            <a:br>
              <a:rPr lang="en-US" dirty="0"/>
            </a:br>
            <a:r>
              <a:rPr lang="en-US" dirty="0"/>
              <a:t>(Figure 3)</a:t>
            </a:r>
            <a:br>
              <a:rPr lang="en-US" dirty="0"/>
            </a:br>
            <a:r>
              <a:rPr lang="en-US" dirty="0"/>
              <a:t>available in step #3 of exercise.</a:t>
            </a:r>
          </a:p>
        </p:txBody>
      </p:sp>
      <p:sp>
        <p:nvSpPr>
          <p:cNvPr id="4" name="Placeholder 2"/>
          <p:cNvSpPr/>
          <p:nvPr/>
        </p:nvSpPr>
        <p:spPr>
          <a:xfrm>
            <a:off x="6735536" y="3687285"/>
            <a:ext cx="4302578" cy="179911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Insert average trip duration plot</a:t>
            </a:r>
            <a:br>
              <a:rPr lang="en-US" dirty="0"/>
            </a:br>
            <a:r>
              <a:rPr lang="en-US" dirty="0"/>
              <a:t>(Figure 4)</a:t>
            </a:r>
            <a:br>
              <a:rPr lang="en-US" dirty="0"/>
            </a:br>
            <a:r>
              <a:rPr lang="en-US" dirty="0"/>
              <a:t>available in step #3 of exercise.</a:t>
            </a:r>
          </a:p>
        </p:txBody>
      </p:sp>
      <p:sp>
        <p:nvSpPr>
          <p:cNvPr id="20" name="Footer Placeholder 19"/>
          <p:cNvSpPr>
            <a:spLocks noGrp="1"/>
          </p:cNvSpPr>
          <p:nvPr>
            <p:ph type="ftr" sz="quarter" idx="11"/>
          </p:nvPr>
        </p:nvSpPr>
        <p:spPr>
          <a:xfrm>
            <a:off x="715383" y="6230000"/>
            <a:ext cx="10095603" cy="365125"/>
          </a:xfrm>
        </p:spPr>
        <p:txBody>
          <a:bodyPr/>
          <a:lstStyle/>
          <a:p>
            <a:r>
              <a:rPr lang="en-US" sz="1050" dirty="0"/>
              <a:t>Sustainable Urban Transportation Exercise #2  |  Autumn 2026  |  DePaul University  |  C. Scott Smith, PhD AICP</a:t>
            </a:r>
          </a:p>
        </p:txBody>
      </p:sp>
      <p:sp>
        <p:nvSpPr>
          <p:cNvPr id="21" name="Slide Number Placeholder 20"/>
          <p:cNvSpPr>
            <a:spLocks noGrp="1"/>
          </p:cNvSpPr>
          <p:nvPr>
            <p:ph type="sldNum" sz="quarter" idx="12"/>
          </p:nvPr>
        </p:nvSpPr>
        <p:spPr>
          <a:xfrm>
            <a:off x="10810986" y="6230000"/>
            <a:ext cx="672354" cy="365125"/>
          </a:xfrm>
        </p:spPr>
        <p:txBody>
          <a:bodyPr/>
          <a:lstStyle/>
          <a:p>
            <a:fld id="{C3DB2ADC-AF19-4574-8C10-79B5B04FCA27}" type="slidenum">
              <a:rPr lang="en-US" sz="1050"/>
              <a:t>3</a:t>
            </a:fld>
            <a:endParaRPr lang="en-US" sz="1050"/>
          </a:p>
        </p:txBody>
      </p:sp>
    </p:spTree>
    <p:extLst>
      <p:ext uri="{BB962C8B-B14F-4D97-AF65-F5344CB8AC3E}">
        <p14:creationId xmlns:p14="http://schemas.microsoft.com/office/powerpoint/2010/main" val="31965670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7977495-7045-4BEB-B038-AC19B9064EC1}"/>
              </a:ext>
            </a:extLst>
          </p:cNvPr>
          <p:cNvSpPr>
            <a:spLocks noGrp="1"/>
          </p:cNvSpPr>
          <p:nvPr>
            <p:ph type="title"/>
          </p:nvPr>
        </p:nvSpPr>
        <p:spPr>
          <a:xfrm>
            <a:off x="669851" y="870596"/>
            <a:ext cx="6212641" cy="577205"/>
          </a:xfrm>
        </p:spPr>
        <p:txBody>
          <a:bodyPr vert="horz" lIns="91440" tIns="45720" rIns="91440" bIns="45720" rtlCol="0" anchor="t">
            <a:normAutofit fontScale="90000"/>
          </a:bodyPr>
          <a:lstStyle/>
          <a:p>
            <a:pPr>
              <a:lnSpc>
                <a:spcPct val="90000"/>
              </a:lnSpc>
            </a:pPr>
            <a:r>
              <a:rPr lang="en-US" sz="3400" dirty="0"/>
              <a:t>DIVVY TRIPS BY COMMUNITY AREA</a:t>
            </a:r>
            <a:br>
              <a:rPr lang="en-US" sz="3400" dirty="0"/>
            </a:br>
            <a:r>
              <a:rPr lang="en-US" sz="3400" dirty="0"/>
              <a:t>City of Chicago</a:t>
            </a:r>
            <a:br>
              <a:rPr lang="en-US" sz="3400" dirty="0"/>
            </a:br>
            <a:r>
              <a:rPr lang="en-US" sz="3400" dirty="0"/>
              <a:t>2013-2026</a:t>
            </a:r>
          </a:p>
        </p:txBody>
      </p:sp>
      <p:sp>
        <p:nvSpPr>
          <p:cNvPr id="11" name="TextBox 10">
            <a:extLst>
              <a:ext uri="{FF2B5EF4-FFF2-40B4-BE49-F238E27FC236}">
                <a16:creationId xmlns:a16="http://schemas.microsoft.com/office/drawing/2014/main" id="{3E48FC44-1FA2-4F7A-0A80-59B4E81301D5}"/>
              </a:ext>
            </a:extLst>
          </p:cNvPr>
          <p:cNvSpPr txBox="1"/>
          <p:nvPr/>
        </p:nvSpPr>
        <p:spPr>
          <a:xfrm>
            <a:off x="700331" y="2150000"/>
            <a:ext cx="5700000" cy="2062103"/>
          </a:xfrm>
          <a:prstGeom prst="rect">
            <a:avLst/>
          </a:prstGeom>
          <a:noFill/>
        </p:spPr>
        <p:txBody>
          <a:bodyPr wrap="square">
            <a:spAutoFit/>
          </a:bodyPr>
          <a:lstStyle/>
          <a:p>
            <a:r>
              <a:rPr lang="en-US" sz="1600" i="1" dirty="0">
                <a:latin typeface="Abadi Extra Light" panose="020B0604020202020204" pitchFamily="34" charset="0"/>
              </a:rPr>
              <a:t>Note any patterns and/or variations you see in total ridership by community area. Which community areas logged the most and fewest trips, and where are they located? Does the picture change when you compare average daily trips and trips standardized by population? What factors do you feel explain differences in total and daily ridership? Consider things like population and job density, proximity to downtown and the lakefront, and how long stations have been in place.</a:t>
            </a:r>
          </a:p>
        </p:txBody>
      </p:sp>
      <p:sp>
        <p:nvSpPr>
          <p:cNvPr id="12" name="TextBox 11">
            <a:extLst>
              <a:ext uri="{FF2B5EF4-FFF2-40B4-BE49-F238E27FC236}">
                <a16:creationId xmlns:a16="http://schemas.microsoft.com/office/drawing/2014/main" id="{87D582C6-CEC0-AFAA-58EF-768E3AC494E0}"/>
              </a:ext>
            </a:extLst>
          </p:cNvPr>
          <p:cNvSpPr txBox="1"/>
          <p:nvPr/>
        </p:nvSpPr>
        <p:spPr>
          <a:xfrm>
            <a:off x="700331" y="5580302"/>
            <a:ext cx="5953561" cy="307777"/>
          </a:xfrm>
          <a:prstGeom prst="rect">
            <a:avLst/>
          </a:prstGeom>
          <a:noFill/>
        </p:spPr>
        <p:txBody>
          <a:bodyPr wrap="square">
            <a:spAutoFit/>
          </a:bodyPr>
          <a:lstStyle/>
          <a:p>
            <a:r>
              <a:rPr lang="en-US" sz="1400" i="1" dirty="0">
                <a:latin typeface="Abadi Extra Light" panose="020B0604020202020204" pitchFamily="34" charset="0"/>
              </a:rPr>
              <a:t>Data sources: City of Chicago Data Portal (Divvy Trips; Community Areas); Divvy System Data.</a:t>
            </a:r>
            <a:endParaRPr lang="en-US" sz="1400" i="1" cap="none" dirty="0">
              <a:latin typeface="Abadi Extra Light" panose="020B0604020202020204" pitchFamily="34" charset="0"/>
            </a:endParaRPr>
          </a:p>
        </p:txBody>
      </p:sp>
      <p:sp>
        <p:nvSpPr>
          <p:cNvPr id="3" name="Placeholder 1"/>
          <p:cNvSpPr/>
          <p:nvPr/>
        </p:nvSpPr>
        <p:spPr>
          <a:xfrm>
            <a:off x="6735536" y="1698171"/>
            <a:ext cx="4302578" cy="378822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Insert average daily Divvy trips by community area map (Figure 5)</a:t>
            </a:r>
            <a:br>
              <a:rPr lang="en-US" dirty="0"/>
            </a:br>
            <a:r>
              <a:rPr lang="en-US" dirty="0"/>
              <a:t>available in step #4 of exercise.</a:t>
            </a:r>
          </a:p>
        </p:txBody>
      </p:sp>
      <p:sp>
        <p:nvSpPr>
          <p:cNvPr id="20" name="Footer Placeholder 19"/>
          <p:cNvSpPr>
            <a:spLocks noGrp="1"/>
          </p:cNvSpPr>
          <p:nvPr>
            <p:ph type="ftr" sz="quarter" idx="11"/>
          </p:nvPr>
        </p:nvSpPr>
        <p:spPr>
          <a:xfrm>
            <a:off x="715383" y="6230000"/>
            <a:ext cx="10095603" cy="365125"/>
          </a:xfrm>
        </p:spPr>
        <p:txBody>
          <a:bodyPr/>
          <a:lstStyle/>
          <a:p>
            <a:r>
              <a:rPr lang="en-US" sz="1050" dirty="0"/>
              <a:t>Sustainable Urban Transportation Exercise #2  |  Autumn 2026  |  DePaul University  |  C. Scott Smith, PhD AICP</a:t>
            </a:r>
          </a:p>
        </p:txBody>
      </p:sp>
      <p:sp>
        <p:nvSpPr>
          <p:cNvPr id="21" name="Slide Number Placeholder 20"/>
          <p:cNvSpPr>
            <a:spLocks noGrp="1"/>
          </p:cNvSpPr>
          <p:nvPr>
            <p:ph type="sldNum" sz="quarter" idx="12"/>
          </p:nvPr>
        </p:nvSpPr>
        <p:spPr>
          <a:xfrm>
            <a:off x="10810986" y="6230000"/>
            <a:ext cx="672354" cy="365125"/>
          </a:xfrm>
        </p:spPr>
        <p:txBody>
          <a:bodyPr/>
          <a:lstStyle/>
          <a:p>
            <a:fld id="{C3DB2ADC-AF19-4574-8C10-79B5B04FCA27}" type="slidenum">
              <a:rPr lang="en-US" sz="1050"/>
              <a:t>4</a:t>
            </a:fld>
            <a:endParaRPr lang="en-US" sz="1050"/>
          </a:p>
        </p:txBody>
      </p:sp>
    </p:spTree>
    <p:extLst>
      <p:ext uri="{BB962C8B-B14F-4D97-AF65-F5344CB8AC3E}">
        <p14:creationId xmlns:p14="http://schemas.microsoft.com/office/powerpoint/2010/main" val="31965670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7977495-7045-4BEB-B038-AC19B9064EC1}"/>
              </a:ext>
            </a:extLst>
          </p:cNvPr>
          <p:cNvSpPr>
            <a:spLocks noGrp="1"/>
          </p:cNvSpPr>
          <p:nvPr>
            <p:ph type="title"/>
          </p:nvPr>
        </p:nvSpPr>
        <p:spPr>
          <a:xfrm>
            <a:off x="669852" y="870596"/>
            <a:ext cx="5426148" cy="577205"/>
          </a:xfrm>
        </p:spPr>
        <p:txBody>
          <a:bodyPr vert="horz" lIns="91440" tIns="45720" rIns="91440" bIns="45720" rtlCol="0" anchor="t">
            <a:normAutofit fontScale="90000"/>
          </a:bodyPr>
          <a:lstStyle/>
          <a:p>
            <a:pPr>
              <a:lnSpc>
                <a:spcPct val="90000"/>
              </a:lnSpc>
            </a:pPr>
            <a:r>
              <a:rPr lang="en-US" sz="3400" dirty="0"/>
              <a:t>COMMUNITY INDICATOR MAP</a:t>
            </a:r>
            <a:br>
              <a:rPr lang="en-US" sz="3400" dirty="0"/>
            </a:br>
            <a:r>
              <a:rPr lang="en-US" sz="3400" dirty="0"/>
              <a:t>[INSERT INDICATOR]</a:t>
            </a:r>
            <a:br>
              <a:rPr lang="en-US" sz="3400" dirty="0"/>
            </a:br>
            <a:r>
              <a:rPr lang="en-US" sz="3400" dirty="0"/>
              <a:t>[INDICATOR PERIOD]</a:t>
            </a:r>
          </a:p>
        </p:txBody>
      </p:sp>
      <p:sp>
        <p:nvSpPr>
          <p:cNvPr id="11" name="TextBox 10">
            <a:extLst>
              <a:ext uri="{FF2B5EF4-FFF2-40B4-BE49-F238E27FC236}">
                <a16:creationId xmlns:a16="http://schemas.microsoft.com/office/drawing/2014/main" id="{3E48FC44-1FA2-4F7A-0A80-59B4E81301D5}"/>
              </a:ext>
            </a:extLst>
          </p:cNvPr>
          <p:cNvSpPr txBox="1"/>
          <p:nvPr/>
        </p:nvSpPr>
        <p:spPr>
          <a:xfrm>
            <a:off x="700331" y="2150000"/>
            <a:ext cx="5700000" cy="3200000"/>
          </a:xfrm>
          <a:prstGeom prst="rect">
            <a:avLst/>
          </a:prstGeom>
          <a:noFill/>
        </p:spPr>
        <p:txBody>
          <a:bodyPr wrap="square">
            <a:spAutoFit/>
          </a:bodyPr>
          <a:lstStyle/>
          <a:p>
            <a:r>
              <a:rPr lang="en-US" sz="1600" i="1" dirty="0">
                <a:latin typeface="Abadi Extra Light" panose="020B0604020202020204" pitchFamily="34" charset="0"/>
              </a:rPr>
              <a:t>Describe any visual relationship you see (or don't see) between ridership, station locations and the indicator you selected. Before interpreting your map, note whether higher values of your indicator signal more or less advantaged conditions. Where are Divvy stations most and least concentrated with respect to the indicator's quintile categories? Do community areas with higher ridership tend to have more or less advantaged conditions?</a:t>
            </a:r>
          </a:p>
        </p:txBody>
      </p:sp>
      <p:sp>
        <p:nvSpPr>
          <p:cNvPr id="12" name="TextBox 11">
            <a:extLst>
              <a:ext uri="{FF2B5EF4-FFF2-40B4-BE49-F238E27FC236}">
                <a16:creationId xmlns:a16="http://schemas.microsoft.com/office/drawing/2014/main" id="{87D582C6-CEC0-AFAA-58EF-768E3AC494E0}"/>
              </a:ext>
            </a:extLst>
          </p:cNvPr>
          <p:cNvSpPr txBox="1"/>
          <p:nvPr/>
        </p:nvSpPr>
        <p:spPr>
          <a:xfrm>
            <a:off x="700331" y="5580302"/>
            <a:ext cx="5953561" cy="307777"/>
          </a:xfrm>
          <a:prstGeom prst="rect">
            <a:avLst/>
          </a:prstGeom>
          <a:noFill/>
        </p:spPr>
        <p:txBody>
          <a:bodyPr wrap="square">
            <a:spAutoFit/>
          </a:bodyPr>
          <a:lstStyle/>
          <a:p>
            <a:r>
              <a:rPr lang="en-US" sz="1400" i="1" dirty="0">
                <a:latin typeface="Abadi Extra Light" panose="020B0604020202020204" pitchFamily="34" charset="0"/>
              </a:rPr>
              <a:t>Data sources: City of Chicago Data Portal; Divvy System Data; Divvy GBFS station feed; Chicago Health Atlas.</a:t>
            </a:r>
            <a:endParaRPr lang="en-US" sz="1400" i="1" cap="none" dirty="0">
              <a:latin typeface="Abadi Extra Light" panose="020B0604020202020204" pitchFamily="34" charset="0"/>
            </a:endParaRPr>
          </a:p>
        </p:txBody>
      </p:sp>
      <p:sp>
        <p:nvSpPr>
          <p:cNvPr id="3" name="Placeholder 1"/>
          <p:cNvSpPr/>
          <p:nvPr/>
        </p:nvSpPr>
        <p:spPr>
          <a:xfrm>
            <a:off x="6735536" y="1698171"/>
            <a:ext cx="4302578" cy="378822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Insert custom community indicator map with Divvy stations (Figure 6)</a:t>
            </a:r>
            <a:br>
              <a:rPr lang="en-US" dirty="0"/>
            </a:br>
            <a:r>
              <a:rPr lang="en-US" dirty="0"/>
              <a:t>created in step #5 of exercise.</a:t>
            </a:r>
          </a:p>
        </p:txBody>
      </p:sp>
      <p:sp>
        <p:nvSpPr>
          <p:cNvPr id="20" name="Footer Placeholder 19"/>
          <p:cNvSpPr>
            <a:spLocks noGrp="1"/>
          </p:cNvSpPr>
          <p:nvPr>
            <p:ph type="ftr" sz="quarter" idx="11"/>
          </p:nvPr>
        </p:nvSpPr>
        <p:spPr>
          <a:xfrm>
            <a:off x="715383" y="6230000"/>
            <a:ext cx="10095603" cy="365125"/>
          </a:xfrm>
        </p:spPr>
        <p:txBody>
          <a:bodyPr/>
          <a:lstStyle/>
          <a:p>
            <a:r>
              <a:rPr lang="en-US" sz="1050" dirty="0"/>
              <a:t>Sustainable Urban Transportation Exercise #2  |  Autumn 2026  |  DePaul University  |  C. Scott Smith, PhD AICP</a:t>
            </a:r>
          </a:p>
        </p:txBody>
      </p:sp>
      <p:sp>
        <p:nvSpPr>
          <p:cNvPr id="21" name="Slide Number Placeholder 20"/>
          <p:cNvSpPr>
            <a:spLocks noGrp="1"/>
          </p:cNvSpPr>
          <p:nvPr>
            <p:ph type="sldNum" sz="quarter" idx="12"/>
          </p:nvPr>
        </p:nvSpPr>
        <p:spPr>
          <a:xfrm>
            <a:off x="10810986" y="6230000"/>
            <a:ext cx="672354" cy="365125"/>
          </a:xfrm>
        </p:spPr>
        <p:txBody>
          <a:bodyPr/>
          <a:lstStyle/>
          <a:p>
            <a:fld id="{C3DB2ADC-AF19-4574-8C10-79B5B04FCA27}" type="slidenum">
              <a:rPr lang="en-US" sz="1050"/>
              <a:t>5</a:t>
            </a:fld>
            <a:endParaRPr lang="en-US" sz="1050"/>
          </a:p>
        </p:txBody>
      </p:sp>
    </p:spTree>
    <p:extLst>
      <p:ext uri="{BB962C8B-B14F-4D97-AF65-F5344CB8AC3E}">
        <p14:creationId xmlns:p14="http://schemas.microsoft.com/office/powerpoint/2010/main" val="31965670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7977495-7045-4BEB-B038-AC19B9064EC1}"/>
              </a:ext>
            </a:extLst>
          </p:cNvPr>
          <p:cNvSpPr>
            <a:spLocks noGrp="1"/>
          </p:cNvSpPr>
          <p:nvPr>
            <p:ph type="title"/>
          </p:nvPr>
        </p:nvSpPr>
        <p:spPr>
          <a:xfrm>
            <a:off x="669852" y="870596"/>
            <a:ext cx="5426148" cy="577205"/>
          </a:xfrm>
        </p:spPr>
        <p:txBody>
          <a:bodyPr vert="horz" lIns="91440" tIns="45720" rIns="91440" bIns="45720" rtlCol="0" anchor="t">
            <a:normAutofit fontScale="90000"/>
          </a:bodyPr>
          <a:lstStyle/>
          <a:p>
            <a:pPr>
              <a:lnSpc>
                <a:spcPct val="90000"/>
              </a:lnSpc>
            </a:pPr>
            <a:r>
              <a:rPr lang="en-US" sz="3400" dirty="0"/>
              <a:t>DIVVY TRIPS BY QUINTILE</a:t>
            </a:r>
            <a:br>
              <a:rPr lang="en-US" sz="3400" dirty="0"/>
            </a:br>
            <a:r>
              <a:rPr lang="en-US" sz="3400" dirty="0"/>
              <a:t>[INSERT INDICATOR]</a:t>
            </a:r>
            <a:br>
              <a:rPr lang="en-US" sz="3400" dirty="0"/>
            </a:br>
            <a:r>
              <a:rPr lang="en-US" sz="3400" dirty="0"/>
              <a:t>2013-2026</a:t>
            </a:r>
          </a:p>
        </p:txBody>
      </p:sp>
      <p:sp>
        <p:nvSpPr>
          <p:cNvPr id="11" name="TextBox 10">
            <a:extLst>
              <a:ext uri="{FF2B5EF4-FFF2-40B4-BE49-F238E27FC236}">
                <a16:creationId xmlns:a16="http://schemas.microsoft.com/office/drawing/2014/main" id="{3E48FC44-1FA2-4F7A-0A80-59B4E81301D5}"/>
              </a:ext>
            </a:extLst>
          </p:cNvPr>
          <p:cNvSpPr txBox="1"/>
          <p:nvPr/>
        </p:nvSpPr>
        <p:spPr>
          <a:xfrm>
            <a:off x="700331" y="2150000"/>
            <a:ext cx="5700000" cy="3200000"/>
          </a:xfrm>
          <a:prstGeom prst="rect">
            <a:avLst/>
          </a:prstGeom>
          <a:noFill/>
        </p:spPr>
        <p:txBody>
          <a:bodyPr wrap="square">
            <a:spAutoFit/>
          </a:bodyPr>
          <a:lstStyle/>
          <a:p>
            <a:r>
              <a:rPr lang="en-US" sz="1600" i="1" dirty="0">
                <a:latin typeface="Abadi Extra Light" panose="020B0604020202020204" pitchFamily="34" charset="0"/>
              </a:rPr>
              <a:t>Describe any relationships you see (or don't see) between ridership and the socioeconomic indicator you selected over the past ten years. Have variations in ridership changed differently over time with respect to community socioeconomic condition? Using your summary table, briefly summarize your findings, referencing trips and population by quintile category. What are the implications for sustainable urban transportation and equitable access to bikesharing?</a:t>
            </a:r>
          </a:p>
        </p:txBody>
      </p:sp>
      <p:sp>
        <p:nvSpPr>
          <p:cNvPr id="12" name="TextBox 11">
            <a:extLst>
              <a:ext uri="{FF2B5EF4-FFF2-40B4-BE49-F238E27FC236}">
                <a16:creationId xmlns:a16="http://schemas.microsoft.com/office/drawing/2014/main" id="{87D582C6-CEC0-AFAA-58EF-768E3AC494E0}"/>
              </a:ext>
            </a:extLst>
          </p:cNvPr>
          <p:cNvSpPr txBox="1"/>
          <p:nvPr/>
        </p:nvSpPr>
        <p:spPr>
          <a:xfrm>
            <a:off x="700331" y="5580302"/>
            <a:ext cx="5953561" cy="307777"/>
          </a:xfrm>
          <a:prstGeom prst="rect">
            <a:avLst/>
          </a:prstGeom>
          <a:noFill/>
        </p:spPr>
        <p:txBody>
          <a:bodyPr wrap="square">
            <a:spAutoFit/>
          </a:bodyPr>
          <a:lstStyle/>
          <a:p>
            <a:r>
              <a:rPr lang="en-US" sz="1400" i="1" dirty="0">
                <a:latin typeface="Abadi Extra Light" panose="020B0604020202020204" pitchFamily="34" charset="0"/>
              </a:rPr>
              <a:t>Data sources: City of Chicago Data Portal; Divvy System Data; Chicago Health Atlas.</a:t>
            </a:r>
            <a:endParaRPr lang="en-US" sz="1400" i="1" cap="none" dirty="0">
              <a:latin typeface="Abadi Extra Light" panose="020B0604020202020204" pitchFamily="34" charset="0"/>
            </a:endParaRPr>
          </a:p>
        </p:txBody>
      </p:sp>
      <p:sp>
        <p:nvSpPr>
          <p:cNvPr id="3" name="Placeholder 1"/>
          <p:cNvSpPr/>
          <p:nvPr/>
        </p:nvSpPr>
        <p:spPr>
          <a:xfrm>
            <a:off x="6735536" y="1698171"/>
            <a:ext cx="4302578" cy="179911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Insert custom plot of monthly trips per 10,000 residents by quintile (Figure 7)</a:t>
            </a:r>
            <a:br>
              <a:rPr lang="en-US" dirty="0"/>
            </a:br>
            <a:r>
              <a:rPr lang="en-US" dirty="0"/>
              <a:t>created in step #5 of exercise.</a:t>
            </a:r>
          </a:p>
        </p:txBody>
      </p:sp>
      <p:sp>
        <p:nvSpPr>
          <p:cNvPr id="4" name="Placeholder 2"/>
          <p:cNvSpPr/>
          <p:nvPr/>
        </p:nvSpPr>
        <p:spPr>
          <a:xfrm>
            <a:off x="6735536" y="3687285"/>
            <a:ext cx="4302578" cy="179911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Insert custom summary table by quintile (Table 1)</a:t>
            </a:r>
            <a:br>
              <a:rPr lang="en-US" dirty="0"/>
            </a:br>
            <a:r>
              <a:rPr lang="en-US" dirty="0"/>
              <a:t>created in step #5 of exercise.</a:t>
            </a:r>
          </a:p>
        </p:txBody>
      </p:sp>
      <p:sp>
        <p:nvSpPr>
          <p:cNvPr id="20" name="Footer Placeholder 19"/>
          <p:cNvSpPr>
            <a:spLocks noGrp="1"/>
          </p:cNvSpPr>
          <p:nvPr>
            <p:ph type="ftr" sz="quarter" idx="11"/>
          </p:nvPr>
        </p:nvSpPr>
        <p:spPr>
          <a:xfrm>
            <a:off x="715383" y="6230000"/>
            <a:ext cx="10095603" cy="365125"/>
          </a:xfrm>
        </p:spPr>
        <p:txBody>
          <a:bodyPr/>
          <a:lstStyle/>
          <a:p>
            <a:r>
              <a:rPr lang="en-US" sz="1050" dirty="0"/>
              <a:t>Sustainable Urban Transportation Exercise #2  |  Autumn 2026  |  DePaul University  |  C. Scott Smith, PhD AICP</a:t>
            </a:r>
          </a:p>
        </p:txBody>
      </p:sp>
      <p:sp>
        <p:nvSpPr>
          <p:cNvPr id="21" name="Slide Number Placeholder 20"/>
          <p:cNvSpPr>
            <a:spLocks noGrp="1"/>
          </p:cNvSpPr>
          <p:nvPr>
            <p:ph type="sldNum" sz="quarter" idx="12"/>
          </p:nvPr>
        </p:nvSpPr>
        <p:spPr>
          <a:xfrm>
            <a:off x="10810986" y="6230000"/>
            <a:ext cx="672354" cy="365125"/>
          </a:xfrm>
        </p:spPr>
        <p:txBody>
          <a:bodyPr/>
          <a:lstStyle/>
          <a:p>
            <a:fld id="{C3DB2ADC-AF19-4574-8C10-79B5B04FCA27}" type="slidenum">
              <a:rPr lang="en-US" sz="1050"/>
              <a:t>6</a:t>
            </a:fld>
            <a:endParaRPr lang="en-US" sz="1050"/>
          </a:p>
        </p:txBody>
      </p:sp>
    </p:spTree>
    <p:extLst>
      <p:ext uri="{BB962C8B-B14F-4D97-AF65-F5344CB8AC3E}">
        <p14:creationId xmlns:p14="http://schemas.microsoft.com/office/powerpoint/2010/main" val="31965670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7977495-7045-4BEB-B038-AC19B9064EC1}"/>
              </a:ext>
            </a:extLst>
          </p:cNvPr>
          <p:cNvSpPr>
            <a:spLocks noGrp="1"/>
          </p:cNvSpPr>
          <p:nvPr>
            <p:ph type="title"/>
          </p:nvPr>
        </p:nvSpPr>
        <p:spPr>
          <a:xfrm>
            <a:off x="669852" y="870596"/>
            <a:ext cx="5426148" cy="577205"/>
          </a:xfrm>
        </p:spPr>
        <p:txBody>
          <a:bodyPr vert="horz" lIns="91440" tIns="45720" rIns="91440" bIns="45720" rtlCol="0" anchor="t">
            <a:normAutofit fontScale="90000"/>
          </a:bodyPr>
          <a:lstStyle/>
          <a:p>
            <a:pPr>
              <a:lnSpc>
                <a:spcPct val="90000"/>
              </a:lnSpc>
            </a:pPr>
            <a:r>
              <a:rPr lang="en-US" sz="3400" dirty="0"/>
              <a:t>AVERAGE TRIP DURATION</a:t>
            </a:r>
            <a:br>
              <a:rPr lang="en-US" sz="3400" dirty="0"/>
            </a:br>
            <a:r>
              <a:rPr lang="en-US" sz="3400" dirty="0"/>
              <a:t>Selected Community Areas</a:t>
            </a:r>
            <a:br>
              <a:rPr lang="en-US" sz="3400" dirty="0"/>
            </a:br>
            <a:r>
              <a:rPr lang="en-US" sz="3400" dirty="0"/>
              <a:t>2013-2026</a:t>
            </a:r>
          </a:p>
        </p:txBody>
      </p:sp>
      <p:sp>
        <p:nvSpPr>
          <p:cNvPr id="11" name="TextBox 10">
            <a:extLst>
              <a:ext uri="{FF2B5EF4-FFF2-40B4-BE49-F238E27FC236}">
                <a16:creationId xmlns:a16="http://schemas.microsoft.com/office/drawing/2014/main" id="{3E48FC44-1FA2-4F7A-0A80-59B4E81301D5}"/>
              </a:ext>
            </a:extLst>
          </p:cNvPr>
          <p:cNvSpPr txBox="1"/>
          <p:nvPr/>
        </p:nvSpPr>
        <p:spPr>
          <a:xfrm>
            <a:off x="700331" y="2150000"/>
            <a:ext cx="5700000" cy="3200000"/>
          </a:xfrm>
          <a:prstGeom prst="rect">
            <a:avLst/>
          </a:prstGeom>
          <a:noFill/>
        </p:spPr>
        <p:txBody>
          <a:bodyPr wrap="square">
            <a:spAutoFit/>
          </a:bodyPr>
          <a:lstStyle/>
          <a:p>
            <a:r>
              <a:rPr lang="en-US" sz="1600" i="1" dirty="0">
                <a:latin typeface="Abadi Extra Light" panose="020B0604020202020204" pitchFamily="34" charset="0"/>
              </a:rPr>
              <a:t>How do trip durations compare across the five community areas? Compare the medians and the spread (interquartile range) of each box. Which community areas have the most outliers, and what might explain them? What might explain the differences between community areas? Consider things like distance to common destinations, trip purpose (commuting versus recreation), rider type (member or casual), winter ridership or how recently stations were installed.</a:t>
            </a:r>
          </a:p>
        </p:txBody>
      </p:sp>
      <p:sp>
        <p:nvSpPr>
          <p:cNvPr id="12" name="TextBox 11">
            <a:extLst>
              <a:ext uri="{FF2B5EF4-FFF2-40B4-BE49-F238E27FC236}">
                <a16:creationId xmlns:a16="http://schemas.microsoft.com/office/drawing/2014/main" id="{87D582C6-CEC0-AFAA-58EF-768E3AC494E0}"/>
              </a:ext>
            </a:extLst>
          </p:cNvPr>
          <p:cNvSpPr txBox="1"/>
          <p:nvPr/>
        </p:nvSpPr>
        <p:spPr>
          <a:xfrm>
            <a:off x="700331" y="5580302"/>
            <a:ext cx="5953561" cy="307777"/>
          </a:xfrm>
          <a:prstGeom prst="rect">
            <a:avLst/>
          </a:prstGeom>
          <a:noFill/>
        </p:spPr>
        <p:txBody>
          <a:bodyPr wrap="square">
            <a:spAutoFit/>
          </a:bodyPr>
          <a:lstStyle/>
          <a:p>
            <a:r>
              <a:rPr lang="en-US" sz="1400" i="1" dirty="0">
                <a:latin typeface="Abadi Extra Light" panose="020B0604020202020204" pitchFamily="34" charset="0"/>
              </a:rPr>
              <a:t>Data sources: City of Chicago Data Portal; Divvy System Data; Chicago Health Atlas.</a:t>
            </a:r>
            <a:endParaRPr lang="en-US" sz="1400" i="1" cap="none" dirty="0">
              <a:latin typeface="Abadi Extra Light" panose="020B0604020202020204" pitchFamily="34" charset="0"/>
            </a:endParaRPr>
          </a:p>
        </p:txBody>
      </p:sp>
      <p:sp>
        <p:nvSpPr>
          <p:cNvPr id="3" name="Placeholder 1"/>
          <p:cNvSpPr/>
          <p:nvPr/>
        </p:nvSpPr>
        <p:spPr>
          <a:xfrm>
            <a:off x="6735536" y="1698171"/>
            <a:ext cx="4302578" cy="378822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Insert custom trip duration box plot for selected community areas </a:t>
            </a:r>
            <a:br>
              <a:rPr lang="en-US" dirty="0"/>
            </a:br>
            <a:r>
              <a:rPr lang="en-US" dirty="0"/>
              <a:t>(</a:t>
            </a:r>
            <a:r>
              <a:rPr lang="en-US"/>
              <a:t>Figure 8)</a:t>
            </a:r>
            <a:br>
              <a:rPr lang="en-US" dirty="0"/>
            </a:br>
            <a:r>
              <a:rPr lang="en-US" dirty="0"/>
              <a:t>created in step #6 of exercise.</a:t>
            </a:r>
          </a:p>
        </p:txBody>
      </p:sp>
      <p:sp>
        <p:nvSpPr>
          <p:cNvPr id="20" name="Footer Placeholder 19"/>
          <p:cNvSpPr>
            <a:spLocks noGrp="1"/>
          </p:cNvSpPr>
          <p:nvPr>
            <p:ph type="ftr" sz="quarter" idx="11"/>
          </p:nvPr>
        </p:nvSpPr>
        <p:spPr>
          <a:xfrm>
            <a:off x="715383" y="6230000"/>
            <a:ext cx="10095603" cy="365125"/>
          </a:xfrm>
        </p:spPr>
        <p:txBody>
          <a:bodyPr/>
          <a:lstStyle/>
          <a:p>
            <a:r>
              <a:rPr lang="en-US" sz="1050" dirty="0"/>
              <a:t>Sustainable Urban Transportation Exercise #2  |  Autumn 2026  |  DePaul University  |  C. Scott Smith, PhD AICP</a:t>
            </a:r>
          </a:p>
        </p:txBody>
      </p:sp>
      <p:sp>
        <p:nvSpPr>
          <p:cNvPr id="21" name="Slide Number Placeholder 20"/>
          <p:cNvSpPr>
            <a:spLocks noGrp="1"/>
          </p:cNvSpPr>
          <p:nvPr>
            <p:ph type="sldNum" sz="quarter" idx="12"/>
          </p:nvPr>
        </p:nvSpPr>
        <p:spPr>
          <a:xfrm>
            <a:off x="10810986" y="6230000"/>
            <a:ext cx="672354" cy="365125"/>
          </a:xfrm>
        </p:spPr>
        <p:txBody>
          <a:bodyPr/>
          <a:lstStyle/>
          <a:p>
            <a:fld id="{C3DB2ADC-AF19-4574-8C10-79B5B04FCA27}" type="slidenum">
              <a:rPr lang="en-US" sz="1050"/>
              <a:t>7</a:t>
            </a:fld>
            <a:endParaRPr lang="en-US" sz="1050"/>
          </a:p>
        </p:txBody>
      </p:sp>
    </p:spTree>
    <p:extLst>
      <p:ext uri="{BB962C8B-B14F-4D97-AF65-F5344CB8AC3E}">
        <p14:creationId xmlns:p14="http://schemas.microsoft.com/office/powerpoint/2010/main" val="31965670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7977495-7045-4BEB-B038-AC19B9064EC1}"/>
              </a:ext>
            </a:extLst>
          </p:cNvPr>
          <p:cNvSpPr>
            <a:spLocks noGrp="1"/>
          </p:cNvSpPr>
          <p:nvPr>
            <p:ph type="title"/>
          </p:nvPr>
        </p:nvSpPr>
        <p:spPr>
          <a:xfrm>
            <a:off x="669852" y="870596"/>
            <a:ext cx="5426148" cy="577205"/>
          </a:xfrm>
        </p:spPr>
        <p:txBody>
          <a:bodyPr vert="horz" lIns="91440" tIns="45720" rIns="91440" bIns="45720" rtlCol="0" anchor="t">
            <a:normAutofit fontScale="90000"/>
          </a:bodyPr>
          <a:lstStyle/>
          <a:p>
            <a:pPr>
              <a:lnSpc>
                <a:spcPct val="90000"/>
              </a:lnSpc>
            </a:pPr>
            <a:r>
              <a:rPr lang="en-US" sz="3400" dirty="0"/>
              <a:t>MONTHLY DIVVY TRIPS</a:t>
            </a:r>
            <a:br>
              <a:rPr lang="en-US" sz="3400" dirty="0"/>
            </a:br>
            <a:r>
              <a:rPr lang="en-US" sz="3400" dirty="0"/>
              <a:t>Selected Community Areas</a:t>
            </a:r>
            <a:br>
              <a:rPr lang="en-US" sz="3400" dirty="0"/>
            </a:br>
            <a:r>
              <a:rPr lang="en-US" sz="3400" dirty="0"/>
              <a:t>2013-2026</a:t>
            </a:r>
          </a:p>
        </p:txBody>
      </p:sp>
      <p:sp>
        <p:nvSpPr>
          <p:cNvPr id="11" name="TextBox 10">
            <a:extLst>
              <a:ext uri="{FF2B5EF4-FFF2-40B4-BE49-F238E27FC236}">
                <a16:creationId xmlns:a16="http://schemas.microsoft.com/office/drawing/2014/main" id="{3E48FC44-1FA2-4F7A-0A80-59B4E81301D5}"/>
              </a:ext>
            </a:extLst>
          </p:cNvPr>
          <p:cNvSpPr txBox="1"/>
          <p:nvPr/>
        </p:nvSpPr>
        <p:spPr>
          <a:xfrm>
            <a:off x="700331" y="2150000"/>
            <a:ext cx="5700000" cy="3200000"/>
          </a:xfrm>
          <a:prstGeom prst="rect">
            <a:avLst/>
          </a:prstGeom>
          <a:noFill/>
        </p:spPr>
        <p:txBody>
          <a:bodyPr wrap="square">
            <a:spAutoFit/>
          </a:bodyPr>
          <a:lstStyle/>
          <a:p>
            <a:r>
              <a:rPr lang="en-US" sz="1600" i="1" dirty="0">
                <a:latin typeface="Abadi Extra Light" panose="020B0604020202020204" pitchFamily="34" charset="0"/>
              </a:rPr>
              <a:t>Describe how ridership has changed over time in each of your five selected community areas (one from each quintile category). Do the trends differ across socioeconomic categories? When did trips begin in each community area, and how have seasonal peaks changed over the years? Consider whether things like when stations were installed, system expansions or local land use might help explain the differences you observe.</a:t>
            </a:r>
          </a:p>
        </p:txBody>
      </p:sp>
      <p:sp>
        <p:nvSpPr>
          <p:cNvPr id="12" name="TextBox 11">
            <a:extLst>
              <a:ext uri="{FF2B5EF4-FFF2-40B4-BE49-F238E27FC236}">
                <a16:creationId xmlns:a16="http://schemas.microsoft.com/office/drawing/2014/main" id="{87D582C6-CEC0-AFAA-58EF-768E3AC494E0}"/>
              </a:ext>
            </a:extLst>
          </p:cNvPr>
          <p:cNvSpPr txBox="1"/>
          <p:nvPr/>
        </p:nvSpPr>
        <p:spPr>
          <a:xfrm>
            <a:off x="700331" y="5580302"/>
            <a:ext cx="5953561" cy="307777"/>
          </a:xfrm>
          <a:prstGeom prst="rect">
            <a:avLst/>
          </a:prstGeom>
          <a:noFill/>
        </p:spPr>
        <p:txBody>
          <a:bodyPr wrap="square">
            <a:spAutoFit/>
          </a:bodyPr>
          <a:lstStyle/>
          <a:p>
            <a:r>
              <a:rPr lang="en-US" sz="1400" i="1" dirty="0">
                <a:latin typeface="Abadi Extra Light" panose="020B0604020202020204" pitchFamily="34" charset="0"/>
              </a:rPr>
              <a:t>Data sources: City of Chicago Data Portal; Divvy System Data; Chicago Health Atlas.</a:t>
            </a:r>
            <a:endParaRPr lang="en-US" sz="1400" i="1" cap="none" dirty="0">
              <a:latin typeface="Abadi Extra Light" panose="020B0604020202020204" pitchFamily="34" charset="0"/>
            </a:endParaRPr>
          </a:p>
        </p:txBody>
      </p:sp>
      <p:sp>
        <p:nvSpPr>
          <p:cNvPr id="3" name="Placeholder 1"/>
          <p:cNvSpPr/>
          <p:nvPr/>
        </p:nvSpPr>
        <p:spPr>
          <a:xfrm>
            <a:off x="6735536" y="1698171"/>
            <a:ext cx="4302578" cy="378822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Insert custom plot of monthly trips for selected community areas (Figure 9)</a:t>
            </a:r>
            <a:br>
              <a:rPr lang="en-US" dirty="0"/>
            </a:br>
            <a:r>
              <a:rPr lang="en-US" dirty="0"/>
              <a:t>created in step #6 of exercise.</a:t>
            </a:r>
          </a:p>
        </p:txBody>
      </p:sp>
      <p:sp>
        <p:nvSpPr>
          <p:cNvPr id="20" name="Footer Placeholder 19"/>
          <p:cNvSpPr>
            <a:spLocks noGrp="1"/>
          </p:cNvSpPr>
          <p:nvPr>
            <p:ph type="ftr" sz="quarter" idx="11"/>
          </p:nvPr>
        </p:nvSpPr>
        <p:spPr>
          <a:xfrm>
            <a:off x="715383" y="6230000"/>
            <a:ext cx="10095603" cy="365125"/>
          </a:xfrm>
        </p:spPr>
        <p:txBody>
          <a:bodyPr/>
          <a:lstStyle/>
          <a:p>
            <a:r>
              <a:rPr lang="en-US" sz="1050" dirty="0"/>
              <a:t>Sustainable Urban Transportation Exercise #2  |  Autumn 2026  |  DePaul University  |  C. Scott Smith, PhD AICP</a:t>
            </a:r>
          </a:p>
        </p:txBody>
      </p:sp>
      <p:sp>
        <p:nvSpPr>
          <p:cNvPr id="21" name="Slide Number Placeholder 20"/>
          <p:cNvSpPr>
            <a:spLocks noGrp="1"/>
          </p:cNvSpPr>
          <p:nvPr>
            <p:ph type="sldNum" sz="quarter" idx="12"/>
          </p:nvPr>
        </p:nvSpPr>
        <p:spPr>
          <a:xfrm>
            <a:off x="10810986" y="6230000"/>
            <a:ext cx="672354" cy="365125"/>
          </a:xfrm>
        </p:spPr>
        <p:txBody>
          <a:bodyPr/>
          <a:lstStyle/>
          <a:p>
            <a:fld id="{C3DB2ADC-AF19-4574-8C10-79B5B04FCA27}" type="slidenum">
              <a:rPr lang="en-US" sz="1050"/>
              <a:t>8</a:t>
            </a:fld>
            <a:endParaRPr lang="en-US" sz="1050"/>
          </a:p>
        </p:txBody>
      </p:sp>
    </p:spTree>
    <p:extLst>
      <p:ext uri="{BB962C8B-B14F-4D97-AF65-F5344CB8AC3E}">
        <p14:creationId xmlns:p14="http://schemas.microsoft.com/office/powerpoint/2010/main" val="3196567090"/>
      </p:ext>
    </p:extLst>
  </p:cSld>
  <p:clrMapOvr>
    <a:masterClrMapping/>
  </p:clrMapOvr>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4682B4"/>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hronicleVTI" id="{508E4D90-5116-4BF0-876B-3F422DD1F65F}" vid="{AA21DC3D-92A8-43A4-8358-ED428371CD55}"/>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C89E2DFAF961F54A84E2255C106EB7C6" ma:contentTypeVersion="14" ma:contentTypeDescription="Create a new document." ma:contentTypeScope="" ma:versionID="37fda1044ea6fcdf3bd16bc3c94ad44f">
  <xsd:schema xmlns:xsd="http://www.w3.org/2001/XMLSchema" xmlns:xs="http://www.w3.org/2001/XMLSchema" xmlns:p="http://schemas.microsoft.com/office/2006/metadata/properties" xmlns:ns3="f1ca5527-4d73-4ce9-b1ce-36fa22ecda61" xmlns:ns4="3dc9000b-820f-4ca7-9747-1e0793ae1595" targetNamespace="http://schemas.microsoft.com/office/2006/metadata/properties" ma:root="true" ma:fieldsID="5af716157f5d25fba0ad372f267ba070" ns3:_="" ns4:_="">
    <xsd:import namespace="f1ca5527-4d73-4ce9-b1ce-36fa22ecda61"/>
    <xsd:import namespace="3dc9000b-820f-4ca7-9747-1e0793ae159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ServiceLocation"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1ca5527-4d73-4ce9-b1ce-36fa22ecda6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DateTaken" ma:index="19" nillable="true" ma:displayName="MediaServiceDateTaken" ma:hidden="true" ma:internalName="MediaServiceDateTaken" ma:readOnly="true">
      <xsd:simpleType>
        <xsd:restriction base="dms:Text"/>
      </xsd:simpleType>
    </xsd:element>
    <xsd:element name="MediaServiceLocation" ma:index="20" nillable="true" ma:displayName="Location" ma:internalName="MediaServiceLocation"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3dc9000b-820f-4ca7-9747-1e0793ae159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63FC6B2-8F98-4431-99CC-7C9E3804CD6C}">
  <ds:schemaRefs>
    <ds:schemaRef ds:uri="http://schemas.microsoft.com/office/infopath/2007/PartnerControls"/>
    <ds:schemaRef ds:uri="http://purl.org/dc/elements/1.1/"/>
    <ds:schemaRef ds:uri="http://schemas.microsoft.com/office/2006/metadata/properties"/>
    <ds:schemaRef ds:uri="http://purl.org/dc/terms/"/>
    <ds:schemaRef ds:uri="f1ca5527-4d73-4ce9-b1ce-36fa22ecda61"/>
    <ds:schemaRef ds:uri="http://schemas.openxmlformats.org/package/2006/metadata/core-properties"/>
    <ds:schemaRef ds:uri="http://schemas.microsoft.com/office/2006/documentManagement/types"/>
    <ds:schemaRef ds:uri="3dc9000b-820f-4ca7-9747-1e0793ae1595"/>
    <ds:schemaRef ds:uri="http://www.w3.org/XML/1998/namespace"/>
    <ds:schemaRef ds:uri="http://purl.org/dc/dcmitype/"/>
  </ds:schemaRefs>
</ds:datastoreItem>
</file>

<file path=customXml/itemProps2.xml><?xml version="1.0" encoding="utf-8"?>
<ds:datastoreItem xmlns:ds="http://schemas.openxmlformats.org/officeDocument/2006/customXml" ds:itemID="{9F16F009-DBF7-445D-86F2-D269D4D5C9CA}">
  <ds:schemaRefs>
    <ds:schemaRef ds:uri="http://schemas.microsoft.com/sharepoint/v3/contenttype/forms"/>
  </ds:schemaRefs>
</ds:datastoreItem>
</file>

<file path=customXml/itemProps3.xml><?xml version="1.0" encoding="utf-8"?>
<ds:datastoreItem xmlns:ds="http://schemas.openxmlformats.org/officeDocument/2006/customXml" ds:itemID="{E65681D8-D955-4FCC-9752-6E901C9412E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1ca5527-4d73-4ce9-b1ce-36fa22ecda61"/>
    <ds:schemaRef ds:uri="3dc9000b-820f-4ca7-9747-1e0793ae159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Retrospect</Template>
  <TotalTime>3693</TotalTime>
  <Words>1231</Words>
  <Application>Microsoft Office PowerPoint</Application>
  <PresentationFormat>Widescreen</PresentationFormat>
  <Paragraphs>50</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Abadi Extra Light</vt:lpstr>
      <vt:lpstr>Arial</vt:lpstr>
      <vt:lpstr>Calisto MT</vt:lpstr>
      <vt:lpstr>Univers Condensed</vt:lpstr>
      <vt:lpstr>ChronicleVTI</vt:lpstr>
      <vt:lpstr>CUMULATIVE DIVVY TRIPS City of Chicago 2013-2026</vt:lpstr>
      <vt:lpstr>MONTHLY DIVVY TRIPS City of Chicago 2013-2026</vt:lpstr>
      <vt:lpstr>DAILY TRIPS &amp; TRIP DURATION City of Chicago 2013-2026</vt:lpstr>
      <vt:lpstr>DIVVY TRIPS BY COMMUNITY AREA City of Chicago 2013-2026</vt:lpstr>
      <vt:lpstr>COMMUNITY INDICATOR MAP [INSERT INDICATOR] [INDICATOR PERIOD]</vt:lpstr>
      <vt:lpstr>DIVVY TRIPS BY QUINTILE [INSERT INDICATOR] 2013-2026</vt:lpstr>
      <vt:lpstr>AVERAGE TRIP DURATION Selected Community Areas 2013-2026</vt:lpstr>
      <vt:lpstr>MONTHLY DIVVY TRIPS Selected Community Areas 2013-2026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Exercise #2: Divvy Ridership Trends</dc:title>
  <dc:creator>Smith, Christopher</dc:creator>
  <cp:lastModifiedBy>Christopher Smith</cp:lastModifiedBy>
  <cp:revision>12</cp:revision>
  <dcterms:created xsi:type="dcterms:W3CDTF">2022-04-04T19:58:17Z</dcterms:created>
  <dcterms:modified xsi:type="dcterms:W3CDTF">2026-09-29T16:11:43Z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0x010100C89E2DFAF961F54A84E2255C106EB7C6</vt:lpwstr>
  </property>
</Properties>
</file>