
<file path=[Content_Types].xml><?xml version="1.0" encoding="utf-8"?>
<Types xmlns="http://schemas.openxmlformats.org/package/2006/content-types">
  <Default Extension="bin" ContentType="image/unknown"/>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8"/>
  </p:notesMasterIdLst>
  <p:sldIdLst>
    <p:sldId id="619" r:id="rId2"/>
    <p:sldId id="620" r:id="rId3"/>
    <p:sldId id="4130" r:id="rId4"/>
    <p:sldId id="4131" r:id="rId5"/>
    <p:sldId id="697" r:id="rId6"/>
    <p:sldId id="648" r:id="rId7"/>
    <p:sldId id="649" r:id="rId8"/>
    <p:sldId id="650" r:id="rId9"/>
    <p:sldId id="652" r:id="rId10"/>
    <p:sldId id="682" r:id="rId11"/>
    <p:sldId id="667" r:id="rId12"/>
    <p:sldId id="645" r:id="rId13"/>
    <p:sldId id="641" r:id="rId14"/>
    <p:sldId id="299" r:id="rId15"/>
    <p:sldId id="656" r:id="rId16"/>
    <p:sldId id="655" r:id="rId17"/>
    <p:sldId id="657" r:id="rId18"/>
    <p:sldId id="643" r:id="rId19"/>
    <p:sldId id="683" r:id="rId20"/>
    <p:sldId id="642" r:id="rId21"/>
    <p:sldId id="674" r:id="rId22"/>
    <p:sldId id="684" r:id="rId23"/>
    <p:sldId id="659" r:id="rId24"/>
    <p:sldId id="660" r:id="rId25"/>
    <p:sldId id="673" r:id="rId26"/>
    <p:sldId id="677" r:id="rId27"/>
    <p:sldId id="679" r:id="rId28"/>
    <p:sldId id="617" r:id="rId29"/>
    <p:sldId id="637" r:id="rId30"/>
    <p:sldId id="443" r:id="rId31"/>
    <p:sldId id="454" r:id="rId32"/>
    <p:sldId id="453" r:id="rId33"/>
    <p:sldId id="334" r:id="rId34"/>
    <p:sldId id="340" r:id="rId35"/>
    <p:sldId id="668" r:id="rId36"/>
    <p:sldId id="693" r:id="rId37"/>
    <p:sldId id="694" r:id="rId38"/>
    <p:sldId id="680" r:id="rId39"/>
    <p:sldId id="263" r:id="rId40"/>
    <p:sldId id="698" r:id="rId41"/>
    <p:sldId id="664" r:id="rId42"/>
    <p:sldId id="676" r:id="rId43"/>
    <p:sldId id="293" r:id="rId44"/>
    <p:sldId id="692" r:id="rId45"/>
    <p:sldId id="695" r:id="rId46"/>
    <p:sldId id="4132" r:id="rId47"/>
    <p:sldId id="4133" r:id="rId48"/>
    <p:sldId id="4134" r:id="rId49"/>
    <p:sldId id="4135" r:id="rId50"/>
    <p:sldId id="4136" r:id="rId51"/>
    <p:sldId id="4137" r:id="rId52"/>
    <p:sldId id="636" r:id="rId53"/>
    <p:sldId id="447" r:id="rId54"/>
    <p:sldId id="439" r:id="rId55"/>
    <p:sldId id="634" r:id="rId56"/>
    <p:sldId id="445" r:id="rId57"/>
    <p:sldId id="446" r:id="rId58"/>
    <p:sldId id="440" r:id="rId59"/>
    <p:sldId id="441" r:id="rId60"/>
    <p:sldId id="442" r:id="rId61"/>
    <p:sldId id="628" r:id="rId62"/>
    <p:sldId id="699" r:id="rId63"/>
    <p:sldId id="351" r:id="rId64"/>
    <p:sldId id="356" r:id="rId65"/>
    <p:sldId id="358" r:id="rId66"/>
    <p:sldId id="357" r:id="rId67"/>
    <p:sldId id="359" r:id="rId68"/>
    <p:sldId id="362" r:id="rId69"/>
    <p:sldId id="364" r:id="rId70"/>
    <p:sldId id="365" r:id="rId71"/>
    <p:sldId id="366" r:id="rId72"/>
    <p:sldId id="367" r:id="rId73"/>
    <p:sldId id="400" r:id="rId74"/>
    <p:sldId id="631" r:id="rId75"/>
    <p:sldId id="632" r:id="rId76"/>
    <p:sldId id="700" r:id="rId7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94852"/>
    <a:srgbClr val="163F47"/>
    <a:srgbClr val="273F44"/>
    <a:srgbClr val="466C74"/>
    <a:srgbClr val="5F8087"/>
    <a:srgbClr val="2F55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4D41B7-2C80-4C59-9AF9-75254BDEB003}" v="15" dt="2026-10-07T00:40:02.6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54" autoAdjust="0"/>
    <p:restoredTop sz="81100" autoAdjust="0"/>
  </p:normalViewPr>
  <p:slideViewPr>
    <p:cSldViewPr snapToGrid="0">
      <p:cViewPr varScale="1">
        <p:scale>
          <a:sx n="51" d="100"/>
          <a:sy n="51" d="100"/>
        </p:scale>
        <p:origin x="1072" y="44"/>
      </p:cViewPr>
      <p:guideLst/>
    </p:cSldViewPr>
  </p:slideViewPr>
  <p:notesTextViewPr>
    <p:cViewPr>
      <p:scale>
        <a:sx n="3" d="2"/>
        <a:sy n="3" d="2"/>
      </p:scale>
      <p:origin x="0" y="0"/>
    </p:cViewPr>
  </p:notesTextViewPr>
  <p:sorterViewPr>
    <p:cViewPr>
      <p:scale>
        <a:sx n="60" d="100"/>
        <a:sy n="6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microsoft.com/office/2015/10/relationships/revisionInfo" Target="revisionInfo.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opher Smith" userId="f635bcaf-d701-437b-bffd-1a8f160c01d9" providerId="ADAL" clId="{321CF1EA-DDCA-4C73-9872-605BFFD8AB88}"/>
    <pc:docChg chg="undo custSel addSld delSld modSld sldOrd">
      <pc:chgData name="Christopher Smith" userId="f635bcaf-d701-437b-bffd-1a8f160c01d9" providerId="ADAL" clId="{321CF1EA-DDCA-4C73-9872-605BFFD8AB88}" dt="2026-10-07T00:37:36.453" v="185"/>
      <pc:docMkLst>
        <pc:docMk/>
      </pc:docMkLst>
      <pc:sldChg chg="del">
        <pc:chgData name="Christopher Smith" userId="f635bcaf-d701-437b-bffd-1a8f160c01d9" providerId="ADAL" clId="{321CF1EA-DDCA-4C73-9872-605BFFD8AB88}" dt="2026-10-06T15:17:43.888" v="0" actId="47"/>
        <pc:sldMkLst>
          <pc:docMk/>
          <pc:sldMk cId="0" sldId="259"/>
        </pc:sldMkLst>
      </pc:sldChg>
      <pc:sldChg chg="add">
        <pc:chgData name="Christopher Smith" userId="f635bcaf-d701-437b-bffd-1a8f160c01d9" providerId="ADAL" clId="{321CF1EA-DDCA-4C73-9872-605BFFD8AB88}" dt="2026-10-06T15:55:14.396" v="138"/>
        <pc:sldMkLst>
          <pc:docMk/>
          <pc:sldMk cId="306551537" sldId="263"/>
        </pc:sldMkLst>
      </pc:sldChg>
      <pc:sldChg chg="add">
        <pc:chgData name="Christopher Smith" userId="f635bcaf-d701-437b-bffd-1a8f160c01d9" providerId="ADAL" clId="{321CF1EA-DDCA-4C73-9872-605BFFD8AB88}" dt="2026-10-06T15:55:14.396" v="138"/>
        <pc:sldMkLst>
          <pc:docMk/>
          <pc:sldMk cId="842934183" sldId="293"/>
        </pc:sldMkLst>
      </pc:sldChg>
      <pc:sldChg chg="del">
        <pc:chgData name="Christopher Smith" userId="f635bcaf-d701-437b-bffd-1a8f160c01d9" providerId="ADAL" clId="{321CF1EA-DDCA-4C73-9872-605BFFD8AB88}" dt="2026-10-06T15:17:51.382" v="1" actId="47"/>
        <pc:sldMkLst>
          <pc:docMk/>
          <pc:sldMk cId="2165045810" sldId="297"/>
        </pc:sldMkLst>
      </pc:sldChg>
      <pc:sldChg chg="add">
        <pc:chgData name="Christopher Smith" userId="f635bcaf-d701-437b-bffd-1a8f160c01d9" providerId="ADAL" clId="{321CF1EA-DDCA-4C73-9872-605BFFD8AB88}" dt="2026-10-06T15:55:14.396" v="138"/>
        <pc:sldMkLst>
          <pc:docMk/>
          <pc:sldMk cId="1034464840" sldId="299"/>
        </pc:sldMkLst>
      </pc:sldChg>
      <pc:sldChg chg="del">
        <pc:chgData name="Christopher Smith" userId="f635bcaf-d701-437b-bffd-1a8f160c01d9" providerId="ADAL" clId="{321CF1EA-DDCA-4C73-9872-605BFFD8AB88}" dt="2026-10-06T15:17:51.382" v="1" actId="47"/>
        <pc:sldMkLst>
          <pc:docMk/>
          <pc:sldMk cId="4084195587" sldId="304"/>
        </pc:sldMkLst>
      </pc:sldChg>
      <pc:sldChg chg="add">
        <pc:chgData name="Christopher Smith" userId="f635bcaf-d701-437b-bffd-1a8f160c01d9" providerId="ADAL" clId="{321CF1EA-DDCA-4C73-9872-605BFFD8AB88}" dt="2026-10-06T16:01:43.708" v="145"/>
        <pc:sldMkLst>
          <pc:docMk/>
          <pc:sldMk cId="4224316791" sldId="334"/>
        </pc:sldMkLst>
      </pc:sldChg>
      <pc:sldChg chg="add">
        <pc:chgData name="Christopher Smith" userId="f635bcaf-d701-437b-bffd-1a8f160c01d9" providerId="ADAL" clId="{321CF1EA-DDCA-4C73-9872-605BFFD8AB88}" dt="2026-10-06T16:01:43.708" v="145"/>
        <pc:sldMkLst>
          <pc:docMk/>
          <pc:sldMk cId="3813961774" sldId="340"/>
        </pc:sldMkLst>
      </pc:sldChg>
      <pc:sldChg chg="add">
        <pc:chgData name="Christopher Smith" userId="f635bcaf-d701-437b-bffd-1a8f160c01d9" providerId="ADAL" clId="{321CF1EA-DDCA-4C73-9872-605BFFD8AB88}" dt="2026-10-06T15:58:43.411" v="140"/>
        <pc:sldMkLst>
          <pc:docMk/>
          <pc:sldMk cId="867143761" sldId="351"/>
        </pc:sldMkLst>
      </pc:sldChg>
      <pc:sldChg chg="add">
        <pc:chgData name="Christopher Smith" userId="f635bcaf-d701-437b-bffd-1a8f160c01d9" providerId="ADAL" clId="{321CF1EA-DDCA-4C73-9872-605BFFD8AB88}" dt="2026-10-06T15:58:43.411" v="140"/>
        <pc:sldMkLst>
          <pc:docMk/>
          <pc:sldMk cId="551557621" sldId="356"/>
        </pc:sldMkLst>
      </pc:sldChg>
      <pc:sldChg chg="add">
        <pc:chgData name="Christopher Smith" userId="f635bcaf-d701-437b-bffd-1a8f160c01d9" providerId="ADAL" clId="{321CF1EA-DDCA-4C73-9872-605BFFD8AB88}" dt="2026-10-06T15:58:43.411" v="140"/>
        <pc:sldMkLst>
          <pc:docMk/>
          <pc:sldMk cId="1959428835" sldId="357"/>
        </pc:sldMkLst>
      </pc:sldChg>
      <pc:sldChg chg="add">
        <pc:chgData name="Christopher Smith" userId="f635bcaf-d701-437b-bffd-1a8f160c01d9" providerId="ADAL" clId="{321CF1EA-DDCA-4C73-9872-605BFFD8AB88}" dt="2026-10-06T15:58:43.411" v="140"/>
        <pc:sldMkLst>
          <pc:docMk/>
          <pc:sldMk cId="2493612342" sldId="358"/>
        </pc:sldMkLst>
      </pc:sldChg>
      <pc:sldChg chg="add">
        <pc:chgData name="Christopher Smith" userId="f635bcaf-d701-437b-bffd-1a8f160c01d9" providerId="ADAL" clId="{321CF1EA-DDCA-4C73-9872-605BFFD8AB88}" dt="2026-10-06T15:58:43.411" v="140"/>
        <pc:sldMkLst>
          <pc:docMk/>
          <pc:sldMk cId="274819912" sldId="359"/>
        </pc:sldMkLst>
      </pc:sldChg>
      <pc:sldChg chg="add">
        <pc:chgData name="Christopher Smith" userId="f635bcaf-d701-437b-bffd-1a8f160c01d9" providerId="ADAL" clId="{321CF1EA-DDCA-4C73-9872-605BFFD8AB88}" dt="2026-10-06T15:58:43.411" v="140"/>
        <pc:sldMkLst>
          <pc:docMk/>
          <pc:sldMk cId="2291350152" sldId="362"/>
        </pc:sldMkLst>
      </pc:sldChg>
      <pc:sldChg chg="add">
        <pc:chgData name="Christopher Smith" userId="f635bcaf-d701-437b-bffd-1a8f160c01d9" providerId="ADAL" clId="{321CF1EA-DDCA-4C73-9872-605BFFD8AB88}" dt="2026-10-06T15:58:43.411" v="140"/>
        <pc:sldMkLst>
          <pc:docMk/>
          <pc:sldMk cId="1892181766" sldId="364"/>
        </pc:sldMkLst>
      </pc:sldChg>
      <pc:sldChg chg="add">
        <pc:chgData name="Christopher Smith" userId="f635bcaf-d701-437b-bffd-1a8f160c01d9" providerId="ADAL" clId="{321CF1EA-DDCA-4C73-9872-605BFFD8AB88}" dt="2026-10-06T15:58:43.411" v="140"/>
        <pc:sldMkLst>
          <pc:docMk/>
          <pc:sldMk cId="2076728212" sldId="365"/>
        </pc:sldMkLst>
      </pc:sldChg>
      <pc:sldChg chg="add">
        <pc:chgData name="Christopher Smith" userId="f635bcaf-d701-437b-bffd-1a8f160c01d9" providerId="ADAL" clId="{321CF1EA-DDCA-4C73-9872-605BFFD8AB88}" dt="2026-10-06T15:58:43.411" v="140"/>
        <pc:sldMkLst>
          <pc:docMk/>
          <pc:sldMk cId="1184593982" sldId="366"/>
        </pc:sldMkLst>
      </pc:sldChg>
      <pc:sldChg chg="add">
        <pc:chgData name="Christopher Smith" userId="f635bcaf-d701-437b-bffd-1a8f160c01d9" providerId="ADAL" clId="{321CF1EA-DDCA-4C73-9872-605BFFD8AB88}" dt="2026-10-06T15:58:43.411" v="140"/>
        <pc:sldMkLst>
          <pc:docMk/>
          <pc:sldMk cId="183637234" sldId="367"/>
        </pc:sldMkLst>
      </pc:sldChg>
      <pc:sldChg chg="add">
        <pc:chgData name="Christopher Smith" userId="f635bcaf-d701-437b-bffd-1a8f160c01d9" providerId="ADAL" clId="{321CF1EA-DDCA-4C73-9872-605BFFD8AB88}" dt="2026-10-06T15:58:43.411" v="140"/>
        <pc:sldMkLst>
          <pc:docMk/>
          <pc:sldMk cId="172119594" sldId="400"/>
        </pc:sldMkLst>
      </pc:sldChg>
      <pc:sldChg chg="add">
        <pc:chgData name="Christopher Smith" userId="f635bcaf-d701-437b-bffd-1a8f160c01d9" providerId="ADAL" clId="{321CF1EA-DDCA-4C73-9872-605BFFD8AB88}" dt="2026-10-06T15:58:43.411" v="140"/>
        <pc:sldMkLst>
          <pc:docMk/>
          <pc:sldMk cId="2636564925" sldId="439"/>
        </pc:sldMkLst>
      </pc:sldChg>
      <pc:sldChg chg="add">
        <pc:chgData name="Christopher Smith" userId="f635bcaf-d701-437b-bffd-1a8f160c01d9" providerId="ADAL" clId="{321CF1EA-DDCA-4C73-9872-605BFFD8AB88}" dt="2026-10-06T15:58:43.411" v="140"/>
        <pc:sldMkLst>
          <pc:docMk/>
          <pc:sldMk cId="172828693" sldId="440"/>
        </pc:sldMkLst>
      </pc:sldChg>
      <pc:sldChg chg="add">
        <pc:chgData name="Christopher Smith" userId="f635bcaf-d701-437b-bffd-1a8f160c01d9" providerId="ADAL" clId="{321CF1EA-DDCA-4C73-9872-605BFFD8AB88}" dt="2026-10-06T15:58:43.411" v="140"/>
        <pc:sldMkLst>
          <pc:docMk/>
          <pc:sldMk cId="2003195307" sldId="441"/>
        </pc:sldMkLst>
      </pc:sldChg>
      <pc:sldChg chg="add">
        <pc:chgData name="Christopher Smith" userId="f635bcaf-d701-437b-bffd-1a8f160c01d9" providerId="ADAL" clId="{321CF1EA-DDCA-4C73-9872-605BFFD8AB88}" dt="2026-10-06T15:58:43.411" v="140"/>
        <pc:sldMkLst>
          <pc:docMk/>
          <pc:sldMk cId="2630323185" sldId="442"/>
        </pc:sldMkLst>
      </pc:sldChg>
      <pc:sldChg chg="add">
        <pc:chgData name="Christopher Smith" userId="f635bcaf-d701-437b-bffd-1a8f160c01d9" providerId="ADAL" clId="{321CF1EA-DDCA-4C73-9872-605BFFD8AB88}" dt="2026-10-06T16:01:43.708" v="145"/>
        <pc:sldMkLst>
          <pc:docMk/>
          <pc:sldMk cId="507539431" sldId="443"/>
        </pc:sldMkLst>
      </pc:sldChg>
      <pc:sldChg chg="add">
        <pc:chgData name="Christopher Smith" userId="f635bcaf-d701-437b-bffd-1a8f160c01d9" providerId="ADAL" clId="{321CF1EA-DDCA-4C73-9872-605BFFD8AB88}" dt="2026-10-06T15:58:43.411" v="140"/>
        <pc:sldMkLst>
          <pc:docMk/>
          <pc:sldMk cId="147759124" sldId="445"/>
        </pc:sldMkLst>
      </pc:sldChg>
      <pc:sldChg chg="add">
        <pc:chgData name="Christopher Smith" userId="f635bcaf-d701-437b-bffd-1a8f160c01d9" providerId="ADAL" clId="{321CF1EA-DDCA-4C73-9872-605BFFD8AB88}" dt="2026-10-06T15:58:43.411" v="140"/>
        <pc:sldMkLst>
          <pc:docMk/>
          <pc:sldMk cId="3310882276" sldId="446"/>
        </pc:sldMkLst>
      </pc:sldChg>
      <pc:sldChg chg="add">
        <pc:chgData name="Christopher Smith" userId="f635bcaf-d701-437b-bffd-1a8f160c01d9" providerId="ADAL" clId="{321CF1EA-DDCA-4C73-9872-605BFFD8AB88}" dt="2026-10-06T15:58:43.411" v="140"/>
        <pc:sldMkLst>
          <pc:docMk/>
          <pc:sldMk cId="1664113556" sldId="447"/>
        </pc:sldMkLst>
      </pc:sldChg>
      <pc:sldChg chg="add">
        <pc:chgData name="Christopher Smith" userId="f635bcaf-d701-437b-bffd-1a8f160c01d9" providerId="ADAL" clId="{321CF1EA-DDCA-4C73-9872-605BFFD8AB88}" dt="2026-10-06T16:01:43.708" v="145"/>
        <pc:sldMkLst>
          <pc:docMk/>
          <pc:sldMk cId="1702605970" sldId="453"/>
        </pc:sldMkLst>
      </pc:sldChg>
      <pc:sldChg chg="add">
        <pc:chgData name="Christopher Smith" userId="f635bcaf-d701-437b-bffd-1a8f160c01d9" providerId="ADAL" clId="{321CF1EA-DDCA-4C73-9872-605BFFD8AB88}" dt="2026-10-06T16:01:43.708" v="145"/>
        <pc:sldMkLst>
          <pc:docMk/>
          <pc:sldMk cId="423559821" sldId="454"/>
        </pc:sldMkLst>
      </pc:sldChg>
      <pc:sldChg chg="del">
        <pc:chgData name="Christopher Smith" userId="f635bcaf-d701-437b-bffd-1a8f160c01d9" providerId="ADAL" clId="{321CF1EA-DDCA-4C73-9872-605BFFD8AB88}" dt="2026-10-06T15:17:43.888" v="0" actId="47"/>
        <pc:sldMkLst>
          <pc:docMk/>
          <pc:sldMk cId="4152580558" sldId="491"/>
        </pc:sldMkLst>
      </pc:sldChg>
      <pc:sldChg chg="add del">
        <pc:chgData name="Christopher Smith" userId="f635bcaf-d701-437b-bffd-1a8f160c01d9" providerId="ADAL" clId="{321CF1EA-DDCA-4C73-9872-605BFFD8AB88}" dt="2026-10-06T15:59:01.471" v="141" actId="47"/>
        <pc:sldMkLst>
          <pc:docMk/>
          <pc:sldMk cId="2388391330" sldId="502"/>
        </pc:sldMkLst>
      </pc:sldChg>
      <pc:sldChg chg="add del">
        <pc:chgData name="Christopher Smith" userId="f635bcaf-d701-437b-bffd-1a8f160c01d9" providerId="ADAL" clId="{321CF1EA-DDCA-4C73-9872-605BFFD8AB88}" dt="2026-10-06T15:59:01.471" v="141" actId="47"/>
        <pc:sldMkLst>
          <pc:docMk/>
          <pc:sldMk cId="547785377" sldId="503"/>
        </pc:sldMkLst>
      </pc:sldChg>
      <pc:sldChg chg="add del">
        <pc:chgData name="Christopher Smith" userId="f635bcaf-d701-437b-bffd-1a8f160c01d9" providerId="ADAL" clId="{321CF1EA-DDCA-4C73-9872-605BFFD8AB88}" dt="2026-10-06T15:59:01.471" v="141" actId="47"/>
        <pc:sldMkLst>
          <pc:docMk/>
          <pc:sldMk cId="744910683" sldId="504"/>
        </pc:sldMkLst>
      </pc:sldChg>
      <pc:sldChg chg="add del">
        <pc:chgData name="Christopher Smith" userId="f635bcaf-d701-437b-bffd-1a8f160c01d9" providerId="ADAL" clId="{321CF1EA-DDCA-4C73-9872-605BFFD8AB88}" dt="2026-10-06T15:59:01.471" v="141" actId="47"/>
        <pc:sldMkLst>
          <pc:docMk/>
          <pc:sldMk cId="985182212" sldId="505"/>
        </pc:sldMkLst>
      </pc:sldChg>
      <pc:sldChg chg="add del">
        <pc:chgData name="Christopher Smith" userId="f635bcaf-d701-437b-bffd-1a8f160c01d9" providerId="ADAL" clId="{321CF1EA-DDCA-4C73-9872-605BFFD8AB88}" dt="2026-10-06T15:59:01.471" v="141" actId="47"/>
        <pc:sldMkLst>
          <pc:docMk/>
          <pc:sldMk cId="1959073160" sldId="506"/>
        </pc:sldMkLst>
      </pc:sldChg>
      <pc:sldChg chg="del">
        <pc:chgData name="Christopher Smith" userId="f635bcaf-d701-437b-bffd-1a8f160c01d9" providerId="ADAL" clId="{321CF1EA-DDCA-4C73-9872-605BFFD8AB88}" dt="2026-10-06T15:17:43.888" v="0" actId="47"/>
        <pc:sldMkLst>
          <pc:docMk/>
          <pc:sldMk cId="3210864804" sldId="541"/>
        </pc:sldMkLst>
      </pc:sldChg>
      <pc:sldChg chg="del">
        <pc:chgData name="Christopher Smith" userId="f635bcaf-d701-437b-bffd-1a8f160c01d9" providerId="ADAL" clId="{321CF1EA-DDCA-4C73-9872-605BFFD8AB88}" dt="2026-10-06T15:17:51.382" v="1" actId="47"/>
        <pc:sldMkLst>
          <pc:docMk/>
          <pc:sldMk cId="2507761155" sldId="543"/>
        </pc:sldMkLst>
      </pc:sldChg>
      <pc:sldChg chg="del">
        <pc:chgData name="Christopher Smith" userId="f635bcaf-d701-437b-bffd-1a8f160c01d9" providerId="ADAL" clId="{321CF1EA-DDCA-4C73-9872-605BFFD8AB88}" dt="2026-10-06T15:17:43.888" v="0" actId="47"/>
        <pc:sldMkLst>
          <pc:docMk/>
          <pc:sldMk cId="2658846872" sldId="544"/>
        </pc:sldMkLst>
      </pc:sldChg>
      <pc:sldChg chg="add del">
        <pc:chgData name="Christopher Smith" userId="f635bcaf-d701-437b-bffd-1a8f160c01d9" providerId="ADAL" clId="{321CF1EA-DDCA-4C73-9872-605BFFD8AB88}" dt="2026-10-06T15:59:01.471" v="141" actId="47"/>
        <pc:sldMkLst>
          <pc:docMk/>
          <pc:sldMk cId="2137843328" sldId="554"/>
        </pc:sldMkLst>
      </pc:sldChg>
      <pc:sldChg chg="del">
        <pc:chgData name="Christopher Smith" userId="f635bcaf-d701-437b-bffd-1a8f160c01d9" providerId="ADAL" clId="{321CF1EA-DDCA-4C73-9872-605BFFD8AB88}" dt="2026-10-06T15:17:43.888" v="0" actId="47"/>
        <pc:sldMkLst>
          <pc:docMk/>
          <pc:sldMk cId="2192537451" sldId="603"/>
        </pc:sldMkLst>
      </pc:sldChg>
      <pc:sldChg chg="del">
        <pc:chgData name="Christopher Smith" userId="f635bcaf-d701-437b-bffd-1a8f160c01d9" providerId="ADAL" clId="{321CF1EA-DDCA-4C73-9872-605BFFD8AB88}" dt="2026-10-06T15:17:43.888" v="0" actId="47"/>
        <pc:sldMkLst>
          <pc:docMk/>
          <pc:sldMk cId="1427780282" sldId="605"/>
        </pc:sldMkLst>
      </pc:sldChg>
      <pc:sldChg chg="del">
        <pc:chgData name="Christopher Smith" userId="f635bcaf-d701-437b-bffd-1a8f160c01d9" providerId="ADAL" clId="{321CF1EA-DDCA-4C73-9872-605BFFD8AB88}" dt="2026-10-06T15:17:43.888" v="0" actId="47"/>
        <pc:sldMkLst>
          <pc:docMk/>
          <pc:sldMk cId="243667623" sldId="606"/>
        </pc:sldMkLst>
      </pc:sldChg>
      <pc:sldChg chg="modSp add del mod ord">
        <pc:chgData name="Christopher Smith" userId="f635bcaf-d701-437b-bffd-1a8f160c01d9" providerId="ADAL" clId="{321CF1EA-DDCA-4C73-9872-605BFFD8AB88}" dt="2026-10-07T00:37:25.482" v="184" actId="2696"/>
        <pc:sldMkLst>
          <pc:docMk/>
          <pc:sldMk cId="1011201378" sldId="617"/>
        </pc:sldMkLst>
        <pc:spChg chg="mod">
          <ac:chgData name="Christopher Smith" userId="f635bcaf-d701-437b-bffd-1a8f160c01d9" providerId="ADAL" clId="{321CF1EA-DDCA-4C73-9872-605BFFD8AB88}" dt="2026-10-07T00:36:36.274" v="181" actId="20577"/>
          <ac:spMkLst>
            <pc:docMk/>
            <pc:sldMk cId="1011201378" sldId="617"/>
            <ac:spMk id="56" creationId="{96A26AE6-E88F-42C9-902C-E5D1BE160445}"/>
          </ac:spMkLst>
        </pc:spChg>
      </pc:sldChg>
      <pc:sldChg chg="add">
        <pc:chgData name="Christopher Smith" userId="f635bcaf-d701-437b-bffd-1a8f160c01d9" providerId="ADAL" clId="{321CF1EA-DDCA-4C73-9872-605BFFD8AB88}" dt="2026-10-07T00:37:36.453" v="185"/>
        <pc:sldMkLst>
          <pc:docMk/>
          <pc:sldMk cId="3608948258" sldId="617"/>
        </pc:sldMkLst>
      </pc:sldChg>
      <pc:sldChg chg="add">
        <pc:chgData name="Christopher Smith" userId="f635bcaf-d701-437b-bffd-1a8f160c01d9" providerId="ADAL" clId="{321CF1EA-DDCA-4C73-9872-605BFFD8AB88}" dt="2026-10-06T15:59:41.401" v="142"/>
        <pc:sldMkLst>
          <pc:docMk/>
          <pc:sldMk cId="538875387" sldId="619"/>
        </pc:sldMkLst>
      </pc:sldChg>
      <pc:sldChg chg="del">
        <pc:chgData name="Christopher Smith" userId="f635bcaf-d701-437b-bffd-1a8f160c01d9" providerId="ADAL" clId="{321CF1EA-DDCA-4C73-9872-605BFFD8AB88}" dt="2026-10-06T15:17:43.888" v="0" actId="47"/>
        <pc:sldMkLst>
          <pc:docMk/>
          <pc:sldMk cId="1419954378" sldId="620"/>
        </pc:sldMkLst>
      </pc:sldChg>
      <pc:sldChg chg="add">
        <pc:chgData name="Christopher Smith" userId="f635bcaf-d701-437b-bffd-1a8f160c01d9" providerId="ADAL" clId="{321CF1EA-DDCA-4C73-9872-605BFFD8AB88}" dt="2026-10-06T15:59:41.401" v="142"/>
        <pc:sldMkLst>
          <pc:docMk/>
          <pc:sldMk cId="2582602288" sldId="620"/>
        </pc:sldMkLst>
      </pc:sldChg>
      <pc:sldChg chg="del">
        <pc:chgData name="Christopher Smith" userId="f635bcaf-d701-437b-bffd-1a8f160c01d9" providerId="ADAL" clId="{321CF1EA-DDCA-4C73-9872-605BFFD8AB88}" dt="2026-10-06T15:17:43.888" v="0" actId="47"/>
        <pc:sldMkLst>
          <pc:docMk/>
          <pc:sldMk cId="1623210828" sldId="626"/>
        </pc:sldMkLst>
      </pc:sldChg>
      <pc:sldChg chg="add">
        <pc:chgData name="Christopher Smith" userId="f635bcaf-d701-437b-bffd-1a8f160c01d9" providerId="ADAL" clId="{321CF1EA-DDCA-4C73-9872-605BFFD8AB88}" dt="2026-10-06T15:58:43.411" v="140"/>
        <pc:sldMkLst>
          <pc:docMk/>
          <pc:sldMk cId="2753149493" sldId="628"/>
        </pc:sldMkLst>
      </pc:sldChg>
      <pc:sldChg chg="del">
        <pc:chgData name="Christopher Smith" userId="f635bcaf-d701-437b-bffd-1a8f160c01d9" providerId="ADAL" clId="{321CF1EA-DDCA-4C73-9872-605BFFD8AB88}" dt="2026-10-06T15:17:43.888" v="0" actId="47"/>
        <pc:sldMkLst>
          <pc:docMk/>
          <pc:sldMk cId="1168041078" sldId="629"/>
        </pc:sldMkLst>
      </pc:sldChg>
      <pc:sldChg chg="del">
        <pc:chgData name="Christopher Smith" userId="f635bcaf-d701-437b-bffd-1a8f160c01d9" providerId="ADAL" clId="{321CF1EA-DDCA-4C73-9872-605BFFD8AB88}" dt="2026-10-06T15:17:43.888" v="0" actId="47"/>
        <pc:sldMkLst>
          <pc:docMk/>
          <pc:sldMk cId="2939723229" sldId="630"/>
        </pc:sldMkLst>
      </pc:sldChg>
      <pc:sldChg chg="add">
        <pc:chgData name="Christopher Smith" userId="f635bcaf-d701-437b-bffd-1a8f160c01d9" providerId="ADAL" clId="{321CF1EA-DDCA-4C73-9872-605BFFD8AB88}" dt="2026-10-06T15:58:43.411" v="140"/>
        <pc:sldMkLst>
          <pc:docMk/>
          <pc:sldMk cId="2784326147" sldId="631"/>
        </pc:sldMkLst>
      </pc:sldChg>
      <pc:sldChg chg="del">
        <pc:chgData name="Christopher Smith" userId="f635bcaf-d701-437b-bffd-1a8f160c01d9" providerId="ADAL" clId="{321CF1EA-DDCA-4C73-9872-605BFFD8AB88}" dt="2026-10-06T15:17:43.888" v="0" actId="47"/>
        <pc:sldMkLst>
          <pc:docMk/>
          <pc:sldMk cId="3325569443" sldId="631"/>
        </pc:sldMkLst>
      </pc:sldChg>
      <pc:sldChg chg="add">
        <pc:chgData name="Christopher Smith" userId="f635bcaf-d701-437b-bffd-1a8f160c01d9" providerId="ADAL" clId="{321CF1EA-DDCA-4C73-9872-605BFFD8AB88}" dt="2026-10-06T15:58:43.411" v="140"/>
        <pc:sldMkLst>
          <pc:docMk/>
          <pc:sldMk cId="2384797953" sldId="632"/>
        </pc:sldMkLst>
      </pc:sldChg>
      <pc:sldChg chg="del">
        <pc:chgData name="Christopher Smith" userId="f635bcaf-d701-437b-bffd-1a8f160c01d9" providerId="ADAL" clId="{321CF1EA-DDCA-4C73-9872-605BFFD8AB88}" dt="2026-10-06T15:17:51.382" v="1" actId="47"/>
        <pc:sldMkLst>
          <pc:docMk/>
          <pc:sldMk cId="3122650170" sldId="632"/>
        </pc:sldMkLst>
      </pc:sldChg>
      <pc:sldChg chg="add">
        <pc:chgData name="Christopher Smith" userId="f635bcaf-d701-437b-bffd-1a8f160c01d9" providerId="ADAL" clId="{321CF1EA-DDCA-4C73-9872-605BFFD8AB88}" dt="2026-10-06T15:58:43.411" v="140"/>
        <pc:sldMkLst>
          <pc:docMk/>
          <pc:sldMk cId="1467510317" sldId="634"/>
        </pc:sldMkLst>
      </pc:sldChg>
      <pc:sldChg chg="add">
        <pc:chgData name="Christopher Smith" userId="f635bcaf-d701-437b-bffd-1a8f160c01d9" providerId="ADAL" clId="{321CF1EA-DDCA-4C73-9872-605BFFD8AB88}" dt="2026-10-06T15:58:43.411" v="140"/>
        <pc:sldMkLst>
          <pc:docMk/>
          <pc:sldMk cId="1813128679" sldId="636"/>
        </pc:sldMkLst>
      </pc:sldChg>
      <pc:sldChg chg="add">
        <pc:chgData name="Christopher Smith" userId="f635bcaf-d701-437b-bffd-1a8f160c01d9" providerId="ADAL" clId="{321CF1EA-DDCA-4C73-9872-605BFFD8AB88}" dt="2026-10-07T00:37:36.453" v="185"/>
        <pc:sldMkLst>
          <pc:docMk/>
          <pc:sldMk cId="543295813" sldId="637"/>
        </pc:sldMkLst>
      </pc:sldChg>
      <pc:sldChg chg="add del ord">
        <pc:chgData name="Christopher Smith" userId="f635bcaf-d701-437b-bffd-1a8f160c01d9" providerId="ADAL" clId="{321CF1EA-DDCA-4C73-9872-605BFFD8AB88}" dt="2026-10-07T00:37:25.482" v="184" actId="2696"/>
        <pc:sldMkLst>
          <pc:docMk/>
          <pc:sldMk cId="2419927861" sldId="637"/>
        </pc:sldMkLst>
      </pc:sldChg>
      <pc:sldChg chg="add">
        <pc:chgData name="Christopher Smith" userId="f635bcaf-d701-437b-bffd-1a8f160c01d9" providerId="ADAL" clId="{321CF1EA-DDCA-4C73-9872-605BFFD8AB88}" dt="2026-10-06T15:55:14.396" v="138"/>
        <pc:sldMkLst>
          <pc:docMk/>
          <pc:sldMk cId="2791167773" sldId="641"/>
        </pc:sldMkLst>
      </pc:sldChg>
      <pc:sldChg chg="add">
        <pc:chgData name="Christopher Smith" userId="f635bcaf-d701-437b-bffd-1a8f160c01d9" providerId="ADAL" clId="{321CF1EA-DDCA-4C73-9872-605BFFD8AB88}" dt="2026-10-06T15:55:14.396" v="138"/>
        <pc:sldMkLst>
          <pc:docMk/>
          <pc:sldMk cId="638438612" sldId="642"/>
        </pc:sldMkLst>
      </pc:sldChg>
      <pc:sldChg chg="add">
        <pc:chgData name="Christopher Smith" userId="f635bcaf-d701-437b-bffd-1a8f160c01d9" providerId="ADAL" clId="{321CF1EA-DDCA-4C73-9872-605BFFD8AB88}" dt="2026-10-06T15:55:14.396" v="138"/>
        <pc:sldMkLst>
          <pc:docMk/>
          <pc:sldMk cId="1566128347" sldId="643"/>
        </pc:sldMkLst>
      </pc:sldChg>
      <pc:sldChg chg="add">
        <pc:chgData name="Christopher Smith" userId="f635bcaf-d701-437b-bffd-1a8f160c01d9" providerId="ADAL" clId="{321CF1EA-DDCA-4C73-9872-605BFFD8AB88}" dt="2026-10-06T15:55:14.396" v="138"/>
        <pc:sldMkLst>
          <pc:docMk/>
          <pc:sldMk cId="1173954617" sldId="645"/>
        </pc:sldMkLst>
      </pc:sldChg>
      <pc:sldChg chg="add">
        <pc:chgData name="Christopher Smith" userId="f635bcaf-d701-437b-bffd-1a8f160c01d9" providerId="ADAL" clId="{321CF1EA-DDCA-4C73-9872-605BFFD8AB88}" dt="2026-10-06T15:55:14.396" v="138"/>
        <pc:sldMkLst>
          <pc:docMk/>
          <pc:sldMk cId="2608254877" sldId="655"/>
        </pc:sldMkLst>
      </pc:sldChg>
      <pc:sldChg chg="add">
        <pc:chgData name="Christopher Smith" userId="f635bcaf-d701-437b-bffd-1a8f160c01d9" providerId="ADAL" clId="{321CF1EA-DDCA-4C73-9872-605BFFD8AB88}" dt="2026-10-06T15:55:14.396" v="138"/>
        <pc:sldMkLst>
          <pc:docMk/>
          <pc:sldMk cId="1445075613" sldId="656"/>
        </pc:sldMkLst>
      </pc:sldChg>
      <pc:sldChg chg="add">
        <pc:chgData name="Christopher Smith" userId="f635bcaf-d701-437b-bffd-1a8f160c01d9" providerId="ADAL" clId="{321CF1EA-DDCA-4C73-9872-605BFFD8AB88}" dt="2026-10-06T15:55:14.396" v="138"/>
        <pc:sldMkLst>
          <pc:docMk/>
          <pc:sldMk cId="1228825202" sldId="657"/>
        </pc:sldMkLst>
      </pc:sldChg>
      <pc:sldChg chg="add">
        <pc:chgData name="Christopher Smith" userId="f635bcaf-d701-437b-bffd-1a8f160c01d9" providerId="ADAL" clId="{321CF1EA-DDCA-4C73-9872-605BFFD8AB88}" dt="2026-10-06T15:55:14.396" v="138"/>
        <pc:sldMkLst>
          <pc:docMk/>
          <pc:sldMk cId="276440242" sldId="659"/>
        </pc:sldMkLst>
      </pc:sldChg>
      <pc:sldChg chg="add">
        <pc:chgData name="Christopher Smith" userId="f635bcaf-d701-437b-bffd-1a8f160c01d9" providerId="ADAL" clId="{321CF1EA-DDCA-4C73-9872-605BFFD8AB88}" dt="2026-10-06T15:55:14.396" v="138"/>
        <pc:sldMkLst>
          <pc:docMk/>
          <pc:sldMk cId="311880944" sldId="660"/>
        </pc:sldMkLst>
      </pc:sldChg>
      <pc:sldChg chg="add">
        <pc:chgData name="Christopher Smith" userId="f635bcaf-d701-437b-bffd-1a8f160c01d9" providerId="ADAL" clId="{321CF1EA-DDCA-4C73-9872-605BFFD8AB88}" dt="2026-10-06T15:55:14.396" v="138"/>
        <pc:sldMkLst>
          <pc:docMk/>
          <pc:sldMk cId="3584962984" sldId="664"/>
        </pc:sldMkLst>
      </pc:sldChg>
      <pc:sldChg chg="add">
        <pc:chgData name="Christopher Smith" userId="f635bcaf-d701-437b-bffd-1a8f160c01d9" providerId="ADAL" clId="{321CF1EA-DDCA-4C73-9872-605BFFD8AB88}" dt="2026-10-06T15:55:14.396" v="138"/>
        <pc:sldMkLst>
          <pc:docMk/>
          <pc:sldMk cId="2311133402" sldId="667"/>
        </pc:sldMkLst>
      </pc:sldChg>
      <pc:sldChg chg="add">
        <pc:chgData name="Christopher Smith" userId="f635bcaf-d701-437b-bffd-1a8f160c01d9" providerId="ADAL" clId="{321CF1EA-DDCA-4C73-9872-605BFFD8AB88}" dt="2026-10-06T15:55:14.396" v="138"/>
        <pc:sldMkLst>
          <pc:docMk/>
          <pc:sldMk cId="3359003250" sldId="668"/>
        </pc:sldMkLst>
      </pc:sldChg>
      <pc:sldChg chg="add">
        <pc:chgData name="Christopher Smith" userId="f635bcaf-d701-437b-bffd-1a8f160c01d9" providerId="ADAL" clId="{321CF1EA-DDCA-4C73-9872-605BFFD8AB88}" dt="2026-10-06T15:55:14.396" v="138"/>
        <pc:sldMkLst>
          <pc:docMk/>
          <pc:sldMk cId="237076018" sldId="673"/>
        </pc:sldMkLst>
      </pc:sldChg>
      <pc:sldChg chg="add">
        <pc:chgData name="Christopher Smith" userId="f635bcaf-d701-437b-bffd-1a8f160c01d9" providerId="ADAL" clId="{321CF1EA-DDCA-4C73-9872-605BFFD8AB88}" dt="2026-10-06T15:55:14.396" v="138"/>
        <pc:sldMkLst>
          <pc:docMk/>
          <pc:sldMk cId="1779555033" sldId="674"/>
        </pc:sldMkLst>
      </pc:sldChg>
      <pc:sldChg chg="add">
        <pc:chgData name="Christopher Smith" userId="f635bcaf-d701-437b-bffd-1a8f160c01d9" providerId="ADAL" clId="{321CF1EA-DDCA-4C73-9872-605BFFD8AB88}" dt="2026-10-06T15:55:14.396" v="138"/>
        <pc:sldMkLst>
          <pc:docMk/>
          <pc:sldMk cId="1227406671" sldId="676"/>
        </pc:sldMkLst>
      </pc:sldChg>
      <pc:sldChg chg="add">
        <pc:chgData name="Christopher Smith" userId="f635bcaf-d701-437b-bffd-1a8f160c01d9" providerId="ADAL" clId="{321CF1EA-DDCA-4C73-9872-605BFFD8AB88}" dt="2026-10-06T15:55:14.396" v="138"/>
        <pc:sldMkLst>
          <pc:docMk/>
          <pc:sldMk cId="2548539550" sldId="677"/>
        </pc:sldMkLst>
      </pc:sldChg>
      <pc:sldChg chg="add">
        <pc:chgData name="Christopher Smith" userId="f635bcaf-d701-437b-bffd-1a8f160c01d9" providerId="ADAL" clId="{321CF1EA-DDCA-4C73-9872-605BFFD8AB88}" dt="2026-10-06T15:55:14.396" v="138"/>
        <pc:sldMkLst>
          <pc:docMk/>
          <pc:sldMk cId="2932991542" sldId="679"/>
        </pc:sldMkLst>
      </pc:sldChg>
      <pc:sldChg chg="add">
        <pc:chgData name="Christopher Smith" userId="f635bcaf-d701-437b-bffd-1a8f160c01d9" providerId="ADAL" clId="{321CF1EA-DDCA-4C73-9872-605BFFD8AB88}" dt="2026-10-06T15:55:14.396" v="138"/>
        <pc:sldMkLst>
          <pc:docMk/>
          <pc:sldMk cId="2911970199" sldId="680"/>
        </pc:sldMkLst>
      </pc:sldChg>
      <pc:sldChg chg="add">
        <pc:chgData name="Christopher Smith" userId="f635bcaf-d701-437b-bffd-1a8f160c01d9" providerId="ADAL" clId="{321CF1EA-DDCA-4C73-9872-605BFFD8AB88}" dt="2026-10-06T15:55:14.396" v="138"/>
        <pc:sldMkLst>
          <pc:docMk/>
          <pc:sldMk cId="3024487894" sldId="682"/>
        </pc:sldMkLst>
      </pc:sldChg>
      <pc:sldChg chg="add">
        <pc:chgData name="Christopher Smith" userId="f635bcaf-d701-437b-bffd-1a8f160c01d9" providerId="ADAL" clId="{321CF1EA-DDCA-4C73-9872-605BFFD8AB88}" dt="2026-10-06T15:55:14.396" v="138"/>
        <pc:sldMkLst>
          <pc:docMk/>
          <pc:sldMk cId="1106744546" sldId="683"/>
        </pc:sldMkLst>
      </pc:sldChg>
      <pc:sldChg chg="add">
        <pc:chgData name="Christopher Smith" userId="f635bcaf-d701-437b-bffd-1a8f160c01d9" providerId="ADAL" clId="{321CF1EA-DDCA-4C73-9872-605BFFD8AB88}" dt="2026-10-06T15:55:14.396" v="138"/>
        <pc:sldMkLst>
          <pc:docMk/>
          <pc:sldMk cId="3248356786" sldId="684"/>
        </pc:sldMkLst>
      </pc:sldChg>
      <pc:sldChg chg="add">
        <pc:chgData name="Christopher Smith" userId="f635bcaf-d701-437b-bffd-1a8f160c01d9" providerId="ADAL" clId="{321CF1EA-DDCA-4C73-9872-605BFFD8AB88}" dt="2026-10-06T15:55:14.396" v="138"/>
        <pc:sldMkLst>
          <pc:docMk/>
          <pc:sldMk cId="1496793030" sldId="692"/>
        </pc:sldMkLst>
      </pc:sldChg>
      <pc:sldChg chg="add">
        <pc:chgData name="Christopher Smith" userId="f635bcaf-d701-437b-bffd-1a8f160c01d9" providerId="ADAL" clId="{321CF1EA-DDCA-4C73-9872-605BFFD8AB88}" dt="2026-10-06T15:55:14.396" v="138"/>
        <pc:sldMkLst>
          <pc:docMk/>
          <pc:sldMk cId="2229296753" sldId="693"/>
        </pc:sldMkLst>
      </pc:sldChg>
      <pc:sldChg chg="add">
        <pc:chgData name="Christopher Smith" userId="f635bcaf-d701-437b-bffd-1a8f160c01d9" providerId="ADAL" clId="{321CF1EA-DDCA-4C73-9872-605BFFD8AB88}" dt="2026-10-06T15:55:14.396" v="138"/>
        <pc:sldMkLst>
          <pc:docMk/>
          <pc:sldMk cId="3898507397" sldId="694"/>
        </pc:sldMkLst>
      </pc:sldChg>
      <pc:sldChg chg="add">
        <pc:chgData name="Christopher Smith" userId="f635bcaf-d701-437b-bffd-1a8f160c01d9" providerId="ADAL" clId="{321CF1EA-DDCA-4C73-9872-605BFFD8AB88}" dt="2026-10-06T15:55:14.396" v="138"/>
        <pc:sldMkLst>
          <pc:docMk/>
          <pc:sldMk cId="206814621" sldId="695"/>
        </pc:sldMkLst>
      </pc:sldChg>
      <pc:sldChg chg="add">
        <pc:chgData name="Christopher Smith" userId="f635bcaf-d701-437b-bffd-1a8f160c01d9" providerId="ADAL" clId="{321CF1EA-DDCA-4C73-9872-605BFFD8AB88}" dt="2026-10-06T15:51:47.368" v="117"/>
        <pc:sldMkLst>
          <pc:docMk/>
          <pc:sldMk cId="1706647377" sldId="697"/>
        </pc:sldMkLst>
      </pc:sldChg>
      <pc:sldChg chg="del">
        <pc:chgData name="Christopher Smith" userId="f635bcaf-d701-437b-bffd-1a8f160c01d9" providerId="ADAL" clId="{321CF1EA-DDCA-4C73-9872-605BFFD8AB88}" dt="2026-10-06T15:17:43.888" v="0" actId="47"/>
        <pc:sldMkLst>
          <pc:docMk/>
          <pc:sldMk cId="1751743851" sldId="698"/>
        </pc:sldMkLst>
      </pc:sldChg>
      <pc:sldChg chg="add">
        <pc:chgData name="Christopher Smith" userId="f635bcaf-d701-437b-bffd-1a8f160c01d9" providerId="ADAL" clId="{321CF1EA-DDCA-4C73-9872-605BFFD8AB88}" dt="2026-10-06T15:55:14.396" v="138"/>
        <pc:sldMkLst>
          <pc:docMk/>
          <pc:sldMk cId="3470180430" sldId="698"/>
        </pc:sldMkLst>
      </pc:sldChg>
      <pc:sldChg chg="add">
        <pc:chgData name="Christopher Smith" userId="f635bcaf-d701-437b-bffd-1a8f160c01d9" providerId="ADAL" clId="{321CF1EA-DDCA-4C73-9872-605BFFD8AB88}" dt="2026-10-06T15:58:43.411" v="140"/>
        <pc:sldMkLst>
          <pc:docMk/>
          <pc:sldMk cId="3085156853" sldId="699"/>
        </pc:sldMkLst>
      </pc:sldChg>
      <pc:sldChg chg="add">
        <pc:chgData name="Christopher Smith" userId="f635bcaf-d701-437b-bffd-1a8f160c01d9" providerId="ADAL" clId="{321CF1EA-DDCA-4C73-9872-605BFFD8AB88}" dt="2026-10-06T16:00:59.825" v="144"/>
        <pc:sldMkLst>
          <pc:docMk/>
          <pc:sldMk cId="1751219472" sldId="700"/>
        </pc:sldMkLst>
      </pc:sldChg>
      <pc:sldChg chg="del">
        <pc:chgData name="Christopher Smith" userId="f635bcaf-d701-437b-bffd-1a8f160c01d9" providerId="ADAL" clId="{321CF1EA-DDCA-4C73-9872-605BFFD8AB88}" dt="2026-10-06T15:17:57.722" v="2" actId="47"/>
        <pc:sldMkLst>
          <pc:docMk/>
          <pc:sldMk cId="2920686625" sldId="4127"/>
        </pc:sldMkLst>
      </pc:sldChg>
      <pc:sldChg chg="del">
        <pc:chgData name="Christopher Smith" userId="f635bcaf-d701-437b-bffd-1a8f160c01d9" providerId="ADAL" clId="{321CF1EA-DDCA-4C73-9872-605BFFD8AB88}" dt="2026-10-06T15:17:57.722" v="2" actId="47"/>
        <pc:sldMkLst>
          <pc:docMk/>
          <pc:sldMk cId="4208678399" sldId="4128"/>
        </pc:sldMkLst>
      </pc:sldChg>
      <pc:sldChg chg="delSp modSp add mod ord modNotesTx">
        <pc:chgData name="Christopher Smith" userId="f635bcaf-d701-437b-bffd-1a8f160c01d9" providerId="ADAL" clId="{321CF1EA-DDCA-4C73-9872-605BFFD8AB88}" dt="2026-10-06T15:52:22.477" v="137" actId="20577"/>
        <pc:sldMkLst>
          <pc:docMk/>
          <pc:sldMk cId="2646375774" sldId="4131"/>
        </pc:sldMkLst>
        <pc:spChg chg="mod">
          <ac:chgData name="Christopher Smith" userId="f635bcaf-d701-437b-bffd-1a8f160c01d9" providerId="ADAL" clId="{321CF1EA-DDCA-4C73-9872-605BFFD8AB88}" dt="2026-10-06T15:52:22.477" v="137" actId="20577"/>
          <ac:spMkLst>
            <pc:docMk/>
            <pc:sldMk cId="2646375774" sldId="4131"/>
            <ac:spMk id="6" creationId="{0EF3E33C-33BF-247A-8AF2-3DCDF7FB65D8}"/>
          </ac:spMkLst>
        </pc:spChg>
        <pc:spChg chg="mod">
          <ac:chgData name="Christopher Smith" userId="f635bcaf-d701-437b-bffd-1a8f160c01d9" providerId="ADAL" clId="{321CF1EA-DDCA-4C73-9872-605BFFD8AB88}" dt="2026-10-06T15:49:52.686" v="114" actId="20577"/>
          <ac:spMkLst>
            <pc:docMk/>
            <pc:sldMk cId="2646375774" sldId="4131"/>
            <ac:spMk id="7" creationId="{105D321E-DF0E-74D0-B3A0-B73C8B5E7F5D}"/>
          </ac:spMkLst>
        </pc:spChg>
        <pc:spChg chg="mod">
          <ac:chgData name="Christopher Smith" userId="f635bcaf-d701-437b-bffd-1a8f160c01d9" providerId="ADAL" clId="{321CF1EA-DDCA-4C73-9872-605BFFD8AB88}" dt="2026-10-06T15:32:35.657" v="46" actId="20577"/>
          <ac:spMkLst>
            <pc:docMk/>
            <pc:sldMk cId="2646375774" sldId="4131"/>
            <ac:spMk id="8" creationId="{246938FB-69E3-7D87-4711-7D0F7056F94F}"/>
          </ac:spMkLst>
        </pc:spChg>
        <pc:picChg chg="mod">
          <ac:chgData name="Christopher Smith" userId="f635bcaf-d701-437b-bffd-1a8f160c01d9" providerId="ADAL" clId="{321CF1EA-DDCA-4C73-9872-605BFFD8AB88}" dt="2026-10-06T15:32:21.421" v="9" actId="14826"/>
          <ac:picMkLst>
            <pc:docMk/>
            <pc:sldMk cId="2646375774" sldId="4131"/>
            <ac:picMk id="2" creationId="{60FAE126-2F15-704E-89E0-2BF945228F61}"/>
          </ac:picMkLst>
        </pc:picChg>
        <pc:picChg chg="del">
          <ac:chgData name="Christopher Smith" userId="f635bcaf-d701-437b-bffd-1a8f160c01d9" providerId="ADAL" clId="{321CF1EA-DDCA-4C73-9872-605BFFD8AB88}" dt="2026-10-06T15:32:49.475" v="49" actId="478"/>
          <ac:picMkLst>
            <pc:docMk/>
            <pc:sldMk cId="2646375774" sldId="4131"/>
            <ac:picMk id="3" creationId="{7E2C4D60-D9A1-F3B4-5296-5A8205E898C7}"/>
          </ac:picMkLst>
        </pc:picChg>
      </pc:sldChg>
      <pc:sldChg chg="del">
        <pc:chgData name="Christopher Smith" userId="f635bcaf-d701-437b-bffd-1a8f160c01d9" providerId="ADAL" clId="{321CF1EA-DDCA-4C73-9872-605BFFD8AB88}" dt="2026-10-06T15:17:43.888" v="0" actId="47"/>
        <pc:sldMkLst>
          <pc:docMk/>
          <pc:sldMk cId="118885957" sldId="4132"/>
        </pc:sldMkLst>
      </pc:sldChg>
      <pc:sldChg chg="add del">
        <pc:chgData name="Christopher Smith" userId="f635bcaf-d701-437b-bffd-1a8f160c01d9" providerId="ADAL" clId="{321CF1EA-DDCA-4C73-9872-605BFFD8AB88}" dt="2026-10-06T15:36:58.172" v="85" actId="47"/>
        <pc:sldMkLst>
          <pc:docMk/>
          <pc:sldMk cId="608591604" sldId="4132"/>
        </pc:sldMkLst>
      </pc:sldChg>
      <pc:sldChg chg="add">
        <pc:chgData name="Christopher Smith" userId="f635bcaf-d701-437b-bffd-1a8f160c01d9" providerId="ADAL" clId="{321CF1EA-DDCA-4C73-9872-605BFFD8AB88}" dt="2026-10-06T15:58:43.411" v="140"/>
        <pc:sldMkLst>
          <pc:docMk/>
          <pc:sldMk cId="3832301889" sldId="4132"/>
        </pc:sldMkLst>
      </pc:sldChg>
      <pc:sldChg chg="add">
        <pc:chgData name="Christopher Smith" userId="f635bcaf-d701-437b-bffd-1a8f160c01d9" providerId="ADAL" clId="{321CF1EA-DDCA-4C73-9872-605BFFD8AB88}" dt="2026-10-06T15:58:43.411" v="140"/>
        <pc:sldMkLst>
          <pc:docMk/>
          <pc:sldMk cId="2618433383" sldId="4133"/>
        </pc:sldMkLst>
      </pc:sldChg>
      <pc:sldChg chg="add">
        <pc:chgData name="Christopher Smith" userId="f635bcaf-d701-437b-bffd-1a8f160c01d9" providerId="ADAL" clId="{321CF1EA-DDCA-4C73-9872-605BFFD8AB88}" dt="2026-10-06T15:58:43.411" v="140"/>
        <pc:sldMkLst>
          <pc:docMk/>
          <pc:sldMk cId="3585192583" sldId="4134"/>
        </pc:sldMkLst>
      </pc:sldChg>
      <pc:sldChg chg="add">
        <pc:chgData name="Christopher Smith" userId="f635bcaf-d701-437b-bffd-1a8f160c01d9" providerId="ADAL" clId="{321CF1EA-DDCA-4C73-9872-605BFFD8AB88}" dt="2026-10-06T15:58:43.411" v="140"/>
        <pc:sldMkLst>
          <pc:docMk/>
          <pc:sldMk cId="4251601139" sldId="4135"/>
        </pc:sldMkLst>
      </pc:sldChg>
      <pc:sldChg chg="add">
        <pc:chgData name="Christopher Smith" userId="f635bcaf-d701-437b-bffd-1a8f160c01d9" providerId="ADAL" clId="{321CF1EA-DDCA-4C73-9872-605BFFD8AB88}" dt="2026-10-06T15:58:43.411" v="140"/>
        <pc:sldMkLst>
          <pc:docMk/>
          <pc:sldMk cId="383459539" sldId="4136"/>
        </pc:sldMkLst>
      </pc:sldChg>
      <pc:sldChg chg="add">
        <pc:chgData name="Christopher Smith" userId="f635bcaf-d701-437b-bffd-1a8f160c01d9" providerId="ADAL" clId="{321CF1EA-DDCA-4C73-9872-605BFFD8AB88}" dt="2026-10-06T15:58:43.411" v="140"/>
        <pc:sldMkLst>
          <pc:docMk/>
          <pc:sldMk cId="3881289086" sldId="4137"/>
        </pc:sldMkLst>
      </pc:sldChg>
      <pc:sldChg chg="add del modNotesTx">
        <pc:chgData name="Christopher Smith" userId="f635bcaf-d701-437b-bffd-1a8f160c01d9" providerId="ADAL" clId="{321CF1EA-DDCA-4C73-9872-605BFFD8AB88}" dt="2026-10-07T00:33:36.429" v="148" actId="47"/>
        <pc:sldMkLst>
          <pc:docMk/>
          <pc:sldMk cId="626855962" sldId="4138"/>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58.svg"/><Relationship Id="rId1" Type="http://schemas.openxmlformats.org/officeDocument/2006/relationships/image" Target="../media/image57.svg"/></Relationships>
</file>

<file path=ppt/diagrams/_rels/data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jpg"/><Relationship Id="rId1" Type="http://schemas.openxmlformats.org/officeDocument/2006/relationships/image" Target="../media/image60.png"/></Relationships>
</file>

<file path=ppt/diagrams/_rels/drawing1.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58.svg"/><Relationship Id="rId1" Type="http://schemas.openxmlformats.org/officeDocument/2006/relationships/image" Target="../media/image5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jpg"/><Relationship Id="rId1" Type="http://schemas.openxmlformats.org/officeDocument/2006/relationships/image" Target="../media/image60.png"/></Relationships>
</file>

<file path=ppt/diagrams/colors1.xml><?xml version="1.0" encoding="utf-8"?>
<dgm:colorsDef xmlns:dgm="http://schemas.openxmlformats.org/drawingml/2006/diagram" xmlns:a="http://schemas.openxmlformats.org/drawingml/2006/main" uniqueId="urn:microsoft.com/office/officeart/2018/5/colors/Iconchunking_neutralbg_accent5_2">
  <dgm:title val=""/>
  <dgm:desc val=""/>
  <dgm:catLst>
    <dgm:cat type="accent5" pri="15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a:alpha val="0"/>
      </a:schemeClr>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D3E31ED-DCB4-490E-8946-82FE7D4E6BE8}" type="doc">
      <dgm:prSet loTypeId="urn:microsoft.com/office/officeart/2018/2/layout/IconVerticalSolidList" loCatId="icon" qsTypeId="urn:microsoft.com/office/officeart/2005/8/quickstyle/simple1#1" qsCatId="simple" csTypeId="urn:microsoft.com/office/officeart/2018/5/colors/Iconchunking_neutralbg_accent5_2" csCatId="accent5" phldr="1"/>
      <dgm:spPr/>
      <dgm:t>
        <a:bodyPr/>
        <a:lstStyle/>
        <a:p>
          <a:endParaRPr lang="en-US"/>
        </a:p>
      </dgm:t>
    </dgm:pt>
    <dgm:pt modelId="{8B2A535C-EB9D-4641-B67A-855684E93867}">
      <dgm:prSet/>
      <dgm:spPr/>
      <dgm:t>
        <a:bodyPr/>
        <a:lstStyle/>
        <a:p>
          <a:pPr>
            <a:lnSpc>
              <a:spcPct val="100000"/>
            </a:lnSpc>
          </a:pPr>
          <a:r>
            <a:rPr lang="en-US" dirty="0"/>
            <a:t>Most of the existing buses turnarounds are on the edge of the city  with other municipalities. Having a shared mobility hub could help to integrate the transit users between cities</a:t>
          </a:r>
        </a:p>
      </dgm:t>
    </dgm:pt>
    <dgm:pt modelId="{1AF5E85E-F0D4-4C90-AF81-75E8F337CF32}" type="parTrans" cxnId="{25EAB8B6-8AD5-48D6-A0B5-37B7DB8B5A6A}">
      <dgm:prSet/>
      <dgm:spPr/>
      <dgm:t>
        <a:bodyPr/>
        <a:lstStyle/>
        <a:p>
          <a:endParaRPr lang="en-US"/>
        </a:p>
      </dgm:t>
    </dgm:pt>
    <dgm:pt modelId="{F63687CD-BB9E-4719-872B-C86A1F78F45F}" type="sibTrans" cxnId="{25EAB8B6-8AD5-48D6-A0B5-37B7DB8B5A6A}">
      <dgm:prSet/>
      <dgm:spPr/>
      <dgm:t>
        <a:bodyPr/>
        <a:lstStyle/>
        <a:p>
          <a:endParaRPr lang="en-US"/>
        </a:p>
      </dgm:t>
    </dgm:pt>
    <dgm:pt modelId="{0CC6B25C-59E0-47AC-A419-B890709CA415}">
      <dgm:prSet/>
      <dgm:spPr/>
      <dgm:t>
        <a:bodyPr/>
        <a:lstStyle/>
        <a:p>
          <a:pPr>
            <a:lnSpc>
              <a:spcPct val="100000"/>
            </a:lnSpc>
          </a:pPr>
          <a:r>
            <a:rPr lang="en-US" dirty="0"/>
            <a:t>Increase the number of potential users of sustainable transit modes</a:t>
          </a:r>
        </a:p>
      </dgm:t>
    </dgm:pt>
    <dgm:pt modelId="{085DA178-2F30-45E9-A051-5ED57443C685}" type="parTrans" cxnId="{9B484E06-9AAE-42C5-9566-E466D4CC0C77}">
      <dgm:prSet/>
      <dgm:spPr/>
      <dgm:t>
        <a:bodyPr/>
        <a:lstStyle/>
        <a:p>
          <a:endParaRPr lang="en-US"/>
        </a:p>
      </dgm:t>
    </dgm:pt>
    <dgm:pt modelId="{5E69CE27-4A65-4EC4-98DB-4E42981BBFDA}" type="sibTrans" cxnId="{9B484E06-9AAE-42C5-9566-E466D4CC0C77}">
      <dgm:prSet/>
      <dgm:spPr/>
      <dgm:t>
        <a:bodyPr/>
        <a:lstStyle/>
        <a:p>
          <a:endParaRPr lang="en-US"/>
        </a:p>
      </dgm:t>
    </dgm:pt>
    <dgm:pt modelId="{7E47A416-0C0F-4D87-96B0-99060C8BCDB5}">
      <dgm:prSet/>
      <dgm:spPr/>
      <dgm:t>
        <a:bodyPr/>
        <a:lstStyle/>
        <a:p>
          <a:pPr>
            <a:lnSpc>
              <a:spcPct val="100000"/>
            </a:lnSpc>
          </a:pPr>
          <a:r>
            <a:rPr lang="en-US" dirty="0"/>
            <a:t>The space which it is already own by the CTA, have space for potential businesses that can activate the area </a:t>
          </a:r>
        </a:p>
      </dgm:t>
    </dgm:pt>
    <dgm:pt modelId="{A8A399E0-413C-4CD8-B252-AF3E73D4B2C0}" type="parTrans" cxnId="{8ED892CB-2D31-4C52-9B41-467983D3D05A}">
      <dgm:prSet/>
      <dgm:spPr/>
      <dgm:t>
        <a:bodyPr/>
        <a:lstStyle/>
        <a:p>
          <a:endParaRPr lang="en-US"/>
        </a:p>
      </dgm:t>
    </dgm:pt>
    <dgm:pt modelId="{78E3A580-5200-476E-8B28-FC62F3B3144D}" type="sibTrans" cxnId="{8ED892CB-2D31-4C52-9B41-467983D3D05A}">
      <dgm:prSet/>
      <dgm:spPr/>
      <dgm:t>
        <a:bodyPr/>
        <a:lstStyle/>
        <a:p>
          <a:endParaRPr lang="en-US"/>
        </a:p>
      </dgm:t>
    </dgm:pt>
    <dgm:pt modelId="{2E9398D6-DECE-4C9E-B823-F063B66754F4}" type="pres">
      <dgm:prSet presAssocID="{4D3E31ED-DCB4-490E-8946-82FE7D4E6BE8}" presName="root" presStyleCnt="0">
        <dgm:presLayoutVars>
          <dgm:dir/>
          <dgm:resizeHandles val="exact"/>
        </dgm:presLayoutVars>
      </dgm:prSet>
      <dgm:spPr/>
    </dgm:pt>
    <dgm:pt modelId="{7362332E-3CAF-47BD-93F2-C79156100B68}" type="pres">
      <dgm:prSet presAssocID="{8B2A535C-EB9D-4641-B67A-855684E93867}" presName="compNode" presStyleCnt="0"/>
      <dgm:spPr/>
    </dgm:pt>
    <dgm:pt modelId="{F384BD6F-EFC9-431F-BD5C-B38643C6242B}" type="pres">
      <dgm:prSet presAssocID="{8B2A535C-EB9D-4641-B67A-855684E93867}" presName="bgRect" presStyleLbl="bgShp" presStyleIdx="0" presStyleCnt="3"/>
      <dgm:spPr/>
    </dgm:pt>
    <dgm:pt modelId="{0536A87C-BFF9-4241-BA9E-E9C159E6F0B1}" type="pres">
      <dgm:prSet presAssocID="{8B2A535C-EB9D-4641-B67A-855684E93867}"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us"/>
        </a:ext>
      </dgm:extLst>
    </dgm:pt>
    <dgm:pt modelId="{A34D6A5A-1A6F-4AA6-A609-291D86DB4361}" type="pres">
      <dgm:prSet presAssocID="{8B2A535C-EB9D-4641-B67A-855684E93867}" presName="spaceRect" presStyleCnt="0"/>
      <dgm:spPr/>
    </dgm:pt>
    <dgm:pt modelId="{E27B0E77-1F82-4DF4-BD1E-FA8B2F948CC9}" type="pres">
      <dgm:prSet presAssocID="{8B2A535C-EB9D-4641-B67A-855684E93867}" presName="parTx" presStyleLbl="revTx" presStyleIdx="0" presStyleCnt="3">
        <dgm:presLayoutVars>
          <dgm:chMax val="0"/>
          <dgm:chPref val="0"/>
        </dgm:presLayoutVars>
      </dgm:prSet>
      <dgm:spPr/>
    </dgm:pt>
    <dgm:pt modelId="{FEE5D6B5-06FD-43B9-B5B9-FF7CC143F1D6}" type="pres">
      <dgm:prSet presAssocID="{F63687CD-BB9E-4719-872B-C86A1F78F45F}" presName="sibTrans" presStyleCnt="0"/>
      <dgm:spPr/>
    </dgm:pt>
    <dgm:pt modelId="{5B92469B-596C-45A2-8204-FD4ED276434B}" type="pres">
      <dgm:prSet presAssocID="{0CC6B25C-59E0-47AC-A419-B890709CA415}" presName="compNode" presStyleCnt="0"/>
      <dgm:spPr/>
    </dgm:pt>
    <dgm:pt modelId="{1C90D009-0044-46EF-9C84-E26DDB3D447E}" type="pres">
      <dgm:prSet presAssocID="{0CC6B25C-59E0-47AC-A419-B890709CA415}" presName="bgRect" presStyleLbl="bgShp" presStyleIdx="1" presStyleCnt="3"/>
      <dgm:spPr/>
    </dgm:pt>
    <dgm:pt modelId="{2941F32C-AC86-48E1-910E-9EBF1DB75132}" type="pres">
      <dgm:prSet presAssocID="{0CC6B25C-59E0-47AC-A419-B890709CA415}"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pward trend"/>
        </a:ext>
      </dgm:extLst>
    </dgm:pt>
    <dgm:pt modelId="{DD87CB38-4988-48BA-8DF6-C99673F2AE42}" type="pres">
      <dgm:prSet presAssocID="{0CC6B25C-59E0-47AC-A419-B890709CA415}" presName="spaceRect" presStyleCnt="0"/>
      <dgm:spPr/>
    </dgm:pt>
    <dgm:pt modelId="{1D3A558F-B1BF-4FD4-A550-2825A06DFE9A}" type="pres">
      <dgm:prSet presAssocID="{0CC6B25C-59E0-47AC-A419-B890709CA415}" presName="parTx" presStyleLbl="revTx" presStyleIdx="1" presStyleCnt="3">
        <dgm:presLayoutVars>
          <dgm:chMax val="0"/>
          <dgm:chPref val="0"/>
        </dgm:presLayoutVars>
      </dgm:prSet>
      <dgm:spPr/>
    </dgm:pt>
    <dgm:pt modelId="{DCFA2769-43A0-4022-BDDD-838D7880E6E4}" type="pres">
      <dgm:prSet presAssocID="{5E69CE27-4A65-4EC4-98DB-4E42981BBFDA}" presName="sibTrans" presStyleCnt="0"/>
      <dgm:spPr/>
    </dgm:pt>
    <dgm:pt modelId="{9FCCF106-AE83-4A97-8A7A-EACA4BC6ED79}" type="pres">
      <dgm:prSet presAssocID="{7E47A416-0C0F-4D87-96B0-99060C8BCDB5}" presName="compNode" presStyleCnt="0"/>
      <dgm:spPr/>
    </dgm:pt>
    <dgm:pt modelId="{E5E543C0-D464-45A4-AF63-96CE3F900AA6}" type="pres">
      <dgm:prSet presAssocID="{7E47A416-0C0F-4D87-96B0-99060C8BCDB5}" presName="bgRect" presStyleLbl="bgShp" presStyleIdx="2" presStyleCnt="3"/>
      <dgm:spPr/>
    </dgm:pt>
    <dgm:pt modelId="{A46F4F1D-D09B-4DEB-9061-9AB7D82708AE}" type="pres">
      <dgm:prSet presAssocID="{7E47A416-0C0F-4D87-96B0-99060C8BCDB5}"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ity"/>
        </a:ext>
      </dgm:extLst>
    </dgm:pt>
    <dgm:pt modelId="{770774FD-24E4-474D-8F55-6235A859E206}" type="pres">
      <dgm:prSet presAssocID="{7E47A416-0C0F-4D87-96B0-99060C8BCDB5}" presName="spaceRect" presStyleCnt="0"/>
      <dgm:spPr/>
    </dgm:pt>
    <dgm:pt modelId="{688271CE-54A1-4121-AAEC-5C45ECA9E26E}" type="pres">
      <dgm:prSet presAssocID="{7E47A416-0C0F-4D87-96B0-99060C8BCDB5}" presName="parTx" presStyleLbl="revTx" presStyleIdx="2" presStyleCnt="3">
        <dgm:presLayoutVars>
          <dgm:chMax val="0"/>
          <dgm:chPref val="0"/>
        </dgm:presLayoutVars>
      </dgm:prSet>
      <dgm:spPr/>
    </dgm:pt>
  </dgm:ptLst>
  <dgm:cxnLst>
    <dgm:cxn modelId="{9B484E06-9AAE-42C5-9566-E466D4CC0C77}" srcId="{4D3E31ED-DCB4-490E-8946-82FE7D4E6BE8}" destId="{0CC6B25C-59E0-47AC-A419-B890709CA415}" srcOrd="1" destOrd="0" parTransId="{085DA178-2F30-45E9-A051-5ED57443C685}" sibTransId="{5E69CE27-4A65-4EC4-98DB-4E42981BBFDA}"/>
    <dgm:cxn modelId="{3E546E45-2F0E-4C1D-B802-837A3C962897}" type="presOf" srcId="{0CC6B25C-59E0-47AC-A419-B890709CA415}" destId="{1D3A558F-B1BF-4FD4-A550-2825A06DFE9A}" srcOrd="0" destOrd="0" presId="urn:microsoft.com/office/officeart/2018/2/layout/IconVerticalSolidList"/>
    <dgm:cxn modelId="{AD01946C-FBC4-4988-B277-70B82211B46B}" type="presOf" srcId="{8B2A535C-EB9D-4641-B67A-855684E93867}" destId="{E27B0E77-1F82-4DF4-BD1E-FA8B2F948CC9}" srcOrd="0" destOrd="0" presId="urn:microsoft.com/office/officeart/2018/2/layout/IconVerticalSolidList"/>
    <dgm:cxn modelId="{25EAB8B6-8AD5-48D6-A0B5-37B7DB8B5A6A}" srcId="{4D3E31ED-DCB4-490E-8946-82FE7D4E6BE8}" destId="{8B2A535C-EB9D-4641-B67A-855684E93867}" srcOrd="0" destOrd="0" parTransId="{1AF5E85E-F0D4-4C90-AF81-75E8F337CF32}" sibTransId="{F63687CD-BB9E-4719-872B-C86A1F78F45F}"/>
    <dgm:cxn modelId="{584704C2-94F5-4C87-A2E2-4B73F598ADEE}" type="presOf" srcId="{4D3E31ED-DCB4-490E-8946-82FE7D4E6BE8}" destId="{2E9398D6-DECE-4C9E-B823-F063B66754F4}" srcOrd="0" destOrd="0" presId="urn:microsoft.com/office/officeart/2018/2/layout/IconVerticalSolidList"/>
    <dgm:cxn modelId="{8ED892CB-2D31-4C52-9B41-467983D3D05A}" srcId="{4D3E31ED-DCB4-490E-8946-82FE7D4E6BE8}" destId="{7E47A416-0C0F-4D87-96B0-99060C8BCDB5}" srcOrd="2" destOrd="0" parTransId="{A8A399E0-413C-4CD8-B252-AF3E73D4B2C0}" sibTransId="{78E3A580-5200-476E-8B28-FC62F3B3144D}"/>
    <dgm:cxn modelId="{45CD09E2-0AD8-481D-BA2E-37674BFB31DE}" type="presOf" srcId="{7E47A416-0C0F-4D87-96B0-99060C8BCDB5}" destId="{688271CE-54A1-4121-AAEC-5C45ECA9E26E}" srcOrd="0" destOrd="0" presId="urn:microsoft.com/office/officeart/2018/2/layout/IconVerticalSolidList"/>
    <dgm:cxn modelId="{B4D29184-3925-4F03-99BE-8D4CAA48B250}" type="presParOf" srcId="{2E9398D6-DECE-4C9E-B823-F063B66754F4}" destId="{7362332E-3CAF-47BD-93F2-C79156100B68}" srcOrd="0" destOrd="0" presId="urn:microsoft.com/office/officeart/2018/2/layout/IconVerticalSolidList"/>
    <dgm:cxn modelId="{832E54EC-F320-405E-BE28-87E7C9217E37}" type="presParOf" srcId="{7362332E-3CAF-47BD-93F2-C79156100B68}" destId="{F384BD6F-EFC9-431F-BD5C-B38643C6242B}" srcOrd="0" destOrd="0" presId="urn:microsoft.com/office/officeart/2018/2/layout/IconVerticalSolidList"/>
    <dgm:cxn modelId="{239E0388-CE49-43E5-A6D5-498EBB5703E6}" type="presParOf" srcId="{7362332E-3CAF-47BD-93F2-C79156100B68}" destId="{0536A87C-BFF9-4241-BA9E-E9C159E6F0B1}" srcOrd="1" destOrd="0" presId="urn:microsoft.com/office/officeart/2018/2/layout/IconVerticalSolidList"/>
    <dgm:cxn modelId="{C6ECC95E-D064-4821-BA8B-66E13A35D16B}" type="presParOf" srcId="{7362332E-3CAF-47BD-93F2-C79156100B68}" destId="{A34D6A5A-1A6F-4AA6-A609-291D86DB4361}" srcOrd="2" destOrd="0" presId="urn:microsoft.com/office/officeart/2018/2/layout/IconVerticalSolidList"/>
    <dgm:cxn modelId="{869BED90-1238-4F03-AEC0-317FCCCE692A}" type="presParOf" srcId="{7362332E-3CAF-47BD-93F2-C79156100B68}" destId="{E27B0E77-1F82-4DF4-BD1E-FA8B2F948CC9}" srcOrd="3" destOrd="0" presId="urn:microsoft.com/office/officeart/2018/2/layout/IconVerticalSolidList"/>
    <dgm:cxn modelId="{995AC03F-CF31-4350-AF9B-FF53FC480B14}" type="presParOf" srcId="{2E9398D6-DECE-4C9E-B823-F063B66754F4}" destId="{FEE5D6B5-06FD-43B9-B5B9-FF7CC143F1D6}" srcOrd="1" destOrd="0" presId="urn:microsoft.com/office/officeart/2018/2/layout/IconVerticalSolidList"/>
    <dgm:cxn modelId="{03DC47A3-0003-47D6-99D3-85B34ECC3ACE}" type="presParOf" srcId="{2E9398D6-DECE-4C9E-B823-F063B66754F4}" destId="{5B92469B-596C-45A2-8204-FD4ED276434B}" srcOrd="2" destOrd="0" presId="urn:microsoft.com/office/officeart/2018/2/layout/IconVerticalSolidList"/>
    <dgm:cxn modelId="{8F9D8FFA-45B0-4595-B4B5-98E12598E063}" type="presParOf" srcId="{5B92469B-596C-45A2-8204-FD4ED276434B}" destId="{1C90D009-0044-46EF-9C84-E26DDB3D447E}" srcOrd="0" destOrd="0" presId="urn:microsoft.com/office/officeart/2018/2/layout/IconVerticalSolidList"/>
    <dgm:cxn modelId="{3A4AE17B-CC95-4F3B-84DE-628E4BA4AEF5}" type="presParOf" srcId="{5B92469B-596C-45A2-8204-FD4ED276434B}" destId="{2941F32C-AC86-48E1-910E-9EBF1DB75132}" srcOrd="1" destOrd="0" presId="urn:microsoft.com/office/officeart/2018/2/layout/IconVerticalSolidList"/>
    <dgm:cxn modelId="{C62226C6-8C02-4038-BC3D-90C26B1E9CD1}" type="presParOf" srcId="{5B92469B-596C-45A2-8204-FD4ED276434B}" destId="{DD87CB38-4988-48BA-8DF6-C99673F2AE42}" srcOrd="2" destOrd="0" presId="urn:microsoft.com/office/officeart/2018/2/layout/IconVerticalSolidList"/>
    <dgm:cxn modelId="{E515734C-DB5F-43AB-B679-0179AFABD598}" type="presParOf" srcId="{5B92469B-596C-45A2-8204-FD4ED276434B}" destId="{1D3A558F-B1BF-4FD4-A550-2825A06DFE9A}" srcOrd="3" destOrd="0" presId="urn:microsoft.com/office/officeart/2018/2/layout/IconVerticalSolidList"/>
    <dgm:cxn modelId="{C5108F17-520B-4385-AD09-61682411B8F0}" type="presParOf" srcId="{2E9398D6-DECE-4C9E-B823-F063B66754F4}" destId="{DCFA2769-43A0-4022-BDDD-838D7880E6E4}" srcOrd="3" destOrd="0" presId="urn:microsoft.com/office/officeart/2018/2/layout/IconVerticalSolidList"/>
    <dgm:cxn modelId="{00936DCC-1D56-43B6-924E-6656A9977E55}" type="presParOf" srcId="{2E9398D6-DECE-4C9E-B823-F063B66754F4}" destId="{9FCCF106-AE83-4A97-8A7A-EACA4BC6ED79}" srcOrd="4" destOrd="0" presId="urn:microsoft.com/office/officeart/2018/2/layout/IconVerticalSolidList"/>
    <dgm:cxn modelId="{3C36A403-32A2-449F-B4A8-80921BE13903}" type="presParOf" srcId="{9FCCF106-AE83-4A97-8A7A-EACA4BC6ED79}" destId="{E5E543C0-D464-45A4-AF63-96CE3F900AA6}" srcOrd="0" destOrd="0" presId="urn:microsoft.com/office/officeart/2018/2/layout/IconVerticalSolidList"/>
    <dgm:cxn modelId="{ED2CBFFA-7CD7-4D01-B6C7-59AF9B209281}" type="presParOf" srcId="{9FCCF106-AE83-4A97-8A7A-EACA4BC6ED79}" destId="{A46F4F1D-D09B-4DEB-9061-9AB7D82708AE}" srcOrd="1" destOrd="0" presId="urn:microsoft.com/office/officeart/2018/2/layout/IconVerticalSolidList"/>
    <dgm:cxn modelId="{2C8403E0-F43A-469C-9554-BC995B4DE51D}" type="presParOf" srcId="{9FCCF106-AE83-4A97-8A7A-EACA4BC6ED79}" destId="{770774FD-24E4-474D-8F55-6235A859E206}" srcOrd="2" destOrd="0" presId="urn:microsoft.com/office/officeart/2018/2/layout/IconVerticalSolidList"/>
    <dgm:cxn modelId="{1BB7B5D7-143E-4941-B11A-05BCFA58A0A3}" type="presParOf" srcId="{9FCCF106-AE83-4A97-8A7A-EACA4BC6ED79}" destId="{688271CE-54A1-4121-AAEC-5C45ECA9E26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C19E21-078F-4778-9E44-4510ED4447C2}" type="doc">
      <dgm:prSet loTypeId="urn:microsoft.com/office/officeart/2005/8/layout/hList2" loCatId="relationship" qsTypeId="urn:microsoft.com/office/officeart/2005/8/quickstyle/simple1#2" qsCatId="simple" csTypeId="urn:microsoft.com/office/officeart/2005/8/colors/accent1_2#1" csCatId="accent1" phldr="1"/>
      <dgm:spPr/>
      <dgm:t>
        <a:bodyPr/>
        <a:lstStyle/>
        <a:p>
          <a:endParaRPr lang="en-US"/>
        </a:p>
      </dgm:t>
    </dgm:pt>
    <dgm:pt modelId="{786FB735-AF26-4B49-B371-F97A37F08CFE}">
      <dgm:prSet phldrT="[Text]"/>
      <dgm:spPr/>
      <dgm:t>
        <a:bodyPr/>
        <a:lstStyle/>
        <a:p>
          <a:r>
            <a:rPr lang="en-US" dirty="0"/>
            <a:t>Transit Oriented</a:t>
          </a:r>
        </a:p>
      </dgm:t>
    </dgm:pt>
    <dgm:pt modelId="{4F179DB1-B14B-42A8-8DBE-9E35AFA218AE}" type="parTrans" cxnId="{66B30155-6A36-45BB-9E48-4334C6DE6F4A}">
      <dgm:prSet/>
      <dgm:spPr/>
      <dgm:t>
        <a:bodyPr/>
        <a:lstStyle/>
        <a:p>
          <a:endParaRPr lang="en-US"/>
        </a:p>
      </dgm:t>
    </dgm:pt>
    <dgm:pt modelId="{7A82B358-06D8-451E-8519-12B3E6514997}" type="sibTrans" cxnId="{66B30155-6A36-45BB-9E48-4334C6DE6F4A}">
      <dgm:prSet/>
      <dgm:spPr/>
      <dgm:t>
        <a:bodyPr/>
        <a:lstStyle/>
        <a:p>
          <a:endParaRPr lang="en-US"/>
        </a:p>
      </dgm:t>
    </dgm:pt>
    <dgm:pt modelId="{AF42175B-3BEB-4B71-9344-AC4B1CE539A8}">
      <dgm:prSet phldrT="[Text]"/>
      <dgm:spPr/>
      <dgm:t>
        <a:bodyPr/>
        <a:lstStyle/>
        <a:p>
          <a:r>
            <a:rPr lang="en-US" dirty="0"/>
            <a:t>Bike Sharing</a:t>
          </a:r>
        </a:p>
      </dgm:t>
    </dgm:pt>
    <dgm:pt modelId="{7308B13A-FE28-41A5-AECF-2CF5DE7A7548}" type="parTrans" cxnId="{35FB72DF-C63D-4CD8-AFC1-B2B51F95758D}">
      <dgm:prSet/>
      <dgm:spPr/>
      <dgm:t>
        <a:bodyPr/>
        <a:lstStyle/>
        <a:p>
          <a:endParaRPr lang="en-US"/>
        </a:p>
      </dgm:t>
    </dgm:pt>
    <dgm:pt modelId="{14A34517-571B-47E9-AE3E-BD24E74CD8F0}" type="sibTrans" cxnId="{35FB72DF-C63D-4CD8-AFC1-B2B51F95758D}">
      <dgm:prSet/>
      <dgm:spPr/>
      <dgm:t>
        <a:bodyPr/>
        <a:lstStyle/>
        <a:p>
          <a:endParaRPr lang="en-US"/>
        </a:p>
      </dgm:t>
    </dgm:pt>
    <dgm:pt modelId="{982D3649-32A9-470F-8709-789CAFFB4A07}">
      <dgm:prSet phldrT="[Text]"/>
      <dgm:spPr/>
      <dgm:t>
        <a:bodyPr/>
        <a:lstStyle/>
        <a:p>
          <a:r>
            <a:rPr lang="en-US" dirty="0"/>
            <a:t>Infrastructure oriented to transit</a:t>
          </a:r>
        </a:p>
      </dgm:t>
    </dgm:pt>
    <dgm:pt modelId="{E3B52A25-94F6-4D0C-84D3-F69CD264BE3F}" type="parTrans" cxnId="{70215AE1-A025-4A67-95FD-F98BCAE17FB8}">
      <dgm:prSet/>
      <dgm:spPr/>
      <dgm:t>
        <a:bodyPr/>
        <a:lstStyle/>
        <a:p>
          <a:endParaRPr lang="en-US"/>
        </a:p>
      </dgm:t>
    </dgm:pt>
    <dgm:pt modelId="{442D9EB3-C373-4912-B5D6-857DC023168F}" type="sibTrans" cxnId="{70215AE1-A025-4A67-95FD-F98BCAE17FB8}">
      <dgm:prSet/>
      <dgm:spPr/>
      <dgm:t>
        <a:bodyPr/>
        <a:lstStyle/>
        <a:p>
          <a:endParaRPr lang="en-US"/>
        </a:p>
      </dgm:t>
    </dgm:pt>
    <dgm:pt modelId="{FB45E3B0-5BA4-4393-BB61-A12B841511F2}">
      <dgm:prSet phldrT="[Text]"/>
      <dgm:spPr/>
      <dgm:t>
        <a:bodyPr/>
        <a:lstStyle/>
        <a:p>
          <a:r>
            <a:rPr lang="en-US" dirty="0"/>
            <a:t>Public Space Oriented</a:t>
          </a:r>
        </a:p>
      </dgm:t>
    </dgm:pt>
    <dgm:pt modelId="{F3DE3B33-499E-45F2-A3A2-C7659EB98D37}" type="parTrans" cxnId="{AFD410C0-0E49-4B93-AE86-C27278E7D2F4}">
      <dgm:prSet/>
      <dgm:spPr/>
      <dgm:t>
        <a:bodyPr/>
        <a:lstStyle/>
        <a:p>
          <a:endParaRPr lang="en-US"/>
        </a:p>
      </dgm:t>
    </dgm:pt>
    <dgm:pt modelId="{E3B5182C-F37B-47B1-A237-75B666B350B9}" type="sibTrans" cxnId="{AFD410C0-0E49-4B93-AE86-C27278E7D2F4}">
      <dgm:prSet/>
      <dgm:spPr/>
      <dgm:t>
        <a:bodyPr/>
        <a:lstStyle/>
        <a:p>
          <a:endParaRPr lang="en-US"/>
        </a:p>
      </dgm:t>
    </dgm:pt>
    <dgm:pt modelId="{C3EBA148-C340-4B18-B6E6-E542FDEE39D1}">
      <dgm:prSet phldrT="[Text]"/>
      <dgm:spPr/>
      <dgm:t>
        <a:bodyPr/>
        <a:lstStyle/>
        <a:p>
          <a:r>
            <a:rPr lang="en-US" dirty="0"/>
            <a:t>Enhancing the current infrastructure</a:t>
          </a:r>
        </a:p>
      </dgm:t>
    </dgm:pt>
    <dgm:pt modelId="{D4A50FC4-D5DE-47F8-9793-AFB36A8CCF51}" type="parTrans" cxnId="{C026617E-B1AB-447C-8BE4-659B25A26007}">
      <dgm:prSet/>
      <dgm:spPr/>
      <dgm:t>
        <a:bodyPr/>
        <a:lstStyle/>
        <a:p>
          <a:endParaRPr lang="en-US"/>
        </a:p>
      </dgm:t>
    </dgm:pt>
    <dgm:pt modelId="{EE783E4C-EA5E-4913-A604-538207C6F9E5}" type="sibTrans" cxnId="{C026617E-B1AB-447C-8BE4-659B25A26007}">
      <dgm:prSet/>
      <dgm:spPr/>
      <dgm:t>
        <a:bodyPr/>
        <a:lstStyle/>
        <a:p>
          <a:endParaRPr lang="en-US"/>
        </a:p>
      </dgm:t>
    </dgm:pt>
    <dgm:pt modelId="{AD61048C-6913-457D-B0DC-CF2B1D900EEA}">
      <dgm:prSet phldrT="[Text]"/>
      <dgm:spPr/>
      <dgm:t>
        <a:bodyPr/>
        <a:lstStyle/>
        <a:p>
          <a:r>
            <a:rPr lang="en-US" dirty="0"/>
            <a:t>Mixed Design</a:t>
          </a:r>
        </a:p>
      </dgm:t>
    </dgm:pt>
    <dgm:pt modelId="{61FBFFC0-1D96-4F66-A7FF-9F7933EFC877}" type="parTrans" cxnId="{CCBF9325-DD4B-4241-895B-A1DFAC28B023}">
      <dgm:prSet/>
      <dgm:spPr/>
      <dgm:t>
        <a:bodyPr/>
        <a:lstStyle/>
        <a:p>
          <a:endParaRPr lang="en-US"/>
        </a:p>
      </dgm:t>
    </dgm:pt>
    <dgm:pt modelId="{5DCC3E6E-EFAB-4346-A819-36248F8222A4}" type="sibTrans" cxnId="{CCBF9325-DD4B-4241-895B-A1DFAC28B023}">
      <dgm:prSet/>
      <dgm:spPr/>
      <dgm:t>
        <a:bodyPr/>
        <a:lstStyle/>
        <a:p>
          <a:endParaRPr lang="en-US"/>
        </a:p>
      </dgm:t>
    </dgm:pt>
    <dgm:pt modelId="{A35506BF-68B2-4886-8338-FB6802EE7EB5}">
      <dgm:prSet phldrT="[Text]"/>
      <dgm:spPr/>
      <dgm:t>
        <a:bodyPr/>
        <a:lstStyle/>
        <a:p>
          <a:r>
            <a:rPr lang="en-US" dirty="0"/>
            <a:t>Balance between public space and transit oriented infrastructure</a:t>
          </a:r>
        </a:p>
      </dgm:t>
    </dgm:pt>
    <dgm:pt modelId="{8D982FCD-AE4A-4E7E-86B0-1EC76D0833B3}" type="parTrans" cxnId="{F0309CA1-B220-4490-9104-DC4A41E5556F}">
      <dgm:prSet/>
      <dgm:spPr/>
      <dgm:t>
        <a:bodyPr/>
        <a:lstStyle/>
        <a:p>
          <a:endParaRPr lang="en-US"/>
        </a:p>
      </dgm:t>
    </dgm:pt>
    <dgm:pt modelId="{6DE82EE2-F922-4E54-9FDA-ED3CED3026FF}" type="sibTrans" cxnId="{F0309CA1-B220-4490-9104-DC4A41E5556F}">
      <dgm:prSet/>
      <dgm:spPr/>
      <dgm:t>
        <a:bodyPr/>
        <a:lstStyle/>
        <a:p>
          <a:endParaRPr lang="en-US"/>
        </a:p>
      </dgm:t>
    </dgm:pt>
    <dgm:pt modelId="{D1347DEC-F748-433B-A8F2-500834877777}">
      <dgm:prSet phldrT="[Text]"/>
      <dgm:spPr/>
      <dgm:t>
        <a:bodyPr/>
        <a:lstStyle/>
        <a:p>
          <a:r>
            <a:rPr lang="en-US" dirty="0"/>
            <a:t>Ride Sharing</a:t>
          </a:r>
        </a:p>
      </dgm:t>
    </dgm:pt>
    <dgm:pt modelId="{F2334C60-BB17-4821-87DA-0D20BDF53263}" type="parTrans" cxnId="{FF6B35D9-D749-42F3-8317-2C9945DCA36E}">
      <dgm:prSet/>
      <dgm:spPr/>
      <dgm:t>
        <a:bodyPr/>
        <a:lstStyle/>
        <a:p>
          <a:endParaRPr lang="en-US"/>
        </a:p>
      </dgm:t>
    </dgm:pt>
    <dgm:pt modelId="{0307F00D-1436-4BE2-A09E-BF4D5675EA61}" type="sibTrans" cxnId="{FF6B35D9-D749-42F3-8317-2C9945DCA36E}">
      <dgm:prSet/>
      <dgm:spPr/>
      <dgm:t>
        <a:bodyPr/>
        <a:lstStyle/>
        <a:p>
          <a:endParaRPr lang="en-US"/>
        </a:p>
      </dgm:t>
    </dgm:pt>
    <dgm:pt modelId="{D103B3C2-6D00-4474-AA7A-93B9E5B9E6A7}">
      <dgm:prSet phldrT="[Text]"/>
      <dgm:spPr/>
      <dgm:t>
        <a:bodyPr/>
        <a:lstStyle/>
        <a:p>
          <a:r>
            <a:rPr lang="en-US" dirty="0"/>
            <a:t>Scooter</a:t>
          </a:r>
        </a:p>
      </dgm:t>
    </dgm:pt>
    <dgm:pt modelId="{DDC47CC6-4050-4C5C-8B7A-8652DDBC3C69}" type="parTrans" cxnId="{5C49AB85-5BA7-4FF6-993F-3B9DAFD01795}">
      <dgm:prSet/>
      <dgm:spPr/>
      <dgm:t>
        <a:bodyPr/>
        <a:lstStyle/>
        <a:p>
          <a:endParaRPr lang="en-US"/>
        </a:p>
      </dgm:t>
    </dgm:pt>
    <dgm:pt modelId="{E41091C0-F95B-40D4-B298-92F4ABF8E9EE}" type="sibTrans" cxnId="{5C49AB85-5BA7-4FF6-993F-3B9DAFD01795}">
      <dgm:prSet/>
      <dgm:spPr/>
      <dgm:t>
        <a:bodyPr/>
        <a:lstStyle/>
        <a:p>
          <a:endParaRPr lang="en-US"/>
        </a:p>
      </dgm:t>
    </dgm:pt>
    <dgm:pt modelId="{8631DDB0-A2E2-4E40-AC96-BC363798B3E3}">
      <dgm:prSet phldrT="[Text]"/>
      <dgm:spPr/>
      <dgm:t>
        <a:bodyPr/>
        <a:lstStyle/>
        <a:p>
          <a:r>
            <a:rPr lang="en-US" dirty="0"/>
            <a:t>Charging points for electric cars</a:t>
          </a:r>
        </a:p>
      </dgm:t>
    </dgm:pt>
    <dgm:pt modelId="{BCA33FA0-885B-421D-A6EF-870C4489C128}" type="parTrans" cxnId="{14DC2351-C75E-4F65-86CF-6480C4D2FB85}">
      <dgm:prSet/>
      <dgm:spPr/>
      <dgm:t>
        <a:bodyPr/>
        <a:lstStyle/>
        <a:p>
          <a:endParaRPr lang="en-US"/>
        </a:p>
      </dgm:t>
    </dgm:pt>
    <dgm:pt modelId="{EF82D848-7D5A-441D-B2DD-4ADAF03E4863}" type="sibTrans" cxnId="{14DC2351-C75E-4F65-86CF-6480C4D2FB85}">
      <dgm:prSet/>
      <dgm:spPr/>
      <dgm:t>
        <a:bodyPr/>
        <a:lstStyle/>
        <a:p>
          <a:endParaRPr lang="en-US"/>
        </a:p>
      </dgm:t>
    </dgm:pt>
    <dgm:pt modelId="{25722F0E-3469-4336-9D9B-584559C1DB50}">
      <dgm:prSet phldrT="[Text]"/>
      <dgm:spPr/>
      <dgm:t>
        <a:bodyPr/>
        <a:lstStyle/>
        <a:p>
          <a:r>
            <a:rPr lang="en-US" dirty="0"/>
            <a:t>Adding art and greenery to made it more welcoming</a:t>
          </a:r>
        </a:p>
      </dgm:t>
    </dgm:pt>
    <dgm:pt modelId="{E1FECC96-574D-477C-A3E3-345216634AA4}" type="parTrans" cxnId="{8ED949DC-9809-4249-94C9-D0F13B8296F6}">
      <dgm:prSet/>
      <dgm:spPr/>
      <dgm:t>
        <a:bodyPr/>
        <a:lstStyle/>
        <a:p>
          <a:endParaRPr lang="en-US"/>
        </a:p>
      </dgm:t>
    </dgm:pt>
    <dgm:pt modelId="{AF9DCE81-E666-481F-916B-6816E02D6C86}" type="sibTrans" cxnId="{8ED949DC-9809-4249-94C9-D0F13B8296F6}">
      <dgm:prSet/>
      <dgm:spPr/>
      <dgm:t>
        <a:bodyPr/>
        <a:lstStyle/>
        <a:p>
          <a:endParaRPr lang="en-US"/>
        </a:p>
      </dgm:t>
    </dgm:pt>
    <dgm:pt modelId="{92A94A14-FB36-459F-8474-024CBA2BE33D}">
      <dgm:prSet phldrT="[Text]"/>
      <dgm:spPr/>
      <dgm:t>
        <a:bodyPr/>
        <a:lstStyle/>
        <a:p>
          <a:r>
            <a:rPr lang="en-US" dirty="0"/>
            <a:t>Increasing the space for social gathering</a:t>
          </a:r>
        </a:p>
      </dgm:t>
    </dgm:pt>
    <dgm:pt modelId="{EC87A3EA-1E6F-4DA9-82B1-D7EFF0EA00B1}" type="parTrans" cxnId="{899C6943-FE1E-47AE-8DDD-0B7208D9634B}">
      <dgm:prSet/>
      <dgm:spPr/>
      <dgm:t>
        <a:bodyPr/>
        <a:lstStyle/>
        <a:p>
          <a:endParaRPr lang="en-US"/>
        </a:p>
      </dgm:t>
    </dgm:pt>
    <dgm:pt modelId="{3D01CF44-D37D-4805-9365-247F85B15C48}" type="sibTrans" cxnId="{899C6943-FE1E-47AE-8DDD-0B7208D9634B}">
      <dgm:prSet/>
      <dgm:spPr/>
      <dgm:t>
        <a:bodyPr/>
        <a:lstStyle/>
        <a:p>
          <a:endParaRPr lang="en-US"/>
        </a:p>
      </dgm:t>
    </dgm:pt>
    <dgm:pt modelId="{0EE127D9-3CED-403B-BF8A-FFC686223CAD}" type="pres">
      <dgm:prSet presAssocID="{3DC19E21-078F-4778-9E44-4510ED4447C2}" presName="linearFlow" presStyleCnt="0">
        <dgm:presLayoutVars>
          <dgm:dir/>
          <dgm:animLvl val="lvl"/>
          <dgm:resizeHandles/>
        </dgm:presLayoutVars>
      </dgm:prSet>
      <dgm:spPr/>
    </dgm:pt>
    <dgm:pt modelId="{3FDF0FCF-EE54-450C-B625-8A9C092EF59A}" type="pres">
      <dgm:prSet presAssocID="{786FB735-AF26-4B49-B371-F97A37F08CFE}" presName="compositeNode" presStyleCnt="0">
        <dgm:presLayoutVars>
          <dgm:bulletEnabled val="1"/>
        </dgm:presLayoutVars>
      </dgm:prSet>
      <dgm:spPr/>
    </dgm:pt>
    <dgm:pt modelId="{635A1310-7F91-4B36-8086-56B7D843058C}" type="pres">
      <dgm:prSet presAssocID="{786FB735-AF26-4B49-B371-F97A37F08CFE}" presName="image" presStyleLbl="fgImgPlace1" presStyleIdx="0" presStyleCnt="3"/>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l="-35000" r="-35000"/>
          </a:stretch>
        </a:blipFill>
      </dgm:spPr>
    </dgm:pt>
    <dgm:pt modelId="{B6D64BC3-F063-47ED-80EC-09AB3BCB16DF}" type="pres">
      <dgm:prSet presAssocID="{786FB735-AF26-4B49-B371-F97A37F08CFE}" presName="childNode" presStyleLbl="node1" presStyleIdx="0" presStyleCnt="3">
        <dgm:presLayoutVars>
          <dgm:bulletEnabled val="1"/>
        </dgm:presLayoutVars>
      </dgm:prSet>
      <dgm:spPr/>
    </dgm:pt>
    <dgm:pt modelId="{5A013D5E-73AB-481D-A22C-4CCF54D2E88C}" type="pres">
      <dgm:prSet presAssocID="{786FB735-AF26-4B49-B371-F97A37F08CFE}" presName="parentNode" presStyleLbl="revTx" presStyleIdx="0" presStyleCnt="3">
        <dgm:presLayoutVars>
          <dgm:chMax val="0"/>
          <dgm:bulletEnabled val="1"/>
        </dgm:presLayoutVars>
      </dgm:prSet>
      <dgm:spPr/>
    </dgm:pt>
    <dgm:pt modelId="{6E2DB9BC-8BA1-4196-A8F7-83F56E32E828}" type="pres">
      <dgm:prSet presAssocID="{7A82B358-06D8-451E-8519-12B3E6514997}" presName="sibTrans" presStyleCnt="0"/>
      <dgm:spPr/>
    </dgm:pt>
    <dgm:pt modelId="{8FA27001-34D3-406B-8AA8-9D537BCDDF52}" type="pres">
      <dgm:prSet presAssocID="{FB45E3B0-5BA4-4393-BB61-A12B841511F2}" presName="compositeNode" presStyleCnt="0">
        <dgm:presLayoutVars>
          <dgm:bulletEnabled val="1"/>
        </dgm:presLayoutVars>
      </dgm:prSet>
      <dgm:spPr/>
    </dgm:pt>
    <dgm:pt modelId="{D3BF4A76-2892-47E5-9FB5-BCF855C13F6D}" type="pres">
      <dgm:prSet presAssocID="{FB45E3B0-5BA4-4393-BB61-A12B841511F2}" presName="image" presStyleLbl="fgImgPlac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l="-25000" r="-25000"/>
          </a:stretch>
        </a:blipFill>
      </dgm:spPr>
    </dgm:pt>
    <dgm:pt modelId="{B790C020-7CF6-4851-944C-12E0CD350F29}" type="pres">
      <dgm:prSet presAssocID="{FB45E3B0-5BA4-4393-BB61-A12B841511F2}" presName="childNode" presStyleLbl="node1" presStyleIdx="1" presStyleCnt="3">
        <dgm:presLayoutVars>
          <dgm:bulletEnabled val="1"/>
        </dgm:presLayoutVars>
      </dgm:prSet>
      <dgm:spPr/>
    </dgm:pt>
    <dgm:pt modelId="{D59EFB88-B878-4AE6-940E-291A3450BC10}" type="pres">
      <dgm:prSet presAssocID="{FB45E3B0-5BA4-4393-BB61-A12B841511F2}" presName="parentNode" presStyleLbl="revTx" presStyleIdx="1" presStyleCnt="3">
        <dgm:presLayoutVars>
          <dgm:chMax val="0"/>
          <dgm:bulletEnabled val="1"/>
        </dgm:presLayoutVars>
      </dgm:prSet>
      <dgm:spPr/>
    </dgm:pt>
    <dgm:pt modelId="{F92177AA-AB98-4B22-A5DA-A4F24C5373B2}" type="pres">
      <dgm:prSet presAssocID="{E3B5182C-F37B-47B1-A237-75B666B350B9}" presName="sibTrans" presStyleCnt="0"/>
      <dgm:spPr/>
    </dgm:pt>
    <dgm:pt modelId="{41AC6BE0-07D9-4925-892B-C2732597A890}" type="pres">
      <dgm:prSet presAssocID="{AD61048C-6913-457D-B0DC-CF2B1D900EEA}" presName="compositeNode" presStyleCnt="0">
        <dgm:presLayoutVars>
          <dgm:bulletEnabled val="1"/>
        </dgm:presLayoutVars>
      </dgm:prSet>
      <dgm:spPr/>
    </dgm:pt>
    <dgm:pt modelId="{F34BBA7A-C965-47B1-957E-791A45B21FD7}" type="pres">
      <dgm:prSet presAssocID="{AD61048C-6913-457D-B0DC-CF2B1D900EEA}" presName="image" presStyleLbl="fgImgPlace1" presStyleIdx="2" presStyleCnt="3"/>
      <dgm:spPr>
        <a:blipFill rotWithShape="1">
          <a:blip xmlns:r="http://schemas.openxmlformats.org/officeDocument/2006/relationships" r:embed="rId3"/>
          <a:srcRect/>
          <a:stretch>
            <a:fillRect l="-31000" r="-31000"/>
          </a:stretch>
        </a:blipFill>
      </dgm:spPr>
    </dgm:pt>
    <dgm:pt modelId="{37F0595A-2D9D-4E95-A042-53B251D7AC5E}" type="pres">
      <dgm:prSet presAssocID="{AD61048C-6913-457D-B0DC-CF2B1D900EEA}" presName="childNode" presStyleLbl="node1" presStyleIdx="2" presStyleCnt="3">
        <dgm:presLayoutVars>
          <dgm:bulletEnabled val="1"/>
        </dgm:presLayoutVars>
      </dgm:prSet>
      <dgm:spPr/>
    </dgm:pt>
    <dgm:pt modelId="{9514EAB9-330E-4C17-A4E2-62033CD4CB03}" type="pres">
      <dgm:prSet presAssocID="{AD61048C-6913-457D-B0DC-CF2B1D900EEA}" presName="parentNode" presStyleLbl="revTx" presStyleIdx="2" presStyleCnt="3">
        <dgm:presLayoutVars>
          <dgm:chMax val="0"/>
          <dgm:bulletEnabled val="1"/>
        </dgm:presLayoutVars>
      </dgm:prSet>
      <dgm:spPr/>
    </dgm:pt>
  </dgm:ptLst>
  <dgm:cxnLst>
    <dgm:cxn modelId="{77772F02-686F-45FA-BED5-0605BB180448}" type="presOf" srcId="{D1347DEC-F748-433B-A8F2-500834877777}" destId="{B6D64BC3-F063-47ED-80EC-09AB3BCB16DF}" srcOrd="0" destOrd="1" presId="urn:microsoft.com/office/officeart/2005/8/layout/hList2"/>
    <dgm:cxn modelId="{D0E4E00D-E0BC-4242-8ED3-27A76068B2E8}" type="presOf" srcId="{AF42175B-3BEB-4B71-9344-AC4B1CE539A8}" destId="{B6D64BC3-F063-47ED-80EC-09AB3BCB16DF}" srcOrd="0" destOrd="0" presId="urn:microsoft.com/office/officeart/2005/8/layout/hList2"/>
    <dgm:cxn modelId="{CCBF9325-DD4B-4241-895B-A1DFAC28B023}" srcId="{3DC19E21-078F-4778-9E44-4510ED4447C2}" destId="{AD61048C-6913-457D-B0DC-CF2B1D900EEA}" srcOrd="2" destOrd="0" parTransId="{61FBFFC0-1D96-4F66-A7FF-9F7933EFC877}" sibTransId="{5DCC3E6E-EFAB-4346-A819-36248F8222A4}"/>
    <dgm:cxn modelId="{71E43D26-EB1D-489E-9504-17BD5BE2CA80}" type="presOf" srcId="{25722F0E-3469-4336-9D9B-584559C1DB50}" destId="{B790C020-7CF6-4851-944C-12E0CD350F29}" srcOrd="0" destOrd="1" presId="urn:microsoft.com/office/officeart/2005/8/layout/hList2"/>
    <dgm:cxn modelId="{0E1ACE34-4298-4B29-BBFF-3141D6D1DC4D}" type="presOf" srcId="{C3EBA148-C340-4B18-B6E6-E542FDEE39D1}" destId="{B790C020-7CF6-4851-944C-12E0CD350F29}" srcOrd="0" destOrd="0" presId="urn:microsoft.com/office/officeart/2005/8/layout/hList2"/>
    <dgm:cxn modelId="{899C6943-FE1E-47AE-8DDD-0B7208D9634B}" srcId="{FB45E3B0-5BA4-4393-BB61-A12B841511F2}" destId="{92A94A14-FB36-459F-8474-024CBA2BE33D}" srcOrd="2" destOrd="0" parTransId="{EC87A3EA-1E6F-4DA9-82B1-D7EFF0EA00B1}" sibTransId="{3D01CF44-D37D-4805-9365-247F85B15C48}"/>
    <dgm:cxn modelId="{14DC2351-C75E-4F65-86CF-6480C4D2FB85}" srcId="{786FB735-AF26-4B49-B371-F97A37F08CFE}" destId="{8631DDB0-A2E2-4E40-AC96-BC363798B3E3}" srcOrd="3" destOrd="0" parTransId="{BCA33FA0-885B-421D-A6EF-870C4489C128}" sibTransId="{EF82D848-7D5A-441D-B2DD-4ADAF03E4863}"/>
    <dgm:cxn modelId="{66B30155-6A36-45BB-9E48-4334C6DE6F4A}" srcId="{3DC19E21-078F-4778-9E44-4510ED4447C2}" destId="{786FB735-AF26-4B49-B371-F97A37F08CFE}" srcOrd="0" destOrd="0" parTransId="{4F179DB1-B14B-42A8-8DBE-9E35AFA218AE}" sibTransId="{7A82B358-06D8-451E-8519-12B3E6514997}"/>
    <dgm:cxn modelId="{C0B48D76-613F-4373-9756-5D86E3166952}" type="presOf" srcId="{3DC19E21-078F-4778-9E44-4510ED4447C2}" destId="{0EE127D9-3CED-403B-BF8A-FFC686223CAD}" srcOrd="0" destOrd="0" presId="urn:microsoft.com/office/officeart/2005/8/layout/hList2"/>
    <dgm:cxn modelId="{10C78C5A-3218-42BC-BA23-BA97B7B158CB}" type="presOf" srcId="{D103B3C2-6D00-4474-AA7A-93B9E5B9E6A7}" destId="{B6D64BC3-F063-47ED-80EC-09AB3BCB16DF}" srcOrd="0" destOrd="2" presId="urn:microsoft.com/office/officeart/2005/8/layout/hList2"/>
    <dgm:cxn modelId="{C026617E-B1AB-447C-8BE4-659B25A26007}" srcId="{FB45E3B0-5BA4-4393-BB61-A12B841511F2}" destId="{C3EBA148-C340-4B18-B6E6-E542FDEE39D1}" srcOrd="0" destOrd="0" parTransId="{D4A50FC4-D5DE-47F8-9793-AFB36A8CCF51}" sibTransId="{EE783E4C-EA5E-4913-A604-538207C6F9E5}"/>
    <dgm:cxn modelId="{B5C9727F-7A99-40C3-BB1D-8AA7798076C1}" type="presOf" srcId="{786FB735-AF26-4B49-B371-F97A37F08CFE}" destId="{5A013D5E-73AB-481D-A22C-4CCF54D2E88C}" srcOrd="0" destOrd="0" presId="urn:microsoft.com/office/officeart/2005/8/layout/hList2"/>
    <dgm:cxn modelId="{5C49AB85-5BA7-4FF6-993F-3B9DAFD01795}" srcId="{786FB735-AF26-4B49-B371-F97A37F08CFE}" destId="{D103B3C2-6D00-4474-AA7A-93B9E5B9E6A7}" srcOrd="2" destOrd="0" parTransId="{DDC47CC6-4050-4C5C-8B7A-8652DDBC3C69}" sibTransId="{E41091C0-F95B-40D4-B298-92F4ABF8E9EE}"/>
    <dgm:cxn modelId="{C07A5888-B287-4C88-99A9-928F4475BCBE}" type="presOf" srcId="{A35506BF-68B2-4886-8338-FB6802EE7EB5}" destId="{37F0595A-2D9D-4E95-A042-53B251D7AC5E}" srcOrd="0" destOrd="0" presId="urn:microsoft.com/office/officeart/2005/8/layout/hList2"/>
    <dgm:cxn modelId="{F0309CA1-B220-4490-9104-DC4A41E5556F}" srcId="{AD61048C-6913-457D-B0DC-CF2B1D900EEA}" destId="{A35506BF-68B2-4886-8338-FB6802EE7EB5}" srcOrd="0" destOrd="0" parTransId="{8D982FCD-AE4A-4E7E-86B0-1EC76D0833B3}" sibTransId="{6DE82EE2-F922-4E54-9FDA-ED3CED3026FF}"/>
    <dgm:cxn modelId="{350DCABD-F68D-4A17-AC1B-95480B8E3777}" type="presOf" srcId="{92A94A14-FB36-459F-8474-024CBA2BE33D}" destId="{B790C020-7CF6-4851-944C-12E0CD350F29}" srcOrd="0" destOrd="2" presId="urn:microsoft.com/office/officeart/2005/8/layout/hList2"/>
    <dgm:cxn modelId="{AFD410C0-0E49-4B93-AE86-C27278E7D2F4}" srcId="{3DC19E21-078F-4778-9E44-4510ED4447C2}" destId="{FB45E3B0-5BA4-4393-BB61-A12B841511F2}" srcOrd="1" destOrd="0" parTransId="{F3DE3B33-499E-45F2-A3A2-C7659EB98D37}" sibTransId="{E3B5182C-F37B-47B1-A237-75B666B350B9}"/>
    <dgm:cxn modelId="{FF6B35D9-D749-42F3-8317-2C9945DCA36E}" srcId="{786FB735-AF26-4B49-B371-F97A37F08CFE}" destId="{D1347DEC-F748-433B-A8F2-500834877777}" srcOrd="1" destOrd="0" parTransId="{F2334C60-BB17-4821-87DA-0D20BDF53263}" sibTransId="{0307F00D-1436-4BE2-A09E-BF4D5675EA61}"/>
    <dgm:cxn modelId="{8ED949DC-9809-4249-94C9-D0F13B8296F6}" srcId="{FB45E3B0-5BA4-4393-BB61-A12B841511F2}" destId="{25722F0E-3469-4336-9D9B-584559C1DB50}" srcOrd="1" destOrd="0" parTransId="{E1FECC96-574D-477C-A3E3-345216634AA4}" sibTransId="{AF9DCE81-E666-481F-916B-6816E02D6C86}"/>
    <dgm:cxn modelId="{B1DB7DDD-593A-4BB4-9F2B-5F2B89532AE5}" type="presOf" srcId="{982D3649-32A9-470F-8709-789CAFFB4A07}" destId="{B6D64BC3-F063-47ED-80EC-09AB3BCB16DF}" srcOrd="0" destOrd="4" presId="urn:microsoft.com/office/officeart/2005/8/layout/hList2"/>
    <dgm:cxn modelId="{35FB72DF-C63D-4CD8-AFC1-B2B51F95758D}" srcId="{786FB735-AF26-4B49-B371-F97A37F08CFE}" destId="{AF42175B-3BEB-4B71-9344-AC4B1CE539A8}" srcOrd="0" destOrd="0" parTransId="{7308B13A-FE28-41A5-AECF-2CF5DE7A7548}" sibTransId="{14A34517-571B-47E9-AE3E-BD24E74CD8F0}"/>
    <dgm:cxn modelId="{70215AE1-A025-4A67-95FD-F98BCAE17FB8}" srcId="{786FB735-AF26-4B49-B371-F97A37F08CFE}" destId="{982D3649-32A9-470F-8709-789CAFFB4A07}" srcOrd="4" destOrd="0" parTransId="{E3B52A25-94F6-4D0C-84D3-F69CD264BE3F}" sibTransId="{442D9EB3-C373-4912-B5D6-857DC023168F}"/>
    <dgm:cxn modelId="{A68B7EFA-E6DF-418F-874F-7F45C539A7AA}" type="presOf" srcId="{8631DDB0-A2E2-4E40-AC96-BC363798B3E3}" destId="{B6D64BC3-F063-47ED-80EC-09AB3BCB16DF}" srcOrd="0" destOrd="3" presId="urn:microsoft.com/office/officeart/2005/8/layout/hList2"/>
    <dgm:cxn modelId="{11614EFF-9949-43FB-9B57-B33BC7B1D684}" type="presOf" srcId="{FB45E3B0-5BA4-4393-BB61-A12B841511F2}" destId="{D59EFB88-B878-4AE6-940E-291A3450BC10}" srcOrd="0" destOrd="0" presId="urn:microsoft.com/office/officeart/2005/8/layout/hList2"/>
    <dgm:cxn modelId="{87F0BFFF-2D8E-402A-8F0C-E9035A76073A}" type="presOf" srcId="{AD61048C-6913-457D-B0DC-CF2B1D900EEA}" destId="{9514EAB9-330E-4C17-A4E2-62033CD4CB03}" srcOrd="0" destOrd="0" presId="urn:microsoft.com/office/officeart/2005/8/layout/hList2"/>
    <dgm:cxn modelId="{37202B01-2BE3-4736-A095-0ECFD51DBBB3}" type="presParOf" srcId="{0EE127D9-3CED-403B-BF8A-FFC686223CAD}" destId="{3FDF0FCF-EE54-450C-B625-8A9C092EF59A}" srcOrd="0" destOrd="0" presId="urn:microsoft.com/office/officeart/2005/8/layout/hList2"/>
    <dgm:cxn modelId="{8E897444-6CB1-4D95-AF76-377694A5EBCA}" type="presParOf" srcId="{3FDF0FCF-EE54-450C-B625-8A9C092EF59A}" destId="{635A1310-7F91-4B36-8086-56B7D843058C}" srcOrd="0" destOrd="0" presId="urn:microsoft.com/office/officeart/2005/8/layout/hList2"/>
    <dgm:cxn modelId="{F67A9FD5-7517-46FF-AA30-1911C9B0D8D5}" type="presParOf" srcId="{3FDF0FCF-EE54-450C-B625-8A9C092EF59A}" destId="{B6D64BC3-F063-47ED-80EC-09AB3BCB16DF}" srcOrd="1" destOrd="0" presId="urn:microsoft.com/office/officeart/2005/8/layout/hList2"/>
    <dgm:cxn modelId="{FDA1C770-0467-431E-8A74-21CB70DB6AAB}" type="presParOf" srcId="{3FDF0FCF-EE54-450C-B625-8A9C092EF59A}" destId="{5A013D5E-73AB-481D-A22C-4CCF54D2E88C}" srcOrd="2" destOrd="0" presId="urn:microsoft.com/office/officeart/2005/8/layout/hList2"/>
    <dgm:cxn modelId="{9EB2DCDD-1973-4B1E-847B-5683BFD6A5D7}" type="presParOf" srcId="{0EE127D9-3CED-403B-BF8A-FFC686223CAD}" destId="{6E2DB9BC-8BA1-4196-A8F7-83F56E32E828}" srcOrd="1" destOrd="0" presId="urn:microsoft.com/office/officeart/2005/8/layout/hList2"/>
    <dgm:cxn modelId="{552F3949-EE89-4DF0-B6CC-A17C441B53A5}" type="presParOf" srcId="{0EE127D9-3CED-403B-BF8A-FFC686223CAD}" destId="{8FA27001-34D3-406B-8AA8-9D537BCDDF52}" srcOrd="2" destOrd="0" presId="urn:microsoft.com/office/officeart/2005/8/layout/hList2"/>
    <dgm:cxn modelId="{A87C58AA-4BCB-431A-B0DE-F3540F5A1668}" type="presParOf" srcId="{8FA27001-34D3-406B-8AA8-9D537BCDDF52}" destId="{D3BF4A76-2892-47E5-9FB5-BCF855C13F6D}" srcOrd="0" destOrd="0" presId="urn:microsoft.com/office/officeart/2005/8/layout/hList2"/>
    <dgm:cxn modelId="{B761CA13-C59A-45D9-8433-69F027371063}" type="presParOf" srcId="{8FA27001-34D3-406B-8AA8-9D537BCDDF52}" destId="{B790C020-7CF6-4851-944C-12E0CD350F29}" srcOrd="1" destOrd="0" presId="urn:microsoft.com/office/officeart/2005/8/layout/hList2"/>
    <dgm:cxn modelId="{CF13DBE8-80E9-41BB-8798-6D83AF2974D2}" type="presParOf" srcId="{8FA27001-34D3-406B-8AA8-9D537BCDDF52}" destId="{D59EFB88-B878-4AE6-940E-291A3450BC10}" srcOrd="2" destOrd="0" presId="urn:microsoft.com/office/officeart/2005/8/layout/hList2"/>
    <dgm:cxn modelId="{A3BDD6AF-DF5B-408A-8B87-37B98ABA120F}" type="presParOf" srcId="{0EE127D9-3CED-403B-BF8A-FFC686223CAD}" destId="{F92177AA-AB98-4B22-A5DA-A4F24C5373B2}" srcOrd="3" destOrd="0" presId="urn:microsoft.com/office/officeart/2005/8/layout/hList2"/>
    <dgm:cxn modelId="{95ACB3F8-6FB4-424A-83CF-46E74240E03C}" type="presParOf" srcId="{0EE127D9-3CED-403B-BF8A-FFC686223CAD}" destId="{41AC6BE0-07D9-4925-892B-C2732597A890}" srcOrd="4" destOrd="0" presId="urn:microsoft.com/office/officeart/2005/8/layout/hList2"/>
    <dgm:cxn modelId="{4367BC08-743B-4B12-95C4-CC1F083ECB96}" type="presParOf" srcId="{41AC6BE0-07D9-4925-892B-C2732597A890}" destId="{F34BBA7A-C965-47B1-957E-791A45B21FD7}" srcOrd="0" destOrd="0" presId="urn:microsoft.com/office/officeart/2005/8/layout/hList2"/>
    <dgm:cxn modelId="{4E7997DC-E35A-440F-9E47-AB772337C79B}" type="presParOf" srcId="{41AC6BE0-07D9-4925-892B-C2732597A890}" destId="{37F0595A-2D9D-4E95-A042-53B251D7AC5E}" srcOrd="1" destOrd="0" presId="urn:microsoft.com/office/officeart/2005/8/layout/hList2"/>
    <dgm:cxn modelId="{6A449339-3867-4290-924E-B4A3CBCD186E}" type="presParOf" srcId="{41AC6BE0-07D9-4925-892B-C2732597A890}" destId="{9514EAB9-330E-4C17-A4E2-62033CD4CB03}" srcOrd="2" destOrd="0" presId="urn:microsoft.com/office/officeart/2005/8/layout/h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84BD6F-EFC9-431F-BD5C-B38643C6242B}">
      <dsp:nvSpPr>
        <dsp:cNvPr id="0" name=""/>
        <dsp:cNvSpPr/>
      </dsp:nvSpPr>
      <dsp:spPr>
        <a:xfrm>
          <a:off x="0" y="531"/>
          <a:ext cx="10515600" cy="124293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36A87C-BFF9-4241-BA9E-E9C159E6F0B1}">
      <dsp:nvSpPr>
        <dsp:cNvPr id="0" name=""/>
        <dsp:cNvSpPr/>
      </dsp:nvSpPr>
      <dsp:spPr>
        <a:xfrm>
          <a:off x="375988" y="28019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27B0E77-1F82-4DF4-BD1E-FA8B2F948CC9}">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dirty="0"/>
            <a:t>Most of the existing buses turnarounds are on the edge of the city  with other municipalities. Having a shared mobility hub could help to integrate the transit users between cities</a:t>
          </a:r>
        </a:p>
      </dsp:txBody>
      <dsp:txXfrm>
        <a:off x="1435590" y="531"/>
        <a:ext cx="9080009" cy="1242935"/>
      </dsp:txXfrm>
    </dsp:sp>
    <dsp:sp modelId="{1C90D009-0044-46EF-9C84-E26DDB3D447E}">
      <dsp:nvSpPr>
        <dsp:cNvPr id="0" name=""/>
        <dsp:cNvSpPr/>
      </dsp:nvSpPr>
      <dsp:spPr>
        <a:xfrm>
          <a:off x="0" y="1554201"/>
          <a:ext cx="10515600" cy="124293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41F32C-AC86-48E1-910E-9EBF1DB75132}">
      <dsp:nvSpPr>
        <dsp:cNvPr id="0" name=""/>
        <dsp:cNvSpPr/>
      </dsp:nvSpPr>
      <dsp:spPr>
        <a:xfrm>
          <a:off x="375988" y="183386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D3A558F-B1BF-4FD4-A550-2825A06DFE9A}">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dirty="0"/>
            <a:t>Increase the number of potential users of sustainable transit modes</a:t>
          </a:r>
        </a:p>
      </dsp:txBody>
      <dsp:txXfrm>
        <a:off x="1435590" y="1554201"/>
        <a:ext cx="9080009" cy="1242935"/>
      </dsp:txXfrm>
    </dsp:sp>
    <dsp:sp modelId="{E5E543C0-D464-45A4-AF63-96CE3F900AA6}">
      <dsp:nvSpPr>
        <dsp:cNvPr id="0" name=""/>
        <dsp:cNvSpPr/>
      </dsp:nvSpPr>
      <dsp:spPr>
        <a:xfrm>
          <a:off x="0" y="3107870"/>
          <a:ext cx="10515600" cy="124293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6F4F1D-D09B-4DEB-9061-9AB7D82708AE}">
      <dsp:nvSpPr>
        <dsp:cNvPr id="0" name=""/>
        <dsp:cNvSpPr/>
      </dsp:nvSpPr>
      <dsp:spPr>
        <a:xfrm>
          <a:off x="375988" y="338753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88271CE-54A1-4121-AAEC-5C45ECA9E26E}">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dirty="0"/>
            <a:t>The space which it is already own by the CTA, have space for potential businesses that can activate the area </a:t>
          </a:r>
        </a:p>
      </dsp:txBody>
      <dsp:txXfrm>
        <a:off x="1435590" y="3107870"/>
        <a:ext cx="9080009" cy="12429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013D5E-73AB-481D-A22C-4CCF54D2E88C}">
      <dsp:nvSpPr>
        <dsp:cNvPr id="0" name=""/>
        <dsp:cNvSpPr/>
      </dsp:nvSpPr>
      <dsp:spPr>
        <a:xfrm rot="16200000">
          <a:off x="-1383004" y="2256453"/>
          <a:ext cx="3394043" cy="5049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445295" bIns="0" numCol="1" spcCol="1270" anchor="t" anchorCtr="0">
          <a:noAutofit/>
        </a:bodyPr>
        <a:lstStyle/>
        <a:p>
          <a:pPr marL="0" lvl="0" indent="0" algn="r" defTabSz="1111250">
            <a:lnSpc>
              <a:spcPct val="90000"/>
            </a:lnSpc>
            <a:spcBef>
              <a:spcPct val="0"/>
            </a:spcBef>
            <a:spcAft>
              <a:spcPct val="35000"/>
            </a:spcAft>
            <a:buNone/>
          </a:pPr>
          <a:r>
            <a:rPr lang="en-US" sz="2500" kern="1200" dirty="0"/>
            <a:t>Transit Oriented</a:t>
          </a:r>
        </a:p>
      </dsp:txBody>
      <dsp:txXfrm>
        <a:off x="-1383004" y="2256453"/>
        <a:ext cx="3394043" cy="504901"/>
      </dsp:txXfrm>
    </dsp:sp>
    <dsp:sp modelId="{B6D64BC3-F063-47ED-80EC-09AB3BCB16DF}">
      <dsp:nvSpPr>
        <dsp:cNvPr id="0" name=""/>
        <dsp:cNvSpPr/>
      </dsp:nvSpPr>
      <dsp:spPr>
        <a:xfrm>
          <a:off x="566467" y="811881"/>
          <a:ext cx="2514943" cy="339404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445295" rIns="177800" bIns="1778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Bike Sharing</a:t>
          </a:r>
        </a:p>
        <a:p>
          <a:pPr marL="228600" lvl="1" indent="-228600" algn="l" defTabSz="889000">
            <a:lnSpc>
              <a:spcPct val="90000"/>
            </a:lnSpc>
            <a:spcBef>
              <a:spcPct val="0"/>
            </a:spcBef>
            <a:spcAft>
              <a:spcPct val="15000"/>
            </a:spcAft>
            <a:buChar char="•"/>
          </a:pPr>
          <a:r>
            <a:rPr lang="en-US" sz="2000" kern="1200" dirty="0"/>
            <a:t>Ride Sharing</a:t>
          </a:r>
        </a:p>
        <a:p>
          <a:pPr marL="228600" lvl="1" indent="-228600" algn="l" defTabSz="889000">
            <a:lnSpc>
              <a:spcPct val="90000"/>
            </a:lnSpc>
            <a:spcBef>
              <a:spcPct val="0"/>
            </a:spcBef>
            <a:spcAft>
              <a:spcPct val="15000"/>
            </a:spcAft>
            <a:buChar char="•"/>
          </a:pPr>
          <a:r>
            <a:rPr lang="en-US" sz="2000" kern="1200" dirty="0"/>
            <a:t>Scooter</a:t>
          </a:r>
        </a:p>
        <a:p>
          <a:pPr marL="228600" lvl="1" indent="-228600" algn="l" defTabSz="889000">
            <a:lnSpc>
              <a:spcPct val="90000"/>
            </a:lnSpc>
            <a:spcBef>
              <a:spcPct val="0"/>
            </a:spcBef>
            <a:spcAft>
              <a:spcPct val="15000"/>
            </a:spcAft>
            <a:buChar char="•"/>
          </a:pPr>
          <a:r>
            <a:rPr lang="en-US" sz="2000" kern="1200" dirty="0"/>
            <a:t>Charging points for electric cars</a:t>
          </a:r>
        </a:p>
        <a:p>
          <a:pPr marL="228600" lvl="1" indent="-228600" algn="l" defTabSz="889000">
            <a:lnSpc>
              <a:spcPct val="90000"/>
            </a:lnSpc>
            <a:spcBef>
              <a:spcPct val="0"/>
            </a:spcBef>
            <a:spcAft>
              <a:spcPct val="15000"/>
            </a:spcAft>
            <a:buChar char="•"/>
          </a:pPr>
          <a:r>
            <a:rPr lang="en-US" sz="2000" kern="1200" dirty="0"/>
            <a:t>Infrastructure oriented to transit</a:t>
          </a:r>
        </a:p>
      </dsp:txBody>
      <dsp:txXfrm>
        <a:off x="566467" y="811881"/>
        <a:ext cx="2514943" cy="3394043"/>
      </dsp:txXfrm>
    </dsp:sp>
    <dsp:sp modelId="{635A1310-7F91-4B36-8086-56B7D843058C}">
      <dsp:nvSpPr>
        <dsp:cNvPr id="0" name=""/>
        <dsp:cNvSpPr/>
      </dsp:nvSpPr>
      <dsp:spPr>
        <a:xfrm>
          <a:off x="61566" y="145412"/>
          <a:ext cx="1009802" cy="1009802"/>
        </a:xfrm>
        <a:prstGeom prst="rect">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l="-35000" r="-3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59EFB88-B878-4AE6-940E-291A3450BC10}">
      <dsp:nvSpPr>
        <dsp:cNvPr id="0" name=""/>
        <dsp:cNvSpPr/>
      </dsp:nvSpPr>
      <dsp:spPr>
        <a:xfrm rot="16200000">
          <a:off x="2303306" y="2256453"/>
          <a:ext cx="3394043" cy="5049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445295" bIns="0" numCol="1" spcCol="1270" anchor="t" anchorCtr="0">
          <a:noAutofit/>
        </a:bodyPr>
        <a:lstStyle/>
        <a:p>
          <a:pPr marL="0" lvl="0" indent="0" algn="r" defTabSz="1111250">
            <a:lnSpc>
              <a:spcPct val="90000"/>
            </a:lnSpc>
            <a:spcBef>
              <a:spcPct val="0"/>
            </a:spcBef>
            <a:spcAft>
              <a:spcPct val="35000"/>
            </a:spcAft>
            <a:buNone/>
          </a:pPr>
          <a:r>
            <a:rPr lang="en-US" sz="2500" kern="1200" dirty="0"/>
            <a:t>Public Space Oriented</a:t>
          </a:r>
        </a:p>
      </dsp:txBody>
      <dsp:txXfrm>
        <a:off x="2303306" y="2256453"/>
        <a:ext cx="3394043" cy="504901"/>
      </dsp:txXfrm>
    </dsp:sp>
    <dsp:sp modelId="{B790C020-7CF6-4851-944C-12E0CD350F29}">
      <dsp:nvSpPr>
        <dsp:cNvPr id="0" name=""/>
        <dsp:cNvSpPr/>
      </dsp:nvSpPr>
      <dsp:spPr>
        <a:xfrm>
          <a:off x="4252779" y="811881"/>
          <a:ext cx="2514943" cy="339404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445295" rIns="177800" bIns="1778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Enhancing the current infrastructure</a:t>
          </a:r>
        </a:p>
        <a:p>
          <a:pPr marL="228600" lvl="1" indent="-228600" algn="l" defTabSz="889000">
            <a:lnSpc>
              <a:spcPct val="90000"/>
            </a:lnSpc>
            <a:spcBef>
              <a:spcPct val="0"/>
            </a:spcBef>
            <a:spcAft>
              <a:spcPct val="15000"/>
            </a:spcAft>
            <a:buChar char="•"/>
          </a:pPr>
          <a:r>
            <a:rPr lang="en-US" sz="2000" kern="1200" dirty="0"/>
            <a:t>Adding art and greenery to made it more welcoming</a:t>
          </a:r>
        </a:p>
        <a:p>
          <a:pPr marL="228600" lvl="1" indent="-228600" algn="l" defTabSz="889000">
            <a:lnSpc>
              <a:spcPct val="90000"/>
            </a:lnSpc>
            <a:spcBef>
              <a:spcPct val="0"/>
            </a:spcBef>
            <a:spcAft>
              <a:spcPct val="15000"/>
            </a:spcAft>
            <a:buChar char="•"/>
          </a:pPr>
          <a:r>
            <a:rPr lang="en-US" sz="2000" kern="1200" dirty="0"/>
            <a:t>Increasing the space for social gathering</a:t>
          </a:r>
        </a:p>
      </dsp:txBody>
      <dsp:txXfrm>
        <a:off x="4252779" y="811881"/>
        <a:ext cx="2514943" cy="3394043"/>
      </dsp:txXfrm>
    </dsp:sp>
    <dsp:sp modelId="{D3BF4A76-2892-47E5-9FB5-BCF855C13F6D}">
      <dsp:nvSpPr>
        <dsp:cNvPr id="0" name=""/>
        <dsp:cNvSpPr/>
      </dsp:nvSpPr>
      <dsp:spPr>
        <a:xfrm>
          <a:off x="3747877" y="145412"/>
          <a:ext cx="1009802" cy="1009802"/>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25000" r="-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514EAB9-330E-4C17-A4E2-62033CD4CB03}">
      <dsp:nvSpPr>
        <dsp:cNvPr id="0" name=""/>
        <dsp:cNvSpPr/>
      </dsp:nvSpPr>
      <dsp:spPr>
        <a:xfrm rot="16200000">
          <a:off x="5989618" y="2256453"/>
          <a:ext cx="3394043" cy="5049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445295" bIns="0" numCol="1" spcCol="1270" anchor="t" anchorCtr="0">
          <a:noAutofit/>
        </a:bodyPr>
        <a:lstStyle/>
        <a:p>
          <a:pPr marL="0" lvl="0" indent="0" algn="r" defTabSz="1111250">
            <a:lnSpc>
              <a:spcPct val="90000"/>
            </a:lnSpc>
            <a:spcBef>
              <a:spcPct val="0"/>
            </a:spcBef>
            <a:spcAft>
              <a:spcPct val="35000"/>
            </a:spcAft>
            <a:buNone/>
          </a:pPr>
          <a:r>
            <a:rPr lang="en-US" sz="2500" kern="1200" dirty="0"/>
            <a:t>Mixed Design</a:t>
          </a:r>
        </a:p>
      </dsp:txBody>
      <dsp:txXfrm>
        <a:off x="5989618" y="2256453"/>
        <a:ext cx="3394043" cy="504901"/>
      </dsp:txXfrm>
    </dsp:sp>
    <dsp:sp modelId="{37F0595A-2D9D-4E95-A042-53B251D7AC5E}">
      <dsp:nvSpPr>
        <dsp:cNvPr id="0" name=""/>
        <dsp:cNvSpPr/>
      </dsp:nvSpPr>
      <dsp:spPr>
        <a:xfrm>
          <a:off x="7939090" y="811881"/>
          <a:ext cx="2514943" cy="339404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445295" rIns="177800" bIns="1778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Balance between public space and transit oriented infrastructure</a:t>
          </a:r>
        </a:p>
      </dsp:txBody>
      <dsp:txXfrm>
        <a:off x="7939090" y="811881"/>
        <a:ext cx="2514943" cy="3394043"/>
      </dsp:txXfrm>
    </dsp:sp>
    <dsp:sp modelId="{F34BBA7A-C965-47B1-957E-791A45B21FD7}">
      <dsp:nvSpPr>
        <dsp:cNvPr id="0" name=""/>
        <dsp:cNvSpPr/>
      </dsp:nvSpPr>
      <dsp:spPr>
        <a:xfrm>
          <a:off x="7434189" y="145412"/>
          <a:ext cx="1009802" cy="1009802"/>
        </a:xfrm>
        <a:prstGeom prst="rect">
          <a:avLst/>
        </a:prstGeom>
        <a:blipFill rotWithShape="1">
          <a:blip xmlns:r="http://schemas.openxmlformats.org/officeDocument/2006/relationships" r:embed="rId3"/>
          <a:srcRect/>
          <a:stretch>
            <a:fillRect l="-31000" r="-3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FC1035-CF2C-4B8E-96B3-1B0E9D1662FF}" type="datetimeFigureOut">
              <a:rPr lang="en-US" smtClean="0"/>
              <a:t>10/6/2026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6BE5AC-EEB8-419A-9F86-4E1B61A37C62}" type="slidenum">
              <a:rPr lang="en-US" smtClean="0"/>
              <a:t>‹#›</a:t>
            </a:fld>
            <a:endParaRPr lang="en-US"/>
          </a:p>
        </p:txBody>
      </p:sp>
    </p:spTree>
    <p:extLst>
      <p:ext uri="{BB962C8B-B14F-4D97-AF65-F5344CB8AC3E}">
        <p14:creationId xmlns:p14="http://schemas.microsoft.com/office/powerpoint/2010/main" val="3280203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groups.google.com/forum/?fromgroups#%21topic/gtfs-changes/rEiSeKNc4cs"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8299">
              <a:defRPr/>
            </a:pPr>
            <a:r>
              <a:rPr lang="en-US" dirty="0"/>
              <a:t>After Dred Scott, Plessy is probably the most notorious decision involving race in the history of the United States Supreme Court. It is the case identified with the principle of “separate but equal”—the theory that segregation is not per se discrimination. Plessy is the decision the Supreme Court had to overturn, in Brown v. Board of Education, in 1954, to declare that school segregation violated the equal-protection clause of the Fourteenth Amendment. When the South began instituting Jim Crow, after the end of Reconstruction, laws mandating separate cars on trains appeared across the region. One of the first was passed in Florida, in 1887, followed by Mississippi, in 1888, and Texas, in 1889. When Louisiana passed its separate-cars law, a New Orleans lawyer and newspaper editor named Louis Martinet—his mother was born a slave; his father, a Belgian, bought her freedom—formed the Citizens’ Committee to Test the Constitutionality of the Separate Car Law, and set about building a case. On June 7, 1892, he boarded a train, one travelling only within the state of Louisiana, and sat in the car for white passengers. When the conductor asked if Plessy was colored, he said yes, and was removed from the train and booked. (Train conductors were in a ridiculous position: even if the law required trains to have separate cars, riders could still sue the conductor for misclassifying them.)</a:t>
            </a:r>
          </a:p>
        </p:txBody>
      </p:sp>
      <p:sp>
        <p:nvSpPr>
          <p:cNvPr id="4" name="Slide Number Placeholder 3"/>
          <p:cNvSpPr>
            <a:spLocks noGrp="1"/>
          </p:cNvSpPr>
          <p:nvPr>
            <p:ph type="sldNum" sz="quarter" idx="5"/>
          </p:nvPr>
        </p:nvSpPr>
        <p:spPr/>
        <p:txBody>
          <a:bodyPr/>
          <a:lstStyle/>
          <a:p>
            <a:fld id="{180D0A3F-94EA-4076-AD09-DEF8985347F4}" type="slidenum">
              <a:rPr lang="en-US" smtClean="0"/>
              <a:t>1</a:t>
            </a:fld>
            <a:endParaRPr lang="en-US"/>
          </a:p>
        </p:txBody>
      </p:sp>
    </p:spTree>
    <p:extLst>
      <p:ext uri="{BB962C8B-B14F-4D97-AF65-F5344CB8AC3E}">
        <p14:creationId xmlns:p14="http://schemas.microsoft.com/office/powerpoint/2010/main" val="39233163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boycott was prompted partly by the 1950 decision by the Baton Rouge city council to support the financially strapped municipal bus company by revoking the licenses of nearly 40 competing black-owned transportation companies. African Americans now had no choice but to ride segregated buses operated by the city-owned bus company.  Blacks made about 80% of the bus riders on the city bus system but were required to sit back of the bus or stand even if the front seats reserved for whites remained empty. In January of 1953, the same day bus fares rose from 10 to 15 cents for all riders, Reverend T.J. Jemison, pastor of Mt. Zion First Baptist Church, the largest black church in Louisiana, complained to the city council which in response passed Ordinance 222 which allowed blacks to sit in “white” seats if the bus was crowded and those seats were unoccupied. Blacks however, could not sit next to whites or in front of them. </a:t>
            </a:r>
          </a:p>
        </p:txBody>
      </p:sp>
      <p:sp>
        <p:nvSpPr>
          <p:cNvPr id="4" name="Slide Number Placeholder 3"/>
          <p:cNvSpPr>
            <a:spLocks noGrp="1"/>
          </p:cNvSpPr>
          <p:nvPr>
            <p:ph type="sldNum" sz="quarter" idx="5"/>
          </p:nvPr>
        </p:nvSpPr>
        <p:spPr/>
        <p:txBody>
          <a:bodyPr/>
          <a:lstStyle/>
          <a:p>
            <a:fld id="{180D0A3F-94EA-4076-AD09-DEF8985347F4}" type="slidenum">
              <a:rPr lang="en-US" smtClean="0"/>
              <a:t>2</a:t>
            </a:fld>
            <a:endParaRPr lang="en-US"/>
          </a:p>
        </p:txBody>
      </p:sp>
    </p:spTree>
    <p:extLst>
      <p:ext uri="{BB962C8B-B14F-4D97-AF65-F5344CB8AC3E}">
        <p14:creationId xmlns:p14="http://schemas.microsoft.com/office/powerpoint/2010/main" val="24824978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11851-3424-7142-AFB2-44C842EAA1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7D8188-F8D9-2EED-778A-3DEA24CC76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C04B87-4EAA-66C4-6563-ABA2F68B9FE3}"/>
              </a:ext>
            </a:extLst>
          </p:cNvPr>
          <p:cNvSpPr>
            <a:spLocks noGrp="1"/>
          </p:cNvSpPr>
          <p:nvPr>
            <p:ph type="body" idx="1"/>
          </p:nvPr>
        </p:nvSpPr>
        <p:spPr/>
        <p:txBody>
          <a:bodyPr/>
          <a:lstStyle/>
          <a:p>
            <a:r>
              <a:rPr lang="en-US" dirty="0">
                <a:latin typeface="Calibri" panose="020F0502020204030204" pitchFamily="34" charset="0"/>
                <a:ea typeface="Tahoma" panose="020B0604030504040204" pitchFamily="34" charset="0"/>
              </a:rPr>
              <a:t>Harlem Avenue saw rail service before the bus existed: in 1894 the Cicero &amp; Proviso Street Railway opened streetcar track on Harlem between Chicago Avenue and Madison Street, part of a suburban network the Chicago &amp; West Towns Railway took over in 1913. That company started the Harlem bus in 1927 as route #7, which the RTA renumbered 307 in the mid-1970s and Pace's West Division has operated since 1985. Over the decades the route has expanded and contracted, at times reaching O'Hare and downtown Chicago, and today it runs from Grand/Nordica to Bridgeview Transit Center, with a faster Pulse rapid-bus line planned for the corridor.</a:t>
            </a:r>
            <a:endParaRPr lang="en-US" dirty="0"/>
          </a:p>
        </p:txBody>
      </p:sp>
      <p:sp>
        <p:nvSpPr>
          <p:cNvPr id="4" name="Slide Number Placeholder 3">
            <a:extLst>
              <a:ext uri="{FF2B5EF4-FFF2-40B4-BE49-F238E27FC236}">
                <a16:creationId xmlns:a16="http://schemas.microsoft.com/office/drawing/2014/main" id="{D2D8E298-9B43-DB77-9F18-2618F5DAB955}"/>
              </a:ext>
            </a:extLst>
          </p:cNvPr>
          <p:cNvSpPr>
            <a:spLocks noGrp="1"/>
          </p:cNvSpPr>
          <p:nvPr>
            <p:ph type="sldNum" sz="quarter" idx="5"/>
          </p:nvPr>
        </p:nvSpPr>
        <p:spPr/>
        <p:txBody>
          <a:bodyPr/>
          <a:lstStyle/>
          <a:p>
            <a:fld id="{EA6BE5AC-EEB8-419A-9F86-4E1B61A37C62}" type="slidenum">
              <a:rPr lang="en-US" smtClean="0"/>
              <a:t>4</a:t>
            </a:fld>
            <a:endParaRPr lang="en-US"/>
          </a:p>
        </p:txBody>
      </p:sp>
    </p:spTree>
    <p:extLst>
      <p:ext uri="{BB962C8B-B14F-4D97-AF65-F5344CB8AC3E}">
        <p14:creationId xmlns:p14="http://schemas.microsoft.com/office/powerpoint/2010/main" val="30511741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Chicago Surface Lines (CSL) was operator of the street railway system of Chicago, Illinois, from the years 1913 to 1947. The firm is a predecessor of today's publicly owned operator, the Chicago Transit Authority. The Chicago Surface Line had dozens of routes and over 1,000 miles of trackage at its height. The table below shows a basic overview of CSL routes at their height. Many changes to routing and terminals were made at various times. Abandonment dates noted are dates that routes were completely changed over to bus or trolley bus, or eliminated altogether.</a:t>
            </a:r>
          </a:p>
          <a:p>
            <a:endParaRPr lang="en-US" dirty="0"/>
          </a:p>
          <a:p>
            <a:r>
              <a:rPr lang="en-US" dirty="0"/>
              <a:t>https://en.wikipedia.org/wiki/Chicago_Surface_Lines</a:t>
            </a:r>
          </a:p>
          <a:p>
            <a:endParaRPr lang="en-US" dirty="0"/>
          </a:p>
        </p:txBody>
      </p:sp>
      <p:sp>
        <p:nvSpPr>
          <p:cNvPr id="4" name="Slide Number Placeholder 3"/>
          <p:cNvSpPr>
            <a:spLocks noGrp="1"/>
          </p:cNvSpPr>
          <p:nvPr>
            <p:ph type="sldNum" sz="quarter" idx="5"/>
          </p:nvPr>
        </p:nvSpPr>
        <p:spPr/>
        <p:txBody>
          <a:bodyPr/>
          <a:lstStyle/>
          <a:p>
            <a:fld id="{EA6BE5AC-EEB8-419A-9F86-4E1B61A37C62}" type="slidenum">
              <a:rPr lang="en-US" smtClean="0"/>
              <a:t>6</a:t>
            </a:fld>
            <a:endParaRPr lang="en-US"/>
          </a:p>
        </p:txBody>
      </p:sp>
    </p:spTree>
    <p:extLst>
      <p:ext uri="{BB962C8B-B14F-4D97-AF65-F5344CB8AC3E}">
        <p14:creationId xmlns:p14="http://schemas.microsoft.com/office/powerpoint/2010/main" val="18170499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49 Western</a:t>
            </a:r>
            <a:br>
              <a:rPr lang="en-US" dirty="0"/>
            </a:br>
            <a:r>
              <a:rPr lang="en-US" i="1" dirty="0"/>
              <a:t>Horse car route introduced by Chicago West Division Railway (between N and S Chicago River)</a:t>
            </a:r>
            <a:br>
              <a:rPr lang="en-US" dirty="0"/>
            </a:br>
            <a:r>
              <a:rPr lang="en-US" i="1" dirty="0"/>
              <a:t>Streetcar route introduced by Chicago Railways (north of N Chicago River)</a:t>
            </a:r>
            <a:br>
              <a:rPr lang="en-US" dirty="0"/>
            </a:br>
            <a:r>
              <a:rPr lang="en-US" i="1" dirty="0"/>
              <a:t>Streetcar route introduced by West Chicago Street Railroad/Chicago Railways (between N and S Chicago River)</a:t>
            </a:r>
            <a:br>
              <a:rPr lang="en-US" dirty="0"/>
            </a:br>
            <a:r>
              <a:rPr lang="en-US" i="1" dirty="0"/>
              <a:t>Streetcar route introduced by Chicago City Railway (south of S Chicago River)</a:t>
            </a:r>
          </a:p>
          <a:p>
            <a:endParaRPr lang="en-US" i="1" dirty="0"/>
          </a:p>
          <a:p>
            <a:r>
              <a:rPr lang="en-US" dirty="0"/>
              <a:t>1864 - horse car service introduced from Lake St. to Madison</a:t>
            </a:r>
            <a:br>
              <a:rPr lang="en-US" dirty="0"/>
            </a:br>
            <a:r>
              <a:rPr lang="en-US" dirty="0"/>
              <a:t>1878 - extended south to Van Buren</a:t>
            </a:r>
            <a:br>
              <a:rPr lang="en-US" dirty="0"/>
            </a:br>
            <a:r>
              <a:rPr lang="en-US" dirty="0"/>
              <a:t>1885 - extended south to Roosevelt</a:t>
            </a:r>
            <a:br>
              <a:rPr lang="en-US" dirty="0"/>
            </a:br>
            <a:r>
              <a:rPr lang="en-US" dirty="0"/>
              <a:t>1893 - extended north to Milwaukee Ave.</a:t>
            </a:r>
            <a:br>
              <a:rPr lang="en-US" dirty="0"/>
            </a:br>
            <a:r>
              <a:rPr lang="en-US" dirty="0"/>
              <a:t>1894 - extended south to 26th St.</a:t>
            </a:r>
            <a:br>
              <a:rPr lang="en-US" dirty="0"/>
            </a:br>
            <a:r>
              <a:rPr lang="en-US" dirty="0"/>
              <a:t>1895 - electric streetcar service introduced </a:t>
            </a:r>
            <a:r>
              <a:rPr lang="en-US" dirty="0" err="1"/>
              <a:t>Elston</a:t>
            </a:r>
            <a:r>
              <a:rPr lang="en-US" dirty="0"/>
              <a:t> to Roscoe</a:t>
            </a:r>
            <a:br>
              <a:rPr lang="en-US" dirty="0"/>
            </a:br>
            <a:r>
              <a:rPr lang="en-US" dirty="0"/>
              <a:t>1895 - segment 26th St. to 14th St. converted to electric streetcar</a:t>
            </a:r>
            <a:br>
              <a:rPr lang="en-US" dirty="0"/>
            </a:br>
            <a:r>
              <a:rPr lang="en-US" dirty="0"/>
              <a:t>1896 - segment 14th St. to Milwaukee Ave. converted to electric streetcar</a:t>
            </a:r>
            <a:br>
              <a:rPr lang="en-US" dirty="0"/>
            </a:br>
            <a:r>
              <a:rPr lang="en-US" dirty="0"/>
              <a:t>1896 - electric streetcar service introduced Milwaukee Ave. to </a:t>
            </a:r>
            <a:r>
              <a:rPr lang="en-US" dirty="0" err="1"/>
              <a:t>Elston</a:t>
            </a:r>
            <a:br>
              <a:rPr lang="en-US" dirty="0"/>
            </a:br>
            <a:r>
              <a:rPr lang="en-US" dirty="0"/>
              <a:t>1898 - electric streetcar service introduced from Archer to 55th St.</a:t>
            </a:r>
            <a:br>
              <a:rPr lang="en-US" dirty="0"/>
            </a:br>
            <a:r>
              <a:rPr lang="en-US" dirty="0"/>
              <a:t>1899 - extended south to 71st St.</a:t>
            </a:r>
            <a:br>
              <a:rPr lang="en-US" dirty="0"/>
            </a:br>
            <a:r>
              <a:rPr lang="en-US" dirty="0"/>
              <a:t>1/4/11 - extended north from Archer to Chicago River</a:t>
            </a:r>
            <a:br>
              <a:rPr lang="en-US" dirty="0"/>
            </a:br>
            <a:r>
              <a:rPr lang="en-US" dirty="0"/>
              <a:t>8/23/11 - extended south from 26th St. to Chicago River</a:t>
            </a:r>
            <a:br>
              <a:rPr lang="en-US" dirty="0"/>
            </a:br>
            <a:r>
              <a:rPr lang="en-US" dirty="0"/>
              <a:t>9/5/11 - Through Route streetcar introduced from 71st St. to Roscoe, originally route 10</a:t>
            </a:r>
            <a:br>
              <a:rPr lang="en-US" dirty="0"/>
            </a:br>
            <a:r>
              <a:rPr lang="en-US" dirty="0"/>
              <a:t>10/28/12 - extended north to Lawrence</a:t>
            </a:r>
            <a:br>
              <a:rPr lang="en-US" dirty="0"/>
            </a:br>
            <a:r>
              <a:rPr lang="en-US" dirty="0"/>
              <a:t>5/1/23 - North Western route combined into main Western route</a:t>
            </a:r>
            <a:br>
              <a:rPr lang="en-US" dirty="0"/>
            </a:br>
            <a:r>
              <a:rPr lang="en-US" dirty="0"/>
              <a:t>12/1/24 - extended south to 75th St.</a:t>
            </a:r>
            <a:br>
              <a:rPr lang="en-US" dirty="0"/>
            </a:br>
            <a:r>
              <a:rPr lang="en-US" dirty="0"/>
              <a:t>1/11/31 - extended south to 79th St.</a:t>
            </a:r>
            <a:br>
              <a:rPr lang="en-US" dirty="0"/>
            </a:br>
            <a:r>
              <a:rPr lang="en-US" dirty="0"/>
              <a:t>8/1/48 - south and north ends converted to buses, transferred to routes 49A and 49B</a:t>
            </a:r>
            <a:br>
              <a:rPr lang="en-US" dirty="0"/>
            </a:br>
            <a:r>
              <a:rPr lang="en-US" dirty="0"/>
              <a:t>12/7/52 - buses substituted on weekends</a:t>
            </a:r>
            <a:br>
              <a:rPr lang="en-US" dirty="0"/>
            </a:br>
            <a:r>
              <a:rPr lang="en-US" dirty="0"/>
              <a:t>6/17/56 - remaining streetcar segment converted to buses</a:t>
            </a:r>
          </a:p>
          <a:p>
            <a:r>
              <a:rPr lang="en-US" dirty="0"/>
              <a:t>Western Ave. is the longest street in Chicago. Streetcar service eventually operated through from Howard St. to 111th St., with only one mile from 111th St. to 119th St. not covered by streetcars. Through Route was number 10. Split into the present three separate routes 8/1/48, when buses replaced streetcars on south segment (route 49A) and on north segment (route 49B). Streetcar service continued longer on middle segment, numbered route 49. Three separate routes remained even after buses replaced streetcars on main segment.</a:t>
            </a:r>
          </a:p>
        </p:txBody>
      </p:sp>
      <p:sp>
        <p:nvSpPr>
          <p:cNvPr id="4" name="Slide Number Placeholder 3"/>
          <p:cNvSpPr>
            <a:spLocks noGrp="1"/>
          </p:cNvSpPr>
          <p:nvPr>
            <p:ph type="sldNum" sz="quarter" idx="5"/>
          </p:nvPr>
        </p:nvSpPr>
        <p:spPr/>
        <p:txBody>
          <a:bodyPr/>
          <a:lstStyle/>
          <a:p>
            <a:fld id="{EA6BE5AC-EEB8-419A-9F86-4E1B61A37C62}" type="slidenum">
              <a:rPr lang="en-US" smtClean="0"/>
              <a:t>7</a:t>
            </a:fld>
            <a:endParaRPr lang="en-US"/>
          </a:p>
        </p:txBody>
      </p:sp>
    </p:spTree>
    <p:extLst>
      <p:ext uri="{BB962C8B-B14F-4D97-AF65-F5344CB8AC3E}">
        <p14:creationId xmlns:p14="http://schemas.microsoft.com/office/powerpoint/2010/main" val="5434949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Chicago Surface Lines (CSL) was operator of the street railway system of Chicago, Illinois, from the years 1913 to 1947. The firm is a predecessor of today's publicly owned operator, the Chicago Transit Authority. The Chicago Surface Line had dozens of routes and over 1,000 miles of trackage at its height. The table below shows a basic overview of CSL routes at their height. Many changes to routing and terminals were made at various times. Abandonment dates noted are dates that routes were completely changed over to bus or trolley bus, or eliminated altogether.</a:t>
            </a:r>
          </a:p>
          <a:p>
            <a:endParaRPr lang="en-US" dirty="0"/>
          </a:p>
          <a:p>
            <a:r>
              <a:rPr lang="en-US" dirty="0"/>
              <a:t>https://en.wikipedia.org/wiki/Chicago_Surface_Lines</a:t>
            </a:r>
          </a:p>
          <a:p>
            <a:r>
              <a:rPr lang="en-US" dirty="0"/>
              <a:t>https://www.chicagorailfan.com/ctabdate.html</a:t>
            </a:r>
          </a:p>
          <a:p>
            <a:r>
              <a:rPr lang="en-US" dirty="0"/>
              <a:t>https://arcg.is/1T4f5O</a:t>
            </a:r>
          </a:p>
          <a:p>
            <a:endParaRPr lang="en-US" dirty="0"/>
          </a:p>
        </p:txBody>
      </p:sp>
      <p:sp>
        <p:nvSpPr>
          <p:cNvPr id="4" name="Slide Number Placeholder 3"/>
          <p:cNvSpPr>
            <a:spLocks noGrp="1"/>
          </p:cNvSpPr>
          <p:nvPr>
            <p:ph type="sldNum" sz="quarter" idx="5"/>
          </p:nvPr>
        </p:nvSpPr>
        <p:spPr/>
        <p:txBody>
          <a:bodyPr/>
          <a:lstStyle/>
          <a:p>
            <a:fld id="{EA6BE5AC-EEB8-419A-9F86-4E1B61A37C62}" type="slidenum">
              <a:rPr lang="en-US" smtClean="0"/>
              <a:t>8</a:t>
            </a:fld>
            <a:endParaRPr lang="en-US"/>
          </a:p>
        </p:txBody>
      </p:sp>
    </p:spTree>
    <p:extLst>
      <p:ext uri="{BB962C8B-B14F-4D97-AF65-F5344CB8AC3E}">
        <p14:creationId xmlns:p14="http://schemas.microsoft.com/office/powerpoint/2010/main" val="18783910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151 Sheridan</a:t>
            </a:r>
            <a:br>
              <a:rPr lang="en-US" dirty="0"/>
            </a:br>
            <a:r>
              <a:rPr lang="en-US" i="1" dirty="0"/>
              <a:t>Bus route introduced by Chicago Motor Coach Co.</a:t>
            </a:r>
          </a:p>
          <a:p>
            <a:r>
              <a:rPr lang="en-US" dirty="0"/>
              <a:t>3/25/17 - introduced as bus route 51 Sheridan</a:t>
            </a:r>
            <a:br>
              <a:rPr lang="en-US" dirty="0"/>
            </a:br>
            <a:r>
              <a:rPr lang="en-US" dirty="0"/>
              <a:t>10/1/52 - renumbered route 151 after CTA takeover of CMC</a:t>
            </a:r>
            <a:br>
              <a:rPr lang="en-US" dirty="0"/>
            </a:br>
            <a:r>
              <a:rPr lang="en-US" dirty="0"/>
              <a:t>6/22/80 - route revised to present form</a:t>
            </a:r>
          </a:p>
          <a:p>
            <a:r>
              <a:rPr lang="en-US" dirty="0"/>
              <a:t>South of </a:t>
            </a:r>
            <a:r>
              <a:rPr lang="en-US" dirty="0" err="1"/>
              <a:t>Diversey</a:t>
            </a:r>
            <a:r>
              <a:rPr lang="en-US" dirty="0"/>
              <a:t>, previously operated via Cannon Dr., and via Lake Shore Dr. south of Belmont. The present routing through Lincoln Park replaced route 153 local service, serving Lincoln Park Zoo. Had operated north of Devon via Sheridan to Howard St., with service gradually replaced with expanded hours of route 147 Outer Drive Express.</a:t>
            </a:r>
          </a:p>
          <a:p>
            <a:r>
              <a:rPr lang="en-US" dirty="0"/>
              <a:t>Owl service introduced 6/22/80</a:t>
            </a:r>
            <a:br>
              <a:rPr lang="en-US" dirty="0"/>
            </a:br>
            <a:r>
              <a:rPr lang="en-US" dirty="0"/>
              <a:t>Owl service discontinued 3/31/2013</a:t>
            </a:r>
          </a:p>
          <a:p>
            <a:r>
              <a:rPr lang="en-US" i="1" dirty="0"/>
              <a:t>Bus Garage: Rosemont (3/25/17-9/7/57)</a:t>
            </a:r>
            <a:br>
              <a:rPr lang="en-US" i="1" dirty="0"/>
            </a:br>
            <a:r>
              <a:rPr lang="en-US" i="1" dirty="0"/>
              <a:t>North Park (9/7/57-present)</a:t>
            </a:r>
            <a:endParaRPr lang="en-US" dirty="0"/>
          </a:p>
        </p:txBody>
      </p:sp>
      <p:sp>
        <p:nvSpPr>
          <p:cNvPr id="4" name="Slide Number Placeholder 3"/>
          <p:cNvSpPr>
            <a:spLocks noGrp="1"/>
          </p:cNvSpPr>
          <p:nvPr>
            <p:ph type="sldNum" sz="quarter" idx="5"/>
          </p:nvPr>
        </p:nvSpPr>
        <p:spPr/>
        <p:txBody>
          <a:bodyPr/>
          <a:lstStyle/>
          <a:p>
            <a:fld id="{EA6BE5AC-EEB8-419A-9F86-4E1B61A37C62}" type="slidenum">
              <a:rPr lang="en-US" smtClean="0"/>
              <a:t>9</a:t>
            </a:fld>
            <a:endParaRPr lang="en-US"/>
          </a:p>
        </p:txBody>
      </p:sp>
    </p:spTree>
    <p:extLst>
      <p:ext uri="{BB962C8B-B14F-4D97-AF65-F5344CB8AC3E}">
        <p14:creationId xmlns:p14="http://schemas.microsoft.com/office/powerpoint/2010/main" val="40415232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Shape 227"/>
          <p:cNvSpPr txBox="1">
            <a:spLocks noGrp="1"/>
          </p:cNvSpPr>
          <p:nvPr>
            <p:ph type="body" idx="1"/>
          </p:nvPr>
        </p:nvSpPr>
        <p:spPr>
          <a:xfrm>
            <a:off x="701040" y="4387136"/>
            <a:ext cx="5608320" cy="4156234"/>
          </a:xfrm>
          <a:prstGeom prst="rect">
            <a:avLst/>
          </a:prstGeom>
        </p:spPr>
        <p:txBody>
          <a:bodyPr spcFirstLastPara="1" wrap="square" lIns="92815" tIns="92815" rIns="92815" bIns="92815" anchor="t" anchorCtr="0">
            <a:noAutofit/>
          </a:bodyPr>
          <a:lstStyle/>
          <a:p>
            <a:endParaRPr/>
          </a:p>
        </p:txBody>
      </p:sp>
      <p:sp>
        <p:nvSpPr>
          <p:cNvPr id="228" name="Shape 228"/>
          <p:cNvSpPr>
            <a:spLocks noGrp="1" noRot="1" noChangeAspect="1"/>
          </p:cNvSpPr>
          <p:nvPr>
            <p:ph type="sldImg" idx="2"/>
          </p:nvPr>
        </p:nvSpPr>
        <p:spPr>
          <a:xfrm>
            <a:off x="425450" y="692150"/>
            <a:ext cx="6159500" cy="3463925"/>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64024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Shape 227"/>
          <p:cNvSpPr txBox="1">
            <a:spLocks noGrp="1"/>
          </p:cNvSpPr>
          <p:nvPr>
            <p:ph type="body" idx="1"/>
          </p:nvPr>
        </p:nvSpPr>
        <p:spPr>
          <a:xfrm>
            <a:off x="701040" y="4387136"/>
            <a:ext cx="5608320" cy="4156234"/>
          </a:xfrm>
          <a:prstGeom prst="rect">
            <a:avLst/>
          </a:prstGeom>
        </p:spPr>
        <p:txBody>
          <a:bodyPr spcFirstLastPara="1" wrap="square" lIns="92815" tIns="92815" rIns="92815" bIns="9281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report explores the Austin &amp; Division Chicago Transit Authority (CTA) bus terminal site and its environs and proposes various roadmaps to aid in its potential redesign. The exploration is informed by a variety of transportation-, population- and housing-related analyses that help foster a multi-dimensional understanding of the area’s current characteristics and trends over time. In this way, the document serves as a resource for identifying gaps in the functions the bus terminal presently serves for local residents as well as opportunities for reimagining the terminal in order to meet emerging demands. Toward this end, the report is separated into four sections (shown on slide).</a:t>
            </a:r>
          </a:p>
        </p:txBody>
      </p:sp>
      <p:sp>
        <p:nvSpPr>
          <p:cNvPr id="228" name="Shape 228"/>
          <p:cNvSpPr>
            <a:spLocks noGrp="1" noRot="1" noChangeAspect="1"/>
          </p:cNvSpPr>
          <p:nvPr>
            <p:ph type="sldImg" idx="2"/>
          </p:nvPr>
        </p:nvSpPr>
        <p:spPr>
          <a:xfrm>
            <a:off x="425450" y="692150"/>
            <a:ext cx="6159500" cy="3463925"/>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05220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Shape 227"/>
          <p:cNvSpPr txBox="1">
            <a:spLocks noGrp="1"/>
          </p:cNvSpPr>
          <p:nvPr>
            <p:ph type="body" idx="1"/>
          </p:nvPr>
        </p:nvSpPr>
        <p:spPr>
          <a:xfrm>
            <a:off x="701040" y="4387136"/>
            <a:ext cx="5608320" cy="4156234"/>
          </a:xfrm>
          <a:prstGeom prst="rect">
            <a:avLst/>
          </a:prstGeom>
        </p:spPr>
        <p:txBody>
          <a:bodyPr spcFirstLastPara="1" wrap="square" lIns="92815" tIns="92815" rIns="92815" bIns="92815" anchor="t" anchorCtr="0">
            <a:noAutofit/>
          </a:bodyPr>
          <a:lstStyle/>
          <a:p>
            <a:r>
              <a:rPr lang="en-US" sz="1200" kern="1200" dirty="0">
                <a:solidFill>
                  <a:schemeClr val="tx1"/>
                </a:solidFill>
                <a:effectLst/>
                <a:latin typeface="+mn-lt"/>
                <a:ea typeface="+mn-ea"/>
                <a:cs typeface="+mn-cs"/>
              </a:rPr>
              <a:t>The Austin &amp; Division bus terminal is positioned at the southeast corner of Division St and Austin Blvd and hosts two of the over 11 thousand stops that make up the Chicago Transit Authority’s (CTA) bus network. The terminal site is relatively small, approximately 0.30 acres in area and directly serves the 70 (Division) east-west CTA bus route via its interior bay and the 91 (Austin) northbound CTA route via a stop located on the terminal’s western edge. There is also a 91 southbound bus stop located exterior to the site on the west side of Austin Blvd. Ten other bus stops serving either the 70 (Division) or 91 (Austin) routes are located within a quarter-mile of the bus terminal. </a:t>
            </a:r>
          </a:p>
        </p:txBody>
      </p:sp>
      <p:sp>
        <p:nvSpPr>
          <p:cNvPr id="228" name="Shape 228"/>
          <p:cNvSpPr>
            <a:spLocks noGrp="1" noRot="1" noChangeAspect="1"/>
          </p:cNvSpPr>
          <p:nvPr>
            <p:ph type="sldImg" idx="2"/>
          </p:nvPr>
        </p:nvSpPr>
        <p:spPr>
          <a:xfrm>
            <a:off x="425450" y="692150"/>
            <a:ext cx="6159500" cy="3463925"/>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184450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Shape 227"/>
          <p:cNvSpPr txBox="1">
            <a:spLocks noGrp="1"/>
          </p:cNvSpPr>
          <p:nvPr>
            <p:ph type="body" idx="1"/>
          </p:nvPr>
        </p:nvSpPr>
        <p:spPr>
          <a:xfrm>
            <a:off x="701040" y="4387136"/>
            <a:ext cx="5608320" cy="4156234"/>
          </a:xfrm>
          <a:prstGeom prst="rect">
            <a:avLst/>
          </a:prstGeom>
        </p:spPr>
        <p:txBody>
          <a:bodyPr spcFirstLastPara="1" wrap="square" lIns="92815" tIns="92815" rIns="92815" bIns="92815" anchor="t" anchorCtr="0">
            <a:noAutofit/>
          </a:bodyPr>
          <a:lstStyle/>
          <a:p>
            <a:r>
              <a:rPr lang="en-US" sz="1200" kern="1200" dirty="0">
                <a:solidFill>
                  <a:schemeClr val="tx1"/>
                </a:solidFill>
                <a:effectLst/>
                <a:latin typeface="+mn-lt"/>
                <a:ea typeface="+mn-ea"/>
                <a:cs typeface="+mn-cs"/>
              </a:rPr>
              <a:t>The terminal is located on the western edge of the city of Chicago at the terminus of the 7.5-mile long Division bus route. The route intersects three of Chicago’s community areas and several neighborhoods, beginning in the Near North Side along Lake Shore Drive (including parts of the Gold Coast, Rush &amp; Division, River North and Old Town neighborhoods), proceeding through West Town (including the East Village, </a:t>
            </a:r>
            <a:r>
              <a:rPr lang="en-US" sz="1200" kern="1200" dirty="0" err="1">
                <a:solidFill>
                  <a:schemeClr val="tx1"/>
                </a:solidFill>
                <a:effectLst/>
                <a:latin typeface="+mn-lt"/>
                <a:ea typeface="+mn-ea"/>
                <a:cs typeface="+mn-cs"/>
              </a:rPr>
              <a:t>Ukranian</a:t>
            </a:r>
            <a:r>
              <a:rPr lang="en-US" sz="1200" kern="1200" dirty="0">
                <a:solidFill>
                  <a:schemeClr val="tx1"/>
                </a:solidFill>
                <a:effectLst/>
                <a:latin typeface="+mn-lt"/>
                <a:ea typeface="+mn-ea"/>
                <a:cs typeface="+mn-cs"/>
              </a:rPr>
              <a:t> Village and Wicker Park neighborhoods) and Humboldt Park prior to cutting through a northern section of the Austin neighborhood at its westernmost extent.  There are 114 bus stops along the Division (70) CTA route.</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Public transportation has always been a core contributor to the Division Street corridor’s vibrant street life and appeal. Segments of this Division Street corridor have been serviced by public transit since 1886 when horsecar service routes were introduced by the North Chicago City and Chicago West Division Railways which provided residents along the street downtown service via Milwaukee Ave.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Beginning in 1895 segments along these routes were gradually converted to electric streetcar which, by 1915, was extended west to its present terminus at Austin Blvd. </a:t>
            </a:r>
          </a:p>
        </p:txBody>
      </p:sp>
      <p:sp>
        <p:nvSpPr>
          <p:cNvPr id="228" name="Shape 228"/>
          <p:cNvSpPr>
            <a:spLocks noGrp="1" noRot="1" noChangeAspect="1"/>
          </p:cNvSpPr>
          <p:nvPr>
            <p:ph type="sldImg" idx="2"/>
          </p:nvPr>
        </p:nvSpPr>
        <p:spPr>
          <a:xfrm>
            <a:off x="425450" y="692150"/>
            <a:ext cx="6159500" cy="3463925"/>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32832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Shape 227"/>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By 1951, electric streetcar service along Division Street was converted to motor bus, with downtown service discontinued in 1973. The present terminal loop site is likely a remnant of the older streetcar system where cars--constrained by a trolley pole connected to an overhead wire system--turned around via a large radius at the end of the route.</a:t>
            </a:r>
            <a:r>
              <a:rPr lang="en-US" dirty="0">
                <a:effectLst/>
              </a:rPr>
              <a:t> </a:t>
            </a:r>
            <a:r>
              <a:rPr lang="en-US" sz="1200" kern="1200" dirty="0">
                <a:solidFill>
                  <a:schemeClr val="tx1"/>
                </a:solidFill>
                <a:effectLst/>
                <a:latin typeface="+mn-lt"/>
                <a:ea typeface="+mn-ea"/>
                <a:cs typeface="+mn-cs"/>
              </a:rPr>
              <a:t>The city’s extensive trolleybus system never operated down the Division Street corridor.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latin typeface="Calibri" panose="020F0502020204030204" pitchFamily="34" charset="0"/>
                <a:ea typeface="Tahoma" panose="020B0604030504040204" pitchFamily="34" charset="0"/>
              </a:rPr>
              <a:t>Looking east a long Division. CTA #70 bus idling in central access lot at route’s western terminus.</a:t>
            </a:r>
            <a:endParaRPr lang="en-US" b="1" i="1" dirty="0">
              <a:latin typeface="Calibri" panose="020F0502020204030204" pitchFamily="34" charset="0"/>
              <a:ea typeface="Tahoma" panose="020B0604030504040204" pitchFamily="34" charset="0"/>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Austin &amp; Division terminal site hosts two rather large bus shelters; a western shelter accommodating 91 northbound passengers and a smaller, eastern shelter for passengers waiting to board the 70 eastbound bus. Adjacent to the eastern shelter is located a small utility building. The shelters, have plastic bubble roofs, metal columns and glass walls, and, in some cases, show visible signs of wear. Three large planters with landscaping are located at the terminal site as well as two freestanding LED lamps, a dumpster, sidewalk garbage bin and a comb-style, limited security bike rack. There are no public bathroom facilities located on site.</a:t>
            </a:r>
          </a:p>
        </p:txBody>
      </p:sp>
      <p:sp>
        <p:nvSpPr>
          <p:cNvPr id="228" name="Shape 22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68902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Shape 227"/>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dirty="0"/>
          </a:p>
        </p:txBody>
      </p:sp>
      <p:sp>
        <p:nvSpPr>
          <p:cNvPr id="228" name="Shape 22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82931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Shape 227"/>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dirty="0"/>
          </a:p>
        </p:txBody>
      </p:sp>
      <p:sp>
        <p:nvSpPr>
          <p:cNvPr id="228" name="Shape 22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71393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Shape 227"/>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228" name="Shape 22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12168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Shape 227"/>
          <p:cNvSpPr txBox="1">
            <a:spLocks noGrp="1"/>
          </p:cNvSpPr>
          <p:nvPr>
            <p:ph type="body" idx="1"/>
          </p:nvPr>
        </p:nvSpPr>
        <p:spPr>
          <a:xfrm>
            <a:off x="701040" y="4387136"/>
            <a:ext cx="5608320" cy="4156234"/>
          </a:xfrm>
          <a:prstGeom prst="rect">
            <a:avLst/>
          </a:prstGeom>
        </p:spPr>
        <p:txBody>
          <a:bodyPr spcFirstLastPara="1" wrap="square" lIns="92815" tIns="92815" rIns="92815" bIns="92815" anchor="t" anchorCtr="0">
            <a:noAutofit/>
          </a:bodyPr>
          <a:lstStyle/>
          <a:p>
            <a:pPr marL="0" marR="0" algn="just">
              <a:spcBef>
                <a:spcPts val="0"/>
              </a:spcBef>
              <a:spcAft>
                <a:spcPts val="0"/>
              </a:spcAft>
            </a:pPr>
            <a:r>
              <a:rPr lang="en-US" sz="1800" dirty="0">
                <a:effectLst/>
                <a:latin typeface="Minion Pro" panose="02040503050306020203" pitchFamily="18" charset="0"/>
                <a:ea typeface="Calibri" panose="020F0502020204030204" pitchFamily="34" charset="0"/>
                <a:cs typeface="Times New Roman" panose="02020603050405020304" pitchFamily="18" charset="0"/>
              </a:rPr>
              <a:t>The Austin and Division bus turnaround is situated within a predominantly residential area made-up of older, largely single-family and multi-unit dwellings. Figure 4 maps existing land uses within a ¼ mile of the bus terminal. The dominant land use categories include lower-density residential (48.5 percent), followed by multi-family residential (higher-density 12.9 percent) on the south, west and northwest, commercial to the east and northeast and a considerable amount of mixed-use zoning along the Division Street corridor. </a:t>
            </a:r>
          </a:p>
          <a:p>
            <a:pPr marL="0" marR="0" algn="just">
              <a:spcBef>
                <a:spcPts val="0"/>
              </a:spcBef>
              <a:spcAft>
                <a:spcPts val="0"/>
              </a:spcAft>
            </a:pPr>
            <a:r>
              <a:rPr lang="en-US" sz="1800" dirty="0">
                <a:effectLst/>
                <a:latin typeface="Minion Pro" panose="02040503050306020203" pitchFamily="18" charset="0"/>
                <a:ea typeface="Calibri" panose="020F0502020204030204" pitchFamily="34" charset="0"/>
                <a:cs typeface="Times New Roman" panose="02020603050405020304" pitchFamily="18" charset="0"/>
              </a:rPr>
              <a:t> </a:t>
            </a:r>
          </a:p>
          <a:p>
            <a:pPr marL="0" marR="0" algn="just">
              <a:spcBef>
                <a:spcPts val="0"/>
              </a:spcBef>
              <a:spcAft>
                <a:spcPts val="0"/>
              </a:spcAft>
            </a:pPr>
            <a:r>
              <a:rPr lang="en-US" sz="1800" dirty="0">
                <a:effectLst/>
                <a:latin typeface="Minion Pro" panose="02040503050306020203" pitchFamily="18" charset="0"/>
                <a:ea typeface="Calibri" panose="020F0502020204030204" pitchFamily="34" charset="0"/>
                <a:cs typeface="Times New Roman" panose="02020603050405020304" pitchFamily="18" charset="0"/>
              </a:rPr>
              <a:t>There exist marked differences in the distribution of land uses between Oak Park and Austin outside the ¼ mile buffer. Austin, for example, is composed of 4.4 percent open space which translates into 0.7 acres of park per 1,000 residents. Oak Park, while it has a smaller share of open space overall (2.6), provides 1.2 acres of park per 1,000 residents or 71.4 percent more park acreage per capita than the average Austin resident.</a:t>
            </a:r>
          </a:p>
        </p:txBody>
      </p:sp>
      <p:sp>
        <p:nvSpPr>
          <p:cNvPr id="228" name="Shape 228"/>
          <p:cNvSpPr>
            <a:spLocks noGrp="1" noRot="1" noChangeAspect="1"/>
          </p:cNvSpPr>
          <p:nvPr>
            <p:ph type="sldImg" idx="2"/>
          </p:nvPr>
        </p:nvSpPr>
        <p:spPr>
          <a:xfrm>
            <a:off x="425450" y="692150"/>
            <a:ext cx="6159500" cy="3463925"/>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49247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Shape 227"/>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Minion Pro" panose="02040503050306020203" pitchFamily="18" charset="0"/>
                <a:ea typeface="Calibri" panose="020F0502020204030204" pitchFamily="34" charset="0"/>
                <a:cs typeface="Times New Roman" panose="02020603050405020304" pitchFamily="18" charset="0"/>
              </a:rPr>
              <a:t>f the 26 licensed businesses within the ¼ mile radius of the bus terminal, half are designated as small retail (e.g., food, tobacco, cell phones and liquor) with the remaining businesses including day care establishments, hair and nail services, home repair services, payment services, motor vehicle repair and a hazardous waste storage facility (</a:t>
            </a:r>
            <a:r>
              <a:rPr lang="en-US" sz="1800" i="1" dirty="0">
                <a:effectLst/>
                <a:latin typeface="Minion Pro" panose="02040503050306020203" pitchFamily="18" charset="0"/>
                <a:ea typeface="Calibri" panose="020F0502020204030204" pitchFamily="34" charset="0"/>
                <a:cs typeface="Times New Roman" panose="02020603050405020304" pitchFamily="18" charset="0"/>
              </a:rPr>
              <a:t>13</a:t>
            </a:r>
            <a:r>
              <a:rPr lang="en-US" sz="1800" dirty="0">
                <a:effectLst/>
                <a:latin typeface="Minion Pro" panose="02040503050306020203" pitchFamily="18" charset="0"/>
                <a:ea typeface="Calibri" panose="020F0502020204030204" pitchFamily="34" charset="0"/>
                <a:cs typeface="Times New Roman" panose="02020603050405020304" pitchFamily="18" charset="0"/>
              </a:rPr>
              <a:t>). The research team also identified one religious institution located within the immediate vicinity of the terminal site.</a:t>
            </a:r>
          </a:p>
          <a:p>
            <a:pPr marL="0" lvl="0" indent="0">
              <a:spcBef>
                <a:spcPts val="0"/>
              </a:spcBef>
              <a:spcAft>
                <a:spcPts val="0"/>
              </a:spcAft>
              <a:buNone/>
            </a:pPr>
            <a:endParaRPr lang="en-US" sz="1800" dirty="0">
              <a:effectLst/>
              <a:latin typeface="Minion Pro" panose="02040503050306020203" pitchFamily="18" charset="0"/>
              <a:ea typeface="Calibri" panose="020F0502020204030204" pitchFamily="34" charset="0"/>
              <a:cs typeface="Times New Roman" panose="02020603050405020304" pitchFamily="18" charset="0"/>
            </a:endParaRPr>
          </a:p>
          <a:p>
            <a:pPr marL="0" lvl="0" indent="0">
              <a:spcBef>
                <a:spcPts val="0"/>
              </a:spcBef>
              <a:spcAft>
                <a:spcPts val="0"/>
              </a:spcAft>
              <a:buNone/>
            </a:pPr>
            <a:r>
              <a:rPr lang="en-US" sz="1800" dirty="0">
                <a:effectLst/>
                <a:latin typeface="Minion Pro" panose="02040503050306020203" pitchFamily="18" charset="0"/>
                <a:ea typeface="Calibri" panose="020F0502020204030204" pitchFamily="34" charset="0"/>
                <a:cs typeface="Times New Roman" panose="02020603050405020304" pitchFamily="18" charset="0"/>
              </a:rPr>
              <a:t>Not far from the terminal site, however, are other neighborhood commercial districts (i.e., North Avenue, Chicago Avenue) and some large employers including the West Suburban Medical Center which is located less than a mile south on Austin Boulevard.</a:t>
            </a:r>
            <a:endParaRPr dirty="0"/>
          </a:p>
        </p:txBody>
      </p:sp>
      <p:sp>
        <p:nvSpPr>
          <p:cNvPr id="228" name="Shape 22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23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Shape 227"/>
          <p:cNvSpPr txBox="1">
            <a:spLocks noGrp="1"/>
          </p:cNvSpPr>
          <p:nvPr>
            <p:ph type="body" idx="1"/>
          </p:nvPr>
        </p:nvSpPr>
        <p:spPr>
          <a:xfrm>
            <a:off x="701040" y="4387136"/>
            <a:ext cx="5608320" cy="4156234"/>
          </a:xfrm>
          <a:prstGeom prst="rect">
            <a:avLst/>
          </a:prstGeom>
        </p:spPr>
        <p:txBody>
          <a:bodyPr spcFirstLastPara="1" wrap="square" lIns="92815" tIns="92815" rIns="92815" bIns="92815" anchor="t" anchorCtr="0">
            <a:noAutofit/>
          </a:bodyPr>
          <a:lstStyle/>
          <a:p>
            <a:pPr marL="0" marR="0" algn="just">
              <a:spcBef>
                <a:spcPts val="0"/>
              </a:spcBef>
              <a:spcAft>
                <a:spcPts val="0"/>
              </a:spcAft>
            </a:pPr>
            <a:r>
              <a:rPr lang="en-US" sz="1800" dirty="0">
                <a:effectLst/>
                <a:latin typeface="Minion Pro" panose="02040503050306020203" pitchFamily="18" charset="0"/>
                <a:ea typeface="Calibri" panose="020F0502020204030204" pitchFamily="34" charset="0"/>
                <a:cs typeface="Times New Roman" panose="02020603050405020304" pitchFamily="18" charset="0"/>
              </a:rPr>
              <a:t>The US Bureau of the Census organizes their statistical boundaries according to a standard and interrelated system of geographic hierarchy (</a:t>
            </a:r>
            <a:r>
              <a:rPr lang="en-US" sz="1800" i="1" dirty="0">
                <a:effectLst/>
                <a:latin typeface="Minion Pro" panose="02040503050306020203" pitchFamily="18" charset="0"/>
                <a:ea typeface="Calibri" panose="020F0502020204030204" pitchFamily="34" charset="0"/>
                <a:cs typeface="Times New Roman" panose="02020603050405020304" pitchFamily="18" charset="0"/>
              </a:rPr>
              <a:t>14</a:t>
            </a:r>
            <a:r>
              <a:rPr lang="en-US" sz="1800" dirty="0">
                <a:effectLst/>
                <a:latin typeface="Minion Pro" panose="02040503050306020203" pitchFamily="18" charset="0"/>
                <a:ea typeface="Calibri" panose="020F0502020204030204" pitchFamily="34" charset="0"/>
                <a:cs typeface="Times New Roman" panose="02020603050405020304" pitchFamily="18" charset="0"/>
              </a:rPr>
              <a:t>). The ¼ mile buffer area spans three census tracts and six census block groups (Figure 3), with half of the block groups located in the Austin neighborhood within the city of Chicago and the remaining three located in the eastern portion of the village of Oak Park. The total population within the six block groups is approximately 7,545 according to the latest American Community Survey (US Census ACS 2018 5-year estimates), split rather evenly across the six areas (Table 2). The study site includes only those census block groups and tracts with the majority of their area  inside the buffer.</a:t>
            </a:r>
          </a:p>
          <a:p>
            <a:endParaRPr lang="en-US" sz="1800" dirty="0">
              <a:effectLst/>
              <a:latin typeface="Minion Pro" panose="02040503050306020203" pitchFamily="18" charset="0"/>
              <a:ea typeface="Calibri" panose="020F0502020204030204" pitchFamily="34" charset="0"/>
              <a:cs typeface="Times New Roman" panose="02020603050405020304" pitchFamily="18" charset="0"/>
            </a:endParaRPr>
          </a:p>
          <a:p>
            <a:r>
              <a:rPr lang="en-US" sz="1800" dirty="0">
                <a:effectLst/>
                <a:latin typeface="Minion Pro" panose="02040503050306020203" pitchFamily="18" charset="0"/>
                <a:ea typeface="Calibri" panose="020F0502020204030204" pitchFamily="34" charset="0"/>
                <a:cs typeface="Times New Roman" panose="02020603050405020304" pitchFamily="18" charset="0"/>
              </a:rPr>
              <a:t>The Austin and Division bus turnaround is also located on the border of two distinct communities. The terminal site itself resides wholly within the Austin community, the second largest of the city of Chicago’s 77 community areas in terms of both spatial expanse (7.2 mi</a:t>
            </a:r>
            <a:r>
              <a:rPr lang="en-US" sz="1800" baseline="30000" dirty="0">
                <a:effectLst/>
                <a:latin typeface="Minion Pro" panose="02040503050306020203" pitchFamily="18" charset="0"/>
                <a:ea typeface="Calibri" panose="020F0502020204030204" pitchFamily="34" charset="0"/>
                <a:cs typeface="Times New Roman" panose="02020603050405020304" pitchFamily="18" charset="0"/>
              </a:rPr>
              <a:t>2</a:t>
            </a:r>
            <a:r>
              <a:rPr lang="en-US" sz="1800" dirty="0">
                <a:effectLst/>
                <a:latin typeface="Minion Pro" panose="02040503050306020203" pitchFamily="18" charset="0"/>
                <a:ea typeface="Calibri" panose="020F0502020204030204" pitchFamily="34" charset="0"/>
                <a:cs typeface="Times New Roman" panose="02020603050405020304" pitchFamily="18" charset="0"/>
              </a:rPr>
              <a:t>) and resident population (87,316) (</a:t>
            </a:r>
            <a:r>
              <a:rPr lang="en-US" sz="1800" i="1" dirty="0">
                <a:effectLst/>
                <a:latin typeface="Minion Pro" panose="02040503050306020203" pitchFamily="18" charset="0"/>
                <a:ea typeface="Calibri" panose="020F0502020204030204" pitchFamily="34" charset="0"/>
                <a:cs typeface="Times New Roman" panose="02020603050405020304" pitchFamily="18" charset="0"/>
              </a:rPr>
              <a:t>2</a:t>
            </a:r>
            <a:r>
              <a:rPr lang="en-US" sz="1800" dirty="0">
                <a:effectLst/>
                <a:latin typeface="Minion Pro" panose="02040503050306020203" pitchFamily="18" charset="0"/>
                <a:ea typeface="Calibri" panose="020F0502020204030204" pitchFamily="34" charset="0"/>
                <a:cs typeface="Times New Roman" panose="02020603050405020304" pitchFamily="18" charset="0"/>
              </a:rPr>
              <a:t>).</a:t>
            </a:r>
            <a:endParaRPr dirty="0"/>
          </a:p>
        </p:txBody>
      </p:sp>
      <p:sp>
        <p:nvSpPr>
          <p:cNvPr id="228" name="Shape 228"/>
          <p:cNvSpPr>
            <a:spLocks noGrp="1" noRot="1" noChangeAspect="1"/>
          </p:cNvSpPr>
          <p:nvPr>
            <p:ph type="sldImg" idx="2"/>
          </p:nvPr>
        </p:nvSpPr>
        <p:spPr>
          <a:xfrm>
            <a:off x="425450" y="692150"/>
            <a:ext cx="6159500" cy="3463925"/>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97526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Shape 227"/>
          <p:cNvSpPr txBox="1">
            <a:spLocks noGrp="1"/>
          </p:cNvSpPr>
          <p:nvPr>
            <p:ph type="body" idx="1"/>
          </p:nvPr>
        </p:nvSpPr>
        <p:spPr>
          <a:xfrm>
            <a:off x="701040" y="4387136"/>
            <a:ext cx="5608320" cy="4156234"/>
          </a:xfrm>
          <a:prstGeom prst="rect">
            <a:avLst/>
          </a:prstGeom>
        </p:spPr>
        <p:txBody>
          <a:bodyPr spcFirstLastPara="1" wrap="square" lIns="92815" tIns="92815" rIns="92815" bIns="92815" anchor="t" anchorCtr="0">
            <a:noAutofit/>
          </a:bodyPr>
          <a:lstStyle/>
          <a:p>
            <a:pPr marL="0" marR="0" algn="just">
              <a:spcBef>
                <a:spcPts val="0"/>
              </a:spcBef>
              <a:spcAft>
                <a:spcPts val="0"/>
              </a:spcAft>
            </a:pPr>
            <a:r>
              <a:rPr lang="en-US" sz="1800" dirty="0">
                <a:effectLst/>
                <a:latin typeface="Minion Pro" panose="02040503050306020203" pitchFamily="18" charset="0"/>
                <a:ea typeface="Calibri" panose="020F0502020204030204" pitchFamily="34" charset="0"/>
                <a:cs typeface="Times New Roman" panose="02020603050405020304" pitchFamily="18" charset="0"/>
              </a:rPr>
              <a:t>While the population is evenly split between the Austin and Oak Park neighborhoods, sharp demographic divides exist across the designated census areas with respect to racial and ethnic composition and median household income (Table 2). The combined portion of the study area within Austin is 91.5 percent black and 7 percent Latinx, whereas the combined Oak Park portion has near-equal percentages of white (43.5 percent) and black (43.6) populations and a higher share of Asian residents (3.4). These localized distributions of race and ethnicity resemble patterns at the community-wide scale .</a:t>
            </a:r>
          </a:p>
          <a:p>
            <a:pPr marL="0" marR="0" algn="just">
              <a:spcBef>
                <a:spcPts val="0"/>
              </a:spcBef>
              <a:spcAft>
                <a:spcPts val="0"/>
              </a:spcAft>
            </a:pPr>
            <a:r>
              <a:rPr lang="en-US" sz="1800" dirty="0">
                <a:effectLst/>
                <a:latin typeface="Minion Pro" panose="02040503050306020203" pitchFamily="18" charset="0"/>
                <a:ea typeface="Calibri" panose="020F0502020204030204" pitchFamily="34" charset="0"/>
                <a:cs typeface="Times New Roman" panose="02020603050405020304" pitchFamily="18" charset="0"/>
              </a:rPr>
              <a:t> </a:t>
            </a:r>
          </a:p>
          <a:p>
            <a:pPr marL="0" marR="0" algn="just">
              <a:spcBef>
                <a:spcPts val="0"/>
              </a:spcBef>
              <a:spcAft>
                <a:spcPts val="0"/>
              </a:spcAft>
            </a:pPr>
            <a:r>
              <a:rPr lang="en-US" sz="1800" dirty="0">
                <a:effectLst/>
                <a:latin typeface="Minion Pro" panose="02040503050306020203" pitchFamily="18" charset="0"/>
                <a:ea typeface="Calibri" panose="020F0502020204030204" pitchFamily="34" charset="0"/>
                <a:cs typeface="Times New Roman" panose="02020603050405020304" pitchFamily="18" charset="0"/>
              </a:rPr>
              <a:t>Further, annual household income ranges from $29,925 to $51,154 across the Austin census block groups--all of which are lower than the citywide average of $57,238--in contrast to households residing in the Oak Park census block groups which reported incomes between $78,405 and $131,094 in 2018. </a:t>
            </a:r>
            <a:r>
              <a:rPr lang="en-US" sz="1800" i="1" dirty="0">
                <a:effectLst/>
                <a:latin typeface="Minion Pro" panose="02040503050306020203" pitchFamily="18" charset="0"/>
                <a:ea typeface="Calibri" panose="020F0502020204030204" pitchFamily="34" charset="0"/>
                <a:cs typeface="Times New Roman" panose="02020603050405020304" pitchFamily="18" charset="0"/>
              </a:rPr>
              <a:t>These inter-community disparities are consistent across other socioeconomic indicators including educational attainment (3.8 percent with less than high school diploma in Oak Park vs 21.3 percent in Austin) and unemployment (6.0 percent in Oak Park vs. 15.4 percent in Austin) and require consideration in the redesign process.</a:t>
            </a:r>
            <a:endParaRPr lang="en-US" sz="1800" dirty="0">
              <a:effectLst/>
              <a:latin typeface="Minion Pro" panose="02040503050306020203" pitchFamily="18" charset="0"/>
              <a:ea typeface="Calibri" panose="020F0502020204030204" pitchFamily="34" charset="0"/>
              <a:cs typeface="Times New Roman" panose="02020603050405020304" pitchFamily="18" charset="0"/>
            </a:endParaRPr>
          </a:p>
          <a:p>
            <a:endParaRPr dirty="0"/>
          </a:p>
        </p:txBody>
      </p:sp>
      <p:sp>
        <p:nvSpPr>
          <p:cNvPr id="228" name="Shape 228"/>
          <p:cNvSpPr>
            <a:spLocks noGrp="1" noRot="1" noChangeAspect="1"/>
          </p:cNvSpPr>
          <p:nvPr>
            <p:ph type="sldImg" idx="2"/>
          </p:nvPr>
        </p:nvSpPr>
        <p:spPr>
          <a:xfrm>
            <a:off x="425450" y="692150"/>
            <a:ext cx="6159500" cy="3463925"/>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23894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Shape 227"/>
          <p:cNvSpPr txBox="1">
            <a:spLocks noGrp="1"/>
          </p:cNvSpPr>
          <p:nvPr>
            <p:ph type="body" idx="1"/>
          </p:nvPr>
        </p:nvSpPr>
        <p:spPr>
          <a:xfrm>
            <a:off x="701040" y="4387136"/>
            <a:ext cx="5608320" cy="4156234"/>
          </a:xfrm>
          <a:prstGeom prst="rect">
            <a:avLst/>
          </a:prstGeom>
        </p:spPr>
        <p:txBody>
          <a:bodyPr spcFirstLastPara="1" wrap="square" lIns="92815" tIns="92815" rIns="92815" bIns="92815" anchor="t" anchorCtr="0">
            <a:noAutofit/>
          </a:bodyPr>
          <a:lstStyle/>
          <a:p>
            <a:endParaRPr dirty="0"/>
          </a:p>
        </p:txBody>
      </p:sp>
      <p:sp>
        <p:nvSpPr>
          <p:cNvPr id="228" name="Shape 228"/>
          <p:cNvSpPr>
            <a:spLocks noGrp="1" noRot="1" noChangeAspect="1"/>
          </p:cNvSpPr>
          <p:nvPr>
            <p:ph type="sldImg" idx="2"/>
          </p:nvPr>
        </p:nvSpPr>
        <p:spPr>
          <a:xfrm>
            <a:off x="425450" y="692150"/>
            <a:ext cx="6159500" cy="3463925"/>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6908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 net out migration rate of more than 8 per 1,000 residents in Cook County, natural rates of increase will just barely balance this loss, with expected overall growth of just 0.7 percent over the next couple years. However, perhaps more concerning from a transportation and public services perspective is that the county population is growing older. Aging population also translates into different transportation demands.</a:t>
            </a:r>
          </a:p>
        </p:txBody>
      </p:sp>
      <p:sp>
        <p:nvSpPr>
          <p:cNvPr id="4" name="Slide Number Placeholder 3"/>
          <p:cNvSpPr>
            <a:spLocks noGrp="1"/>
          </p:cNvSpPr>
          <p:nvPr>
            <p:ph type="sldNum" sz="quarter" idx="5"/>
          </p:nvPr>
        </p:nvSpPr>
        <p:spPr/>
        <p:txBody>
          <a:bodyPr/>
          <a:lstStyle/>
          <a:p>
            <a:fld id="{EA6BE5AC-EEB8-419A-9F86-4E1B61A37C62}" type="slidenum">
              <a:rPr lang="en-US" smtClean="0"/>
              <a:t>23</a:t>
            </a:fld>
            <a:endParaRPr lang="en-US"/>
          </a:p>
        </p:txBody>
      </p:sp>
    </p:spTree>
    <p:extLst>
      <p:ext uri="{BB962C8B-B14F-4D97-AF65-F5344CB8AC3E}">
        <p14:creationId xmlns:p14="http://schemas.microsoft.com/office/powerpoint/2010/main" val="756124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6BE5AC-EEB8-419A-9F86-4E1B61A37C62}" type="slidenum">
              <a:rPr lang="en-US" smtClean="0"/>
              <a:t>24</a:t>
            </a:fld>
            <a:endParaRPr lang="en-US"/>
          </a:p>
        </p:txBody>
      </p:sp>
    </p:spTree>
    <p:extLst>
      <p:ext uri="{BB962C8B-B14F-4D97-AF65-F5344CB8AC3E}">
        <p14:creationId xmlns:p14="http://schemas.microsoft.com/office/powerpoint/2010/main" val="3238505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Shape 227"/>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dirty="0"/>
          </a:p>
        </p:txBody>
      </p:sp>
      <p:sp>
        <p:nvSpPr>
          <p:cNvPr id="228" name="Shape 22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96485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Shape 227"/>
          <p:cNvSpPr txBox="1">
            <a:spLocks noGrp="1"/>
          </p:cNvSpPr>
          <p:nvPr>
            <p:ph type="body" idx="1"/>
          </p:nvPr>
        </p:nvSpPr>
        <p:spPr>
          <a:xfrm>
            <a:off x="701040" y="4387136"/>
            <a:ext cx="5608320" cy="4156234"/>
          </a:xfrm>
          <a:prstGeom prst="rect">
            <a:avLst/>
          </a:prstGeom>
        </p:spPr>
        <p:txBody>
          <a:bodyPr spcFirstLastPara="1" wrap="square" lIns="92815" tIns="92815" rIns="92815" bIns="92815" anchor="t" anchorCtr="0">
            <a:noAutofit/>
          </a:bodyPr>
          <a:lstStyle/>
          <a:p>
            <a:endParaRPr dirty="0"/>
          </a:p>
        </p:txBody>
      </p:sp>
      <p:sp>
        <p:nvSpPr>
          <p:cNvPr id="228" name="Shape 228"/>
          <p:cNvSpPr>
            <a:spLocks noGrp="1" noRot="1" noChangeAspect="1"/>
          </p:cNvSpPr>
          <p:nvPr>
            <p:ph type="sldImg" idx="2"/>
          </p:nvPr>
        </p:nvSpPr>
        <p:spPr>
          <a:xfrm>
            <a:off x="425450" y="692150"/>
            <a:ext cx="6159500" cy="3463925"/>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57150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Shape 227"/>
          <p:cNvSpPr txBox="1">
            <a:spLocks noGrp="1"/>
          </p:cNvSpPr>
          <p:nvPr>
            <p:ph type="body" idx="1"/>
          </p:nvPr>
        </p:nvSpPr>
        <p:spPr>
          <a:xfrm>
            <a:off x="701040" y="4387136"/>
            <a:ext cx="5608320" cy="4156234"/>
          </a:xfrm>
          <a:prstGeom prst="rect">
            <a:avLst/>
          </a:prstGeom>
        </p:spPr>
        <p:txBody>
          <a:bodyPr spcFirstLastPara="1" wrap="square" lIns="92815" tIns="92815" rIns="92815" bIns="92815" anchor="t" anchorCtr="0">
            <a:noAutofit/>
          </a:bodyPr>
          <a:lstStyle/>
          <a:p>
            <a:endParaRPr dirty="0"/>
          </a:p>
        </p:txBody>
      </p:sp>
      <p:sp>
        <p:nvSpPr>
          <p:cNvPr id="228" name="Shape 228"/>
          <p:cNvSpPr>
            <a:spLocks noGrp="1" noRot="1" noChangeAspect="1"/>
          </p:cNvSpPr>
          <p:nvPr>
            <p:ph type="sldImg" idx="2"/>
          </p:nvPr>
        </p:nvSpPr>
        <p:spPr>
          <a:xfrm>
            <a:off x="425450" y="692150"/>
            <a:ext cx="6159500" cy="3463925"/>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59658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boycott was prompted partly by the 1950 decision by the Baton Rouge city council to support the financially strapped municipal bus company by revoking the licenses of nearly 40 competing black-owned transportation companies. African Americans now had no choice but to ride segregated buses operated by the city-owned bus company.  Blacks made about 80% of the bus riders on the city bus system but were required to sit back of the bus or stand even if the front seats reserved for whites remained empty. In January of 1953, the same day bus fares rose from 10 to 15 cents for all riders, Reverend T.J. Jemison, pastor of Mt. Zion First Baptist Church, the largest black church in Louisiana, complained to the city council which in response passed Ordinance 222 which allowed blacks to sit in “white” seats if the bus was crowded and those seats were unoccupied. Blacks however, could not sit next to whites or in front of them. </a:t>
            </a:r>
          </a:p>
          <a:p>
            <a:endParaRPr lang="en-US" dirty="0"/>
          </a:p>
        </p:txBody>
      </p:sp>
      <p:sp>
        <p:nvSpPr>
          <p:cNvPr id="4" name="Slide Number Placeholder 3"/>
          <p:cNvSpPr>
            <a:spLocks noGrp="1"/>
          </p:cNvSpPr>
          <p:nvPr>
            <p:ph type="sldNum" sz="quarter" idx="5"/>
          </p:nvPr>
        </p:nvSpPr>
        <p:spPr/>
        <p:txBody>
          <a:bodyPr/>
          <a:lstStyle/>
          <a:p>
            <a:fld id="{EA6BE5AC-EEB8-419A-9F86-4E1B61A37C62}" type="slidenum">
              <a:rPr lang="en-US" smtClean="0"/>
              <a:t>29</a:t>
            </a:fld>
            <a:endParaRPr lang="en-US"/>
          </a:p>
        </p:txBody>
      </p:sp>
    </p:spTree>
    <p:extLst>
      <p:ext uri="{BB962C8B-B14F-4D97-AF65-F5344CB8AC3E}">
        <p14:creationId xmlns:p14="http://schemas.microsoft.com/office/powerpoint/2010/main" val="3417594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measures produced in the report</a:t>
            </a:r>
            <a:r>
              <a:rPr lang="en-US" baseline="0" dirty="0"/>
              <a:t> make </a:t>
            </a:r>
            <a:r>
              <a:rPr lang="en-US" dirty="0"/>
              <a:t>extensive use of GTFS data;</a:t>
            </a:r>
            <a:r>
              <a:rPr lang="en-US" baseline="0" dirty="0"/>
              <a:t> a </a:t>
            </a:r>
            <a:r>
              <a:rPr lang="en-US" dirty="0"/>
              <a:t>framework for sharing information about transit systems---schedules</a:t>
            </a:r>
            <a:r>
              <a:rPr lang="en-US" baseline="0" dirty="0"/>
              <a:t> and geographic information--</a:t>
            </a:r>
            <a:r>
              <a:rPr lang="en-US" dirty="0"/>
              <a:t>through a series of text files with comma-separated values that represent different fields.</a:t>
            </a:r>
            <a:r>
              <a:rPr lang="en-US" baseline="0" dirty="0"/>
              <a:t> The specification has undergone several modifications/upgrades over the years. What the report did not do was make use of these parameters in the GTFS data. </a:t>
            </a:r>
          </a:p>
          <a:p>
            <a:endParaRPr lang="en-US" baseline="0" dirty="0"/>
          </a:p>
          <a:p>
            <a:r>
              <a:rPr lang="en-US" dirty="0"/>
              <a:t>GTFS Real-Time (8/2011)</a:t>
            </a:r>
          </a:p>
          <a:p>
            <a:r>
              <a:rPr lang="en-US" dirty="0"/>
              <a:t>Wheelchair access (10/2012)</a:t>
            </a:r>
          </a:p>
          <a:p>
            <a:r>
              <a:rPr lang="en-US" dirty="0"/>
              <a:t>Bikes allowed (2/2014)</a:t>
            </a:r>
          </a:p>
          <a:p>
            <a:r>
              <a:rPr lang="en-US" dirty="0" err="1"/>
              <a:t>Timepoint</a:t>
            </a:r>
            <a:r>
              <a:rPr lang="en-US" dirty="0"/>
              <a:t> field (2/2015)</a:t>
            </a:r>
          </a:p>
          <a:p>
            <a:r>
              <a:rPr lang="en-US" dirty="0"/>
              <a:t>Agency email added (2/2016)</a:t>
            </a:r>
          </a:p>
          <a:p>
            <a:r>
              <a:rPr lang="en-US" baseline="0" dirty="0"/>
              <a:t> </a:t>
            </a:r>
            <a:endParaRPr lang="en-US" dirty="0"/>
          </a:p>
        </p:txBody>
      </p:sp>
      <p:sp>
        <p:nvSpPr>
          <p:cNvPr id="4" name="Slide Number Placeholder 3"/>
          <p:cNvSpPr>
            <a:spLocks noGrp="1"/>
          </p:cNvSpPr>
          <p:nvPr>
            <p:ph type="sldNum" sz="quarter" idx="10"/>
          </p:nvPr>
        </p:nvSpPr>
        <p:spPr/>
        <p:txBody>
          <a:bodyPr/>
          <a:lstStyle/>
          <a:p>
            <a:fld id="{DB505A19-98AC-44FD-8038-FD48E9E60236}" type="slidenum">
              <a:rPr lang="en-US" smtClean="0"/>
              <a:t>30</a:t>
            </a:fld>
            <a:endParaRPr lang="en-US"/>
          </a:p>
        </p:txBody>
      </p:sp>
    </p:spTree>
    <p:extLst>
      <p:ext uri="{BB962C8B-B14F-4D97-AF65-F5344CB8AC3E}">
        <p14:creationId xmlns:p14="http://schemas.microsoft.com/office/powerpoint/2010/main" val="17619542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8299">
              <a:defRPr/>
            </a:pPr>
            <a:r>
              <a:rPr lang="en-US" dirty="0"/>
              <a:t>The background of open transit data in the United States is as follows. Prior to 1998, data generated by technologies deployed by public transit agencies were not made available to the public. In 1998, Bay Area Rapid Transit released schedule data in the comma-separated values (.csv) format; this was the first known release of transit data to the public. Tri-County Metropolitan Transportation District of Oregon (</a:t>
            </a:r>
            <a:r>
              <a:rPr lang="en-US" dirty="0" err="1"/>
              <a:t>TriMet</a:t>
            </a:r>
            <a:r>
              <a:rPr lang="en-US" dirty="0"/>
              <a:t>) worked with Google in the </a:t>
            </a:r>
            <a:r>
              <a:rPr lang="en-US" dirty="0" err="1"/>
              <a:t>cre-ation</a:t>
            </a:r>
            <a:r>
              <a:rPr lang="en-US" dirty="0"/>
              <a:t>  of  General  Transit  Feed  Specification  (GTFS,  originally  developed  by  Google  and containing static schedule information for transit agencies, including stop location, route geometrics, and stop times) in 2005. Massachusetts Bay Transportation Authority (MBTA) opened the agency’s data in 2009. As of April 2014, according to City-Go-Round, almost 29% of U.S. transit agencies provided open data. In 2003, the Digital Agenda for Europe, Public  Service  Information  Directive  was  issued,  requiring  all  European  Union  member states to release public sector information, including open public transport data. Many pub-</a:t>
            </a:r>
            <a:r>
              <a:rPr lang="en-US" dirty="0" err="1"/>
              <a:t>lic</a:t>
            </a:r>
            <a:r>
              <a:rPr lang="en-US" dirty="0"/>
              <a:t> transit agencies in the Asia-Pacific region are beginning to open their data as well, such as a recent initiative to combine and release the data from many public transit operators in Tokyo, Japan</a:t>
            </a:r>
          </a:p>
          <a:p>
            <a:endParaRPr lang="en-US" dirty="0"/>
          </a:p>
          <a:p>
            <a:r>
              <a:rPr lang="en-US" dirty="0"/>
              <a:t>Faludi;</a:t>
            </a:r>
            <a:r>
              <a:rPr lang="en-US" baseline="0" dirty="0"/>
              <a:t> </a:t>
            </a:r>
            <a:r>
              <a:rPr lang="en-US" baseline="0" dirty="0" err="1"/>
              <a:t>TriMet</a:t>
            </a:r>
            <a:r>
              <a:rPr lang="en-US" baseline="0" dirty="0"/>
              <a:t> worker (geography degree); Google together developed the standard as documented…originated out of the frustration. Accurate and up-to-date data is important to any information system. To create an effective traveler information system that includes public transportation, a description of the routes, stops, and schedules that represent transit service is required. However, that data is not always easy to create. </a:t>
            </a:r>
            <a:r>
              <a:rPr lang="en-US" baseline="0" dirty="0" err="1"/>
              <a:t>TriMet</a:t>
            </a:r>
            <a:r>
              <a:rPr lang="en-US" baseline="0" dirty="0"/>
              <a:t> in Portland, Oregon, along with Google, was one of the first public agencies to try and tackle the problem of online transit trip planners through the use of open datasets that are shared with the general public [1]. </a:t>
            </a:r>
            <a:r>
              <a:rPr lang="en-US" baseline="0" dirty="0" err="1"/>
              <a:t>TriMet</a:t>
            </a:r>
            <a:r>
              <a:rPr lang="en-US" baseline="0" dirty="0"/>
              <a:t> worked with Google to format their transit data into an easily maintainable and consumable format that could be imported into Google Maps. This transit data format became known as the Google Transit Feed.</a:t>
            </a:r>
          </a:p>
          <a:p>
            <a:endParaRPr lang="en-US" baseline="0" dirty="0"/>
          </a:p>
          <a:p>
            <a:r>
              <a:rPr lang="en-US" baseline="0" dirty="0"/>
              <a:t>After a successful launch with </a:t>
            </a:r>
            <a:r>
              <a:rPr lang="en-US" baseline="0" dirty="0" err="1"/>
              <a:t>TriMet</a:t>
            </a:r>
            <a:r>
              <a:rPr lang="en-US" baseline="0" dirty="0"/>
              <a:t>, Google Transit offered their trip planner service for free to any agency that formatted and maintained their data in the GTFS format. In 2006, five more agencies were </a:t>
            </a:r>
            <a:r>
              <a:rPr lang="en-US" baseline="0" dirty="0" err="1"/>
              <a:t>added.Google</a:t>
            </a:r>
            <a:r>
              <a:rPr lang="en-US" baseline="0" dirty="0"/>
              <a:t> Transit’s success continued as more and more agencies wanted access to a free trip planner, and were willing to put their data into the GTFS format to get it. Since its creation in 2005, GTFS has become the most popularly-used data format to describe fixed-route transit services in the world. Many agencies have decided to share their GTFS data openly with the public, while others choose to restrict access only to select partners (e.g., Google Maps).</a:t>
            </a:r>
          </a:p>
          <a:p>
            <a:endParaRPr lang="en-US" baseline="0" dirty="0"/>
          </a:p>
          <a:p>
            <a:r>
              <a:rPr lang="en-US" dirty="0"/>
              <a:t>“In my role at </a:t>
            </a:r>
            <a:r>
              <a:rPr lang="en-US" dirty="0" err="1"/>
              <a:t>TriMet</a:t>
            </a:r>
            <a:r>
              <a:rPr lang="en-US" dirty="0"/>
              <a:t>, I worked with transit data every day, so I knew such data was available and the potential was there. We offered our own online transit trip planning tool, as many agencies do. The trouble was, the average citizen often didn’t know where to go to find this information, especially if he or she was unfamiliar with the local transit system. The general public was used to going to certain online destinations for driving directions—Google Maps, MapQuest, and Yahoo were all widely used at the time—but the data they needed to plan a trip using public transit wasn’t available where they were looking.”</a:t>
            </a:r>
          </a:p>
          <a:p>
            <a:endParaRPr lang="en-US" dirty="0"/>
          </a:p>
          <a:p>
            <a:r>
              <a:rPr lang="en-US" dirty="0"/>
              <a:t>Several iterations (23) since</a:t>
            </a:r>
            <a:r>
              <a:rPr lang="en-US" baseline="0" dirty="0"/>
              <a:t> initial version was released to public 9/25/2006. Most recent in February of this year. </a:t>
            </a:r>
            <a:r>
              <a:rPr lang="en-US" dirty="0"/>
              <a:t>Added trips.txt '</a:t>
            </a:r>
            <a:r>
              <a:rPr lang="en-US" dirty="0" err="1"/>
              <a:t>bikes_allowed</a:t>
            </a:r>
            <a:r>
              <a:rPr lang="en-US" dirty="0"/>
              <a:t>' proposal to spec: </a:t>
            </a:r>
            <a:r>
              <a:rPr lang="en-US" dirty="0">
                <a:hlinkClick r:id="rId3"/>
              </a:rPr>
              <a:t>discussion</a:t>
            </a:r>
            <a:r>
              <a:rPr lang="en-US" dirty="0"/>
              <a:t>. Wheelchair</a:t>
            </a:r>
            <a:r>
              <a:rPr lang="en-US" baseline="0" dirty="0"/>
              <a:t> accessibility for trips was added in October 2012. Interesting from a public policy perspective, each of the revisions was first proposed to the GTFS listserv where a thread-specific discussion would take place. </a:t>
            </a:r>
          </a:p>
        </p:txBody>
      </p:sp>
      <p:sp>
        <p:nvSpPr>
          <p:cNvPr id="4" name="Slide Number Placeholder 3"/>
          <p:cNvSpPr>
            <a:spLocks noGrp="1"/>
          </p:cNvSpPr>
          <p:nvPr>
            <p:ph type="sldNum" sz="quarter" idx="10"/>
          </p:nvPr>
        </p:nvSpPr>
        <p:spPr/>
        <p:txBody>
          <a:bodyPr/>
          <a:lstStyle/>
          <a:p>
            <a:fld id="{DB505A19-98AC-44FD-8038-FD48E9E60236}" type="slidenum">
              <a:rPr lang="en-US" smtClean="0"/>
              <a:t>31</a:t>
            </a:fld>
            <a:endParaRPr lang="en-US"/>
          </a:p>
        </p:txBody>
      </p:sp>
    </p:spTree>
    <p:extLst>
      <p:ext uri="{BB962C8B-B14F-4D97-AF65-F5344CB8AC3E}">
        <p14:creationId xmlns:p14="http://schemas.microsoft.com/office/powerpoint/2010/main" val="8433886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B505A19-98AC-44FD-8038-FD48E9E60236}" type="slidenum">
              <a:rPr lang="en-US" smtClean="0"/>
              <a:t>32</a:t>
            </a:fld>
            <a:endParaRPr lang="en-US"/>
          </a:p>
        </p:txBody>
      </p:sp>
    </p:spTree>
    <p:extLst>
      <p:ext uri="{BB962C8B-B14F-4D97-AF65-F5344CB8AC3E}">
        <p14:creationId xmlns:p14="http://schemas.microsoft.com/office/powerpoint/2010/main" val="2699842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B505A19-98AC-44FD-8038-FD48E9E60236}" type="slidenum">
              <a:rPr lang="en-US" smtClean="0"/>
              <a:t>33</a:t>
            </a:fld>
            <a:endParaRPr lang="en-US"/>
          </a:p>
        </p:txBody>
      </p:sp>
    </p:spTree>
    <p:extLst>
      <p:ext uri="{BB962C8B-B14F-4D97-AF65-F5344CB8AC3E}">
        <p14:creationId xmlns:p14="http://schemas.microsoft.com/office/powerpoint/2010/main" val="21703040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important element of livability is having multiple travel options</a:t>
            </a:r>
            <a:r>
              <a:rPr lang="en-US" baseline="0" dirty="0"/>
              <a:t> for getting around.	The methodology in this book is guiding regional transit to better coordination and unified public transportation for super regions providing. Coordinated regional transit service depends on the needs, resources, and characteristics of the region. Coordination form in this book described as: building a broad coalition of stakeholders, creating a Common agenda for transportation needs by identify regional travel needs and develop regional transportation strategies, and focus on planning, flexibility, and sustainability.</a:t>
            </a:r>
            <a:endParaRPr lang="en-US" dirty="0"/>
          </a:p>
        </p:txBody>
      </p:sp>
      <p:sp>
        <p:nvSpPr>
          <p:cNvPr id="4" name="Slide Number Placeholder 3"/>
          <p:cNvSpPr>
            <a:spLocks noGrp="1"/>
          </p:cNvSpPr>
          <p:nvPr>
            <p:ph type="sldNum" sz="quarter" idx="10"/>
          </p:nvPr>
        </p:nvSpPr>
        <p:spPr/>
        <p:txBody>
          <a:bodyPr/>
          <a:lstStyle/>
          <a:p>
            <a:fld id="{DB505A19-98AC-44FD-8038-FD48E9E60236}" type="slidenum">
              <a:rPr lang="en-US" smtClean="0"/>
              <a:t>34</a:t>
            </a:fld>
            <a:endParaRPr lang="en-US"/>
          </a:p>
        </p:txBody>
      </p:sp>
    </p:spTree>
    <p:extLst>
      <p:ext uri="{BB962C8B-B14F-4D97-AF65-F5344CB8AC3E}">
        <p14:creationId xmlns:p14="http://schemas.microsoft.com/office/powerpoint/2010/main" val="15715111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6BE5AC-EEB8-419A-9F86-4E1B61A37C62}" type="slidenum">
              <a:rPr lang="en-US" smtClean="0"/>
              <a:t>35</a:t>
            </a:fld>
            <a:endParaRPr lang="en-US"/>
          </a:p>
        </p:txBody>
      </p:sp>
    </p:spTree>
    <p:extLst>
      <p:ext uri="{BB962C8B-B14F-4D97-AF65-F5344CB8AC3E}">
        <p14:creationId xmlns:p14="http://schemas.microsoft.com/office/powerpoint/2010/main" val="6016733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Shape 227"/>
          <p:cNvSpPr txBox="1">
            <a:spLocks noGrp="1"/>
          </p:cNvSpPr>
          <p:nvPr>
            <p:ph type="body" idx="1"/>
          </p:nvPr>
        </p:nvSpPr>
        <p:spPr>
          <a:xfrm>
            <a:off x="701040" y="4387136"/>
            <a:ext cx="5608320" cy="4156234"/>
          </a:xfrm>
          <a:prstGeom prst="rect">
            <a:avLst/>
          </a:prstGeom>
        </p:spPr>
        <p:txBody>
          <a:bodyPr spcFirstLastPara="1" wrap="square" lIns="92815" tIns="92815" rIns="92815" bIns="92815" anchor="t" anchorCtr="0">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dirty="0">
                <a:effectLst/>
                <a:latin typeface="Minion Pro" panose="02040503050306020203" pitchFamily="18" charset="0"/>
                <a:ea typeface="Calibri" panose="020F0502020204030204" pitchFamily="34" charset="0"/>
                <a:cs typeface="Times New Roman" panose="02020603050405020304" pitchFamily="18" charset="0"/>
              </a:rPr>
              <a:t>Let’s talk a little about walkability of the site. In his book, Walkable City, urban planner Jeff Speck lays out his </a:t>
            </a:r>
            <a:r>
              <a:rPr lang="en-US" sz="1800" i="1" dirty="0">
                <a:effectLst/>
                <a:latin typeface="Minion Pro" panose="02040503050306020203" pitchFamily="18" charset="0"/>
                <a:ea typeface="Calibri" panose="020F0502020204030204" pitchFamily="34" charset="0"/>
                <a:cs typeface="Times New Roman" panose="02020603050405020304" pitchFamily="18" charset="0"/>
              </a:rPr>
              <a:t>General Theory of Walkability</a:t>
            </a:r>
            <a:r>
              <a:rPr lang="en-US" sz="1800" dirty="0">
                <a:effectLst/>
                <a:latin typeface="Minion Pro" panose="02040503050306020203" pitchFamily="18" charset="0"/>
                <a:ea typeface="Calibri" panose="020F0502020204030204" pitchFamily="34" charset="0"/>
                <a:cs typeface="Times New Roman" panose="02020603050405020304" pitchFamily="18" charset="0"/>
              </a:rPr>
              <a:t> which lays out four conditions for a walkable environment, namely: it must be useful, safe, comfortable, and interesting (</a:t>
            </a:r>
            <a:r>
              <a:rPr lang="en-US" sz="1800" i="1" dirty="0">
                <a:effectLst/>
                <a:latin typeface="Minion Pro" panose="02040503050306020203" pitchFamily="18" charset="0"/>
                <a:ea typeface="Calibri" panose="020F0502020204030204" pitchFamily="34" charset="0"/>
                <a:cs typeface="Times New Roman" panose="02020603050405020304" pitchFamily="18" charset="0"/>
              </a:rPr>
              <a:t>21</a:t>
            </a:r>
            <a:r>
              <a:rPr lang="en-US" sz="1800" dirty="0">
                <a:effectLst/>
                <a:latin typeface="Minion Pro" panose="02040503050306020203" pitchFamily="18" charset="0"/>
                <a:ea typeface="Calibri" panose="020F0502020204030204" pitchFamily="34" charset="0"/>
                <a:cs typeface="Times New Roman" panose="02020603050405020304" pitchFamily="18" charset="0"/>
              </a:rPr>
              <a:t>). The area surrounding the bus turnaround site fulfills many of these physical design characteristics that enhance walkability. For example, the associated parcels are small (N=926 within the ¼ buffer)--especially those in the Austin area--which translates into greater variety in the landscape, adding to the interest and usefulness of the walk. The neighborhoods also have configured in small, rectilinear blocks of smaller length, which creates higher intersection densities and allows for greater freedom of movement for the pedestrian. Altogether, according to CMAP’s walkability index, the area surrounding the bus turnaround ranks high to very high in terms of walkability (</a:t>
            </a:r>
            <a:r>
              <a:rPr lang="en-US" sz="1800" i="1" dirty="0">
                <a:effectLst/>
                <a:latin typeface="Minion Pro" panose="02040503050306020203" pitchFamily="18" charset="0"/>
                <a:ea typeface="Calibri" panose="020F0502020204030204" pitchFamily="34" charset="0"/>
                <a:cs typeface="Times New Roman" panose="02020603050405020304" pitchFamily="18" charset="0"/>
              </a:rPr>
              <a:t>22</a:t>
            </a:r>
            <a:r>
              <a:rPr lang="en-US" sz="1800" dirty="0">
                <a:effectLst/>
                <a:latin typeface="Minion Pro" panose="02040503050306020203" pitchFamily="18" charset="0"/>
                <a:ea typeface="Calibri" panose="020F0502020204030204" pitchFamily="34" charset="0"/>
                <a:cs typeface="Times New Roman" panose="02020603050405020304" pitchFamily="18" charset="0"/>
              </a:rPr>
              <a:t>).</a:t>
            </a:r>
          </a:p>
        </p:txBody>
      </p:sp>
      <p:sp>
        <p:nvSpPr>
          <p:cNvPr id="228" name="Shape 228"/>
          <p:cNvSpPr>
            <a:spLocks noGrp="1" noRot="1" noChangeAspect="1"/>
          </p:cNvSpPr>
          <p:nvPr>
            <p:ph type="sldImg" idx="2"/>
          </p:nvPr>
        </p:nvSpPr>
        <p:spPr>
          <a:xfrm>
            <a:off x="425450" y="692150"/>
            <a:ext cx="6159500" cy="3463925"/>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18236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Shape 227"/>
          <p:cNvSpPr txBox="1">
            <a:spLocks noGrp="1"/>
          </p:cNvSpPr>
          <p:nvPr>
            <p:ph type="body" idx="1"/>
          </p:nvPr>
        </p:nvSpPr>
        <p:spPr>
          <a:xfrm>
            <a:off x="701040" y="4387136"/>
            <a:ext cx="5608320" cy="4156234"/>
          </a:xfrm>
          <a:prstGeom prst="rect">
            <a:avLst/>
          </a:prstGeom>
        </p:spPr>
        <p:txBody>
          <a:bodyPr spcFirstLastPara="1" wrap="square" lIns="92815" tIns="92815" rIns="92815" bIns="92815" anchor="t" anchorCtr="0">
            <a:noAutofit/>
          </a:bodyPr>
          <a:lstStyle/>
          <a:p>
            <a:endParaRPr dirty="0"/>
          </a:p>
        </p:txBody>
      </p:sp>
      <p:sp>
        <p:nvSpPr>
          <p:cNvPr id="228" name="Shape 228"/>
          <p:cNvSpPr>
            <a:spLocks noGrp="1" noRot="1" noChangeAspect="1"/>
          </p:cNvSpPr>
          <p:nvPr>
            <p:ph type="sldImg" idx="2"/>
          </p:nvPr>
        </p:nvSpPr>
        <p:spPr>
          <a:xfrm>
            <a:off x="425450" y="692150"/>
            <a:ext cx="6159500" cy="3463925"/>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47648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Shape 227"/>
          <p:cNvSpPr txBox="1">
            <a:spLocks noGrp="1"/>
          </p:cNvSpPr>
          <p:nvPr>
            <p:ph type="body" idx="1"/>
          </p:nvPr>
        </p:nvSpPr>
        <p:spPr>
          <a:xfrm>
            <a:off x="701040" y="4387136"/>
            <a:ext cx="5608320" cy="4156234"/>
          </a:xfrm>
          <a:prstGeom prst="rect">
            <a:avLst/>
          </a:prstGeom>
        </p:spPr>
        <p:txBody>
          <a:bodyPr spcFirstLastPara="1" wrap="square" lIns="92815" tIns="92815" rIns="92815" bIns="92815" anchor="t" anchorCtr="0">
            <a:noAutofit/>
          </a:bodyPr>
          <a:lstStyle/>
          <a:p>
            <a:r>
              <a:rPr lang="en-US" dirty="0"/>
              <a:t>A roadmap is a flexible planning technique to support strategic and long-range planning, by matching short-term and long-term goals with specific solutions.</a:t>
            </a:r>
            <a:endParaRPr dirty="0"/>
          </a:p>
        </p:txBody>
      </p:sp>
      <p:sp>
        <p:nvSpPr>
          <p:cNvPr id="228" name="Shape 228"/>
          <p:cNvSpPr>
            <a:spLocks noGrp="1" noRot="1" noChangeAspect="1"/>
          </p:cNvSpPr>
          <p:nvPr>
            <p:ph type="sldImg" idx="2"/>
          </p:nvPr>
        </p:nvSpPr>
        <p:spPr>
          <a:xfrm>
            <a:off x="425450" y="692150"/>
            <a:ext cx="6159500" cy="3463925"/>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1026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80D0A3F-94EA-4076-AD09-DEF8985347F4}" type="slidenum">
              <a:rPr lang="en-US" smtClean="0"/>
              <a:t>42</a:t>
            </a:fld>
            <a:endParaRPr lang="en-US"/>
          </a:p>
        </p:txBody>
      </p:sp>
    </p:spTree>
    <p:extLst>
      <p:ext uri="{BB962C8B-B14F-4D97-AF65-F5344CB8AC3E}">
        <p14:creationId xmlns:p14="http://schemas.microsoft.com/office/powerpoint/2010/main" val="17039618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Michigan Department of Information Technology</a:t>
            </a:r>
          </a:p>
          <a:p>
            <a:endParaRPr lang="en-US" dirty="0"/>
          </a:p>
          <a:p>
            <a:r>
              <a:rPr lang="en-US" dirty="0"/>
              <a:t>There are significant trends occurring in the United States relating to the aging of the population. For example, nationally, the two (2) age cohorts with the largest percentage of growth over the last decade were the 50-54 year old cohort and the 45-49 year old cohort. People in these two (2) age groups were primarily born during the post-WWII “baby boom,” defined by the Census Bureau as persons born from 1946 through 1964. As communities approach the year 2010, these baby boomers will begin turning 65 years of age. Further, the Administration on Aging (U.S. Department of Health and Human Services) reports that, based on a comprehensive survey of older adults, longevity is increasing and younger seniors are healthier than in all previously measured time in our history. Quality of life issues and an individual’s desire to live independently will put increasing pressure on existing transit services to provide mobility to this population. This has great significance on the potential need to provide public transit and complementary paratransit services. Estimates of current and future number of persons over the age of 65 years were based on population projections (2005-2020) by age cohort for Kalamazoo County that were produced by the Michigan Department of Information Technology. These are summarized in Exhibit 54. As shown, the portion of the population over 65 years of age is projected to increase from 26,137 in 2005 to 37,202 in 2020. This is a 42.3 percent increase, as compared to a four (4) percent increase in the overall population during the same time period. As a result, the percent of persons over 65 years of the total population increases from 10.9 percent in 2005 to 15.0 percent in 2020.</a:t>
            </a:r>
          </a:p>
        </p:txBody>
      </p:sp>
      <p:sp>
        <p:nvSpPr>
          <p:cNvPr id="4" name="Slide Number Placeholder 3"/>
          <p:cNvSpPr>
            <a:spLocks noGrp="1"/>
          </p:cNvSpPr>
          <p:nvPr>
            <p:ph type="sldNum" sz="quarter" idx="10"/>
          </p:nvPr>
        </p:nvSpPr>
        <p:spPr/>
        <p:txBody>
          <a:bodyPr/>
          <a:lstStyle/>
          <a:p>
            <a:fld id="{DB505A19-98AC-44FD-8038-FD48E9E60236}" type="slidenum">
              <a:rPr lang="en-US" smtClean="0"/>
              <a:t>54</a:t>
            </a:fld>
            <a:endParaRPr lang="en-US"/>
          </a:p>
        </p:txBody>
      </p:sp>
    </p:spTree>
    <p:extLst>
      <p:ext uri="{BB962C8B-B14F-4D97-AF65-F5344CB8AC3E}">
        <p14:creationId xmlns:p14="http://schemas.microsoft.com/office/powerpoint/2010/main" val="309670668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Michigan Department of Information Technology</a:t>
            </a:r>
          </a:p>
          <a:p>
            <a:endParaRPr lang="en-US" dirty="0"/>
          </a:p>
          <a:p>
            <a:r>
              <a:rPr lang="en-US" dirty="0"/>
              <a:t>There are significant trends occurring in the United States relating to the aging of the population. For example, nationally, the two (2) age cohorts with the largest percentage of growth over the last decade were the 50-54 year old cohort and the 45-49 year old cohort. People in these two (2) age groups were primarily born during the post-WWII “baby boom,” defined by the Census Bureau as persons born from 1946 through 1964. As communities approach the year 2010, these baby boomers will begin turning 65 years of age. Further, the Administration on Aging (U.S. Department of Health and Human Services) reports that, based on a comprehensive survey of older adults, longevity is increasing and younger seniors are healthier than in all previously measured time in our history. Quality of life issues and an individual’s desire to live independently will put increasing pressure on existing transit services to provide mobility to this population. This has great significance on the potential need to provide public transit and complementary paratransit services. Estimates of current and future number of persons over the age of 65 years were based on population projections (2005-2020) by age cohort for Kalamazoo County that were produced by the Michigan Department of Information Technology. These are summarized in Exhibit 54. As shown, the portion of the population over 65 years of age is projected to increase from 26,137 in 2005 to 37,202 in 2020. This is a 42.3 percent increase, as compared to a four (4) percent increase in the overall population during the same time period. As a result, the percent of persons over 65 years of the total population increases from 10.9 percent in 2005 to 15.0 percent in 2020.</a:t>
            </a:r>
          </a:p>
        </p:txBody>
      </p:sp>
      <p:sp>
        <p:nvSpPr>
          <p:cNvPr id="4" name="Slide Number Placeholder 3"/>
          <p:cNvSpPr>
            <a:spLocks noGrp="1"/>
          </p:cNvSpPr>
          <p:nvPr>
            <p:ph type="sldNum" sz="quarter" idx="10"/>
          </p:nvPr>
        </p:nvSpPr>
        <p:spPr/>
        <p:txBody>
          <a:bodyPr/>
          <a:lstStyle/>
          <a:p>
            <a:fld id="{DB505A19-98AC-44FD-8038-FD48E9E60236}" type="slidenum">
              <a:rPr lang="en-US" smtClean="0"/>
              <a:t>55</a:t>
            </a:fld>
            <a:endParaRPr lang="en-US"/>
          </a:p>
        </p:txBody>
      </p:sp>
    </p:spTree>
    <p:extLst>
      <p:ext uri="{BB962C8B-B14F-4D97-AF65-F5344CB8AC3E}">
        <p14:creationId xmlns:p14="http://schemas.microsoft.com/office/powerpoint/2010/main" val="335998628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32,591 or 12.8% of the population reports having some form of disability</a:t>
            </a:r>
          </a:p>
        </p:txBody>
      </p:sp>
      <p:sp>
        <p:nvSpPr>
          <p:cNvPr id="4" name="Slide Number Placeholder 3"/>
          <p:cNvSpPr>
            <a:spLocks noGrp="1"/>
          </p:cNvSpPr>
          <p:nvPr>
            <p:ph type="sldNum" sz="quarter" idx="10"/>
          </p:nvPr>
        </p:nvSpPr>
        <p:spPr/>
        <p:txBody>
          <a:bodyPr/>
          <a:lstStyle/>
          <a:p>
            <a:fld id="{DB505A19-98AC-44FD-8038-FD48E9E60236}" type="slidenum">
              <a:rPr lang="en-US" smtClean="0"/>
              <a:t>56</a:t>
            </a:fld>
            <a:endParaRPr lang="en-US"/>
          </a:p>
        </p:txBody>
      </p:sp>
    </p:spTree>
    <p:extLst>
      <p:ext uri="{BB962C8B-B14F-4D97-AF65-F5344CB8AC3E}">
        <p14:creationId xmlns:p14="http://schemas.microsoft.com/office/powerpoint/2010/main" val="13715748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32,591 or 12.8% of the population reports having some form of disability</a:t>
            </a:r>
          </a:p>
          <a:p>
            <a:r>
              <a:rPr lang="en-US" dirty="0"/>
              <a:t>15.1% of the county’s population age 35-64 reports having some form of disability.</a:t>
            </a:r>
          </a:p>
          <a:p>
            <a:endParaRPr lang="en-US" dirty="0"/>
          </a:p>
        </p:txBody>
      </p:sp>
      <p:sp>
        <p:nvSpPr>
          <p:cNvPr id="4" name="Slide Number Placeholder 3"/>
          <p:cNvSpPr>
            <a:spLocks noGrp="1"/>
          </p:cNvSpPr>
          <p:nvPr>
            <p:ph type="sldNum" sz="quarter" idx="10"/>
          </p:nvPr>
        </p:nvSpPr>
        <p:spPr/>
        <p:txBody>
          <a:bodyPr/>
          <a:lstStyle/>
          <a:p>
            <a:fld id="{DB505A19-98AC-44FD-8038-FD48E9E60236}" type="slidenum">
              <a:rPr lang="en-US" smtClean="0"/>
              <a:t>57</a:t>
            </a:fld>
            <a:endParaRPr lang="en-US"/>
          </a:p>
        </p:txBody>
      </p:sp>
    </p:spTree>
    <p:extLst>
      <p:ext uri="{BB962C8B-B14F-4D97-AF65-F5344CB8AC3E}">
        <p14:creationId xmlns:p14="http://schemas.microsoft.com/office/powerpoint/2010/main" val="31673537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Hearing difficulty</a:t>
            </a:r>
            <a:r>
              <a:rPr lang="en-US" dirty="0"/>
              <a:t>  deaf or having serious difficulty hearing (DEAR).</a:t>
            </a:r>
          </a:p>
          <a:p>
            <a:r>
              <a:rPr lang="en-US" b="1" dirty="0"/>
              <a:t>Vision difficulty</a:t>
            </a:r>
            <a:r>
              <a:rPr lang="en-US" dirty="0"/>
              <a:t>  blind or having serious difficulty seeing, even when wearing glasses (DEYE).</a:t>
            </a:r>
          </a:p>
          <a:p>
            <a:r>
              <a:rPr lang="en-US" b="1" dirty="0"/>
              <a:t>Cognitive difficulty</a:t>
            </a:r>
            <a:r>
              <a:rPr lang="en-US" dirty="0"/>
              <a:t>  Because of a physical, mental, or emotional problem, having difficulty remembering, concentrating, or making decisions (DREM).</a:t>
            </a:r>
          </a:p>
          <a:p>
            <a:r>
              <a:rPr lang="en-US" b="1" dirty="0"/>
              <a:t>Ambulatory difficulty</a:t>
            </a:r>
            <a:r>
              <a:rPr lang="en-US" dirty="0"/>
              <a:t>  Having serious difficulty walking or climbing stairs (DPHY).</a:t>
            </a:r>
          </a:p>
          <a:p>
            <a:r>
              <a:rPr lang="en-US" b="1" dirty="0"/>
              <a:t>Self-care difficulty</a:t>
            </a:r>
            <a:r>
              <a:rPr lang="en-US" dirty="0"/>
              <a:t>  Having difficulty bathing or dressing (DDRS).</a:t>
            </a:r>
          </a:p>
          <a:p>
            <a:r>
              <a:rPr lang="en-US" b="1" dirty="0"/>
              <a:t>Independent living difficulty</a:t>
            </a:r>
            <a:r>
              <a:rPr lang="en-US" dirty="0"/>
              <a:t>  Because of a physical, mental, or emotional problem, having difficulty doing errands alone such as visiting a doctor’s office or shopping (DOUT).</a:t>
            </a:r>
          </a:p>
        </p:txBody>
      </p:sp>
      <p:sp>
        <p:nvSpPr>
          <p:cNvPr id="4" name="Slide Number Placeholder 3"/>
          <p:cNvSpPr>
            <a:spLocks noGrp="1"/>
          </p:cNvSpPr>
          <p:nvPr>
            <p:ph type="sldNum" sz="quarter" idx="10"/>
          </p:nvPr>
        </p:nvSpPr>
        <p:spPr/>
        <p:txBody>
          <a:bodyPr/>
          <a:lstStyle/>
          <a:p>
            <a:fld id="{DB505A19-98AC-44FD-8038-FD48E9E60236}" type="slidenum">
              <a:rPr lang="en-US" smtClean="0"/>
              <a:t>58</a:t>
            </a:fld>
            <a:endParaRPr lang="en-US"/>
          </a:p>
        </p:txBody>
      </p:sp>
    </p:spTree>
    <p:extLst>
      <p:ext uri="{BB962C8B-B14F-4D97-AF65-F5344CB8AC3E}">
        <p14:creationId xmlns:p14="http://schemas.microsoft.com/office/powerpoint/2010/main" val="161779868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Michigan Department of Information Technology</a:t>
            </a:r>
          </a:p>
          <a:p>
            <a:endParaRPr lang="en-US" dirty="0"/>
          </a:p>
          <a:p>
            <a:r>
              <a:rPr lang="en-US" dirty="0"/>
              <a:t>There are significant trends occurring in the United States relating to the aging of the population. For example, nationally, the two (2) age cohorts with the largest percentage of growth over the last decade were the 50-54 year old cohort and the 45-49 year old cohort. People in these two (2) age groups were primarily born during the post-WWII “baby boom,” defined by the Census Bureau as persons born from 1946 through 1964. As communities approach the year 2010, these baby boomers will begin turning 65 years of age. Further, the Administration on Aging (U.S. Department of Health and Human Services) reports that, based on a comprehensive survey of older adults, longevity is increasing and younger seniors are healthier than in all previously measured time in our history. Quality of life issues and an individual’s desire to live independently will put increasing pressure on existing transit services to provide mobility to this population. This has great significance on the potential need to provide public transit and complementary paratransit services. Estimates of current and future number of persons over the age of 65 years were based on population projections (2005-2020) by age cohort for Kalamazoo County that were produced by the Michigan Department of Information Technology. These are summarized in Exhibit 54. As shown, the portion of the population over 65 years of age is projected to increase from 26,137 in 2005 to 37,202 in 2020. This is a 42.3 percent increase, as compared to a four (4) percent increase in the overall population during the same time period. As a result, the percent of persons over 65 years of the total population increases from 10.9 percent in 2005 to 15.0 percent in 2020.</a:t>
            </a:r>
          </a:p>
        </p:txBody>
      </p:sp>
      <p:sp>
        <p:nvSpPr>
          <p:cNvPr id="4" name="Slide Number Placeholder 3"/>
          <p:cNvSpPr>
            <a:spLocks noGrp="1"/>
          </p:cNvSpPr>
          <p:nvPr>
            <p:ph type="sldNum" sz="quarter" idx="10"/>
          </p:nvPr>
        </p:nvSpPr>
        <p:spPr/>
        <p:txBody>
          <a:bodyPr/>
          <a:lstStyle/>
          <a:p>
            <a:fld id="{DB505A19-98AC-44FD-8038-FD48E9E60236}" type="slidenum">
              <a:rPr lang="en-US" smtClean="0"/>
              <a:t>59</a:t>
            </a:fld>
            <a:endParaRPr lang="en-US"/>
          </a:p>
        </p:txBody>
      </p:sp>
    </p:spTree>
    <p:extLst>
      <p:ext uri="{BB962C8B-B14F-4D97-AF65-F5344CB8AC3E}">
        <p14:creationId xmlns:p14="http://schemas.microsoft.com/office/powerpoint/2010/main" val="180108229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of Kalamazoo County;</a:t>
            </a:r>
            <a:r>
              <a:rPr lang="en-US" baseline="0" dirty="0"/>
              <a:t> around 280 square miles; 19 Kalamazoo Metro fixed transit routes and 52 PROWAG compliant bus stops.</a:t>
            </a:r>
            <a:endParaRPr lang="en-US" dirty="0"/>
          </a:p>
        </p:txBody>
      </p:sp>
      <p:sp>
        <p:nvSpPr>
          <p:cNvPr id="4" name="Slide Number Placeholder 3"/>
          <p:cNvSpPr>
            <a:spLocks noGrp="1"/>
          </p:cNvSpPr>
          <p:nvPr>
            <p:ph type="sldNum" sz="quarter" idx="10"/>
          </p:nvPr>
        </p:nvSpPr>
        <p:spPr/>
        <p:txBody>
          <a:bodyPr/>
          <a:lstStyle/>
          <a:p>
            <a:fld id="{DB505A19-98AC-44FD-8038-FD48E9E60236}" type="slidenum">
              <a:rPr lang="en-US" smtClean="0"/>
              <a:t>61</a:t>
            </a:fld>
            <a:endParaRPr lang="en-US"/>
          </a:p>
        </p:txBody>
      </p:sp>
    </p:spTree>
    <p:extLst>
      <p:ext uri="{BB962C8B-B14F-4D97-AF65-F5344CB8AC3E}">
        <p14:creationId xmlns:p14="http://schemas.microsoft.com/office/powerpoint/2010/main" val="355511589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B505A19-98AC-44FD-8038-FD48E9E60236}" type="slidenum">
              <a:rPr lang="en-US" smtClean="0"/>
              <a:t>62</a:t>
            </a:fld>
            <a:endParaRPr lang="en-US"/>
          </a:p>
        </p:txBody>
      </p:sp>
    </p:spTree>
    <p:extLst>
      <p:ext uri="{BB962C8B-B14F-4D97-AF65-F5344CB8AC3E}">
        <p14:creationId xmlns:p14="http://schemas.microsoft.com/office/powerpoint/2010/main" val="27027893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B505A19-98AC-44FD-8038-FD48E9E60236}" type="slidenum">
              <a:rPr lang="en-US" smtClean="0"/>
              <a:t>63</a:t>
            </a:fld>
            <a:endParaRPr lang="en-US"/>
          </a:p>
        </p:txBody>
      </p:sp>
    </p:spTree>
    <p:extLst>
      <p:ext uri="{BB962C8B-B14F-4D97-AF65-F5344CB8AC3E}">
        <p14:creationId xmlns:p14="http://schemas.microsoft.com/office/powerpoint/2010/main" val="116217869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B505A19-98AC-44FD-8038-FD48E9E60236}" type="slidenum">
              <a:rPr lang="en-US" smtClean="0"/>
              <a:t>64</a:t>
            </a:fld>
            <a:endParaRPr lang="en-US"/>
          </a:p>
        </p:txBody>
      </p:sp>
    </p:spTree>
    <p:extLst>
      <p:ext uri="{BB962C8B-B14F-4D97-AF65-F5344CB8AC3E}">
        <p14:creationId xmlns:p14="http://schemas.microsoft.com/office/powerpoint/2010/main" val="98678598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B505A19-98AC-44FD-8038-FD48E9E60236}" type="slidenum">
              <a:rPr lang="en-US" smtClean="0"/>
              <a:t>65</a:t>
            </a:fld>
            <a:endParaRPr lang="en-US"/>
          </a:p>
        </p:txBody>
      </p:sp>
    </p:spTree>
    <p:extLst>
      <p:ext uri="{BB962C8B-B14F-4D97-AF65-F5344CB8AC3E}">
        <p14:creationId xmlns:p14="http://schemas.microsoft.com/office/powerpoint/2010/main" val="156140128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B505A19-98AC-44FD-8038-FD48E9E60236}" type="slidenum">
              <a:rPr lang="en-US" smtClean="0"/>
              <a:t>66</a:t>
            </a:fld>
            <a:endParaRPr lang="en-US"/>
          </a:p>
        </p:txBody>
      </p:sp>
    </p:spTree>
    <p:extLst>
      <p:ext uri="{BB962C8B-B14F-4D97-AF65-F5344CB8AC3E}">
        <p14:creationId xmlns:p14="http://schemas.microsoft.com/office/powerpoint/2010/main" val="241926152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B505A19-98AC-44FD-8038-FD48E9E60236}" type="slidenum">
              <a:rPr lang="en-US" smtClean="0"/>
              <a:t>67</a:t>
            </a:fld>
            <a:endParaRPr lang="en-US"/>
          </a:p>
        </p:txBody>
      </p:sp>
    </p:spTree>
    <p:extLst>
      <p:ext uri="{BB962C8B-B14F-4D97-AF65-F5344CB8AC3E}">
        <p14:creationId xmlns:p14="http://schemas.microsoft.com/office/powerpoint/2010/main" val="252202086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Shape 227"/>
          <p:cNvSpPr txBox="1">
            <a:spLocks noGrp="1"/>
          </p:cNvSpPr>
          <p:nvPr>
            <p:ph type="body" idx="1"/>
          </p:nvPr>
        </p:nvSpPr>
        <p:spPr>
          <a:xfrm>
            <a:off x="701040" y="4387136"/>
            <a:ext cx="5608320" cy="4156234"/>
          </a:xfrm>
          <a:prstGeom prst="rect">
            <a:avLst/>
          </a:prstGeom>
        </p:spPr>
        <p:txBody>
          <a:bodyPr spcFirstLastPara="1" wrap="square" lIns="92815" tIns="92815" rIns="92815" bIns="92815" anchor="t" anchorCtr="0">
            <a:noAutofit/>
          </a:bodyPr>
          <a:lstStyle/>
          <a:p>
            <a:endParaRPr/>
          </a:p>
        </p:txBody>
      </p:sp>
      <p:sp>
        <p:nvSpPr>
          <p:cNvPr id="228" name="Shape 228"/>
          <p:cNvSpPr>
            <a:spLocks noGrp="1" noRot="1" noChangeAspect="1"/>
          </p:cNvSpPr>
          <p:nvPr>
            <p:ph type="sldImg" idx="2"/>
          </p:nvPr>
        </p:nvSpPr>
        <p:spPr>
          <a:xfrm>
            <a:off x="425450" y="692150"/>
            <a:ext cx="6159500" cy="3463925"/>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945058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Shape 227"/>
          <p:cNvSpPr txBox="1">
            <a:spLocks noGrp="1"/>
          </p:cNvSpPr>
          <p:nvPr>
            <p:ph type="body" idx="1"/>
          </p:nvPr>
        </p:nvSpPr>
        <p:spPr>
          <a:xfrm>
            <a:off x="701040" y="4387136"/>
            <a:ext cx="5608320" cy="4156234"/>
          </a:xfrm>
          <a:prstGeom prst="rect">
            <a:avLst/>
          </a:prstGeom>
        </p:spPr>
        <p:txBody>
          <a:bodyPr spcFirstLastPara="1" wrap="square" lIns="92815" tIns="92815" rIns="92815" bIns="92815" anchor="t" anchorCtr="0">
            <a:noAutofit/>
          </a:bodyPr>
          <a:lstStyle/>
          <a:p>
            <a:endParaRPr/>
          </a:p>
        </p:txBody>
      </p:sp>
      <p:sp>
        <p:nvSpPr>
          <p:cNvPr id="228" name="Shape 228"/>
          <p:cNvSpPr>
            <a:spLocks noGrp="1" noRot="1" noChangeAspect="1"/>
          </p:cNvSpPr>
          <p:nvPr>
            <p:ph type="sldImg" idx="2"/>
          </p:nvPr>
        </p:nvSpPr>
        <p:spPr>
          <a:xfrm>
            <a:off x="425450" y="692150"/>
            <a:ext cx="6159500" cy="3463925"/>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30965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Shape 227"/>
          <p:cNvSpPr txBox="1">
            <a:spLocks noGrp="1"/>
          </p:cNvSpPr>
          <p:nvPr>
            <p:ph type="body" idx="1"/>
          </p:nvPr>
        </p:nvSpPr>
        <p:spPr>
          <a:xfrm>
            <a:off x="701040" y="4387136"/>
            <a:ext cx="5608320" cy="4156234"/>
          </a:xfrm>
          <a:prstGeom prst="rect">
            <a:avLst/>
          </a:prstGeom>
        </p:spPr>
        <p:txBody>
          <a:bodyPr spcFirstLastPara="1" wrap="square" lIns="92815" tIns="92815" rIns="92815" bIns="92815" anchor="t" anchorCtr="0">
            <a:noAutofit/>
          </a:bodyPr>
          <a:lstStyle/>
          <a:p>
            <a:endParaRPr dirty="0"/>
          </a:p>
        </p:txBody>
      </p:sp>
      <p:sp>
        <p:nvSpPr>
          <p:cNvPr id="228" name="Shape 228"/>
          <p:cNvSpPr>
            <a:spLocks noGrp="1" noRot="1" noChangeAspect="1"/>
          </p:cNvSpPr>
          <p:nvPr>
            <p:ph type="sldImg" idx="2"/>
          </p:nvPr>
        </p:nvSpPr>
        <p:spPr>
          <a:xfrm>
            <a:off x="425450" y="692150"/>
            <a:ext cx="6159500" cy="3463925"/>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642013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944A884-8330-4424-8596-6869DDFD9859}"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CDF15A-D3C8-43E3-9E76-2933C71B96D5}" type="slidenum">
              <a:rPr lang="en-US" smtClean="0"/>
              <a:t>‹#›</a:t>
            </a:fld>
            <a:endParaRPr lang="en-US"/>
          </a:p>
        </p:txBody>
      </p:sp>
    </p:spTree>
    <p:extLst>
      <p:ext uri="{BB962C8B-B14F-4D97-AF65-F5344CB8AC3E}">
        <p14:creationId xmlns:p14="http://schemas.microsoft.com/office/powerpoint/2010/main" val="415159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44A884-8330-4424-8596-6869DDFD9859}"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CDF15A-D3C8-43E3-9E76-2933C71B96D5}" type="slidenum">
              <a:rPr lang="en-US" smtClean="0"/>
              <a:t>‹#›</a:t>
            </a:fld>
            <a:endParaRPr lang="en-US"/>
          </a:p>
        </p:txBody>
      </p:sp>
    </p:spTree>
    <p:extLst>
      <p:ext uri="{BB962C8B-B14F-4D97-AF65-F5344CB8AC3E}">
        <p14:creationId xmlns:p14="http://schemas.microsoft.com/office/powerpoint/2010/main" val="1725378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944A884-8330-4424-8596-6869DDFD9859}"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CDF15A-D3C8-43E3-9E76-2933C71B96D5}" type="slidenum">
              <a:rPr lang="en-US" smtClean="0"/>
              <a:t>‹#›</a:t>
            </a:fld>
            <a:endParaRPr lang="en-US"/>
          </a:p>
        </p:txBody>
      </p:sp>
    </p:spTree>
    <p:extLst>
      <p:ext uri="{BB962C8B-B14F-4D97-AF65-F5344CB8AC3E}">
        <p14:creationId xmlns:p14="http://schemas.microsoft.com/office/powerpoint/2010/main" val="1422365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944A884-8330-4424-8596-6869DDFD9859}"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CDF15A-D3C8-43E3-9E76-2933C71B96D5}" type="slidenum">
              <a:rPr lang="en-US" smtClean="0"/>
              <a:t>‹#›</a:t>
            </a:fld>
            <a:endParaRPr lang="en-US"/>
          </a:p>
        </p:txBody>
      </p:sp>
    </p:spTree>
    <p:extLst>
      <p:ext uri="{BB962C8B-B14F-4D97-AF65-F5344CB8AC3E}">
        <p14:creationId xmlns:p14="http://schemas.microsoft.com/office/powerpoint/2010/main" val="3188398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44A884-8330-4424-8596-6869DDFD9859}"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1CDF15A-D3C8-43E3-9E76-2933C71B96D5}" type="slidenum">
              <a:rPr lang="en-US" smtClean="0"/>
              <a:t>‹#›</a:t>
            </a:fld>
            <a:endParaRPr lang="en-US"/>
          </a:p>
        </p:txBody>
      </p:sp>
    </p:spTree>
    <p:extLst>
      <p:ext uri="{BB962C8B-B14F-4D97-AF65-F5344CB8AC3E}">
        <p14:creationId xmlns:p14="http://schemas.microsoft.com/office/powerpoint/2010/main" val="4147454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944A884-8330-4424-8596-6869DDFD9859}"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1CDF15A-D3C8-43E3-9E76-2933C71B96D5}" type="slidenum">
              <a:rPr lang="en-US" smtClean="0"/>
              <a:t>‹#›</a:t>
            </a:fld>
            <a:endParaRPr lang="en-US"/>
          </a:p>
        </p:txBody>
      </p:sp>
    </p:spTree>
    <p:extLst>
      <p:ext uri="{BB962C8B-B14F-4D97-AF65-F5344CB8AC3E}">
        <p14:creationId xmlns:p14="http://schemas.microsoft.com/office/powerpoint/2010/main" val="4095872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44A884-8330-4424-8596-6869DDFD9859}"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1CDF15A-D3C8-43E3-9E76-2933C71B96D5}" type="slidenum">
              <a:rPr lang="en-US" smtClean="0"/>
              <a:t>‹#›</a:t>
            </a:fld>
            <a:endParaRPr lang="en-US"/>
          </a:p>
        </p:txBody>
      </p:sp>
    </p:spTree>
    <p:extLst>
      <p:ext uri="{BB962C8B-B14F-4D97-AF65-F5344CB8AC3E}">
        <p14:creationId xmlns:p14="http://schemas.microsoft.com/office/powerpoint/2010/main" val="115912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944A884-8330-4424-8596-6869DDFD9859}"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CDF15A-D3C8-43E3-9E76-2933C71B96D5}" type="slidenum">
              <a:rPr lang="en-US" smtClean="0"/>
              <a:t>‹#›</a:t>
            </a:fld>
            <a:endParaRPr lang="en-US"/>
          </a:p>
        </p:txBody>
      </p:sp>
    </p:spTree>
    <p:extLst>
      <p:ext uri="{BB962C8B-B14F-4D97-AF65-F5344CB8AC3E}">
        <p14:creationId xmlns:p14="http://schemas.microsoft.com/office/powerpoint/2010/main" val="1251183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944A884-8330-4424-8596-6869DDFD9859}"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CDF15A-D3C8-43E3-9E76-2933C71B96D5}" type="slidenum">
              <a:rPr lang="en-US" smtClean="0"/>
              <a:t>‹#›</a:t>
            </a:fld>
            <a:endParaRPr lang="en-US"/>
          </a:p>
        </p:txBody>
      </p:sp>
    </p:spTree>
    <p:extLst>
      <p:ext uri="{BB962C8B-B14F-4D97-AF65-F5344CB8AC3E}">
        <p14:creationId xmlns:p14="http://schemas.microsoft.com/office/powerpoint/2010/main" val="1683778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44A884-8330-4424-8596-6869DDFD9859}"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CDF15A-D3C8-43E3-9E76-2933C71B96D5}" type="slidenum">
              <a:rPr lang="en-US" smtClean="0"/>
              <a:t>‹#›</a:t>
            </a:fld>
            <a:endParaRPr lang="en-US"/>
          </a:p>
        </p:txBody>
      </p:sp>
    </p:spTree>
    <p:extLst>
      <p:ext uri="{BB962C8B-B14F-4D97-AF65-F5344CB8AC3E}">
        <p14:creationId xmlns:p14="http://schemas.microsoft.com/office/powerpoint/2010/main" val="2815845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44A884-8330-4424-8596-6869DDFD9859}"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CDF15A-D3C8-43E3-9E76-2933C71B96D5}" type="slidenum">
              <a:rPr lang="en-US" smtClean="0"/>
              <a:t>‹#›</a:t>
            </a:fld>
            <a:endParaRPr lang="en-US"/>
          </a:p>
        </p:txBody>
      </p:sp>
    </p:spTree>
    <p:extLst>
      <p:ext uri="{BB962C8B-B14F-4D97-AF65-F5344CB8AC3E}">
        <p14:creationId xmlns:p14="http://schemas.microsoft.com/office/powerpoint/2010/main" val="3744263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44A884-8330-4424-8596-6869DDFD9859}" type="datetimeFigureOut">
              <a:rPr lang="en-US" smtClean="0"/>
              <a:t>10/6/2026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CDF15A-D3C8-43E3-9E76-2933C71B96D5}" type="slidenum">
              <a:rPr lang="en-US" smtClean="0"/>
              <a:t>‹#›</a:t>
            </a:fld>
            <a:endParaRPr lang="en-US"/>
          </a:p>
        </p:txBody>
      </p:sp>
    </p:spTree>
    <p:extLst>
      <p:ext uri="{BB962C8B-B14F-4D97-AF65-F5344CB8AC3E}">
        <p14:creationId xmlns:p14="http://schemas.microsoft.com/office/powerpoint/2010/main" val="27472314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3.png"/><Relationship Id="rId5" Type="http://schemas.microsoft.com/office/2007/relationships/hdphoto" Target="../media/hdphoto1.wdp"/><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8.JP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9.JP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1.jpeg"/><Relationship Id="rId4" Type="http://schemas.openxmlformats.org/officeDocument/2006/relationships/image" Target="../media/image30.jpe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6.pn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44.png"/><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49.png"/></Relationships>
</file>

<file path=ppt/slides/_rels/slide3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jp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54.png"/><Relationship Id="rId4" Type="http://schemas.openxmlformats.org/officeDocument/2006/relationships/image" Target="../media/image53.png"/></Relationships>
</file>

<file path=ppt/slides/_rels/slide3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68.pn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png"/></Relationships>
</file>

<file path=ppt/slides/_rels/slide46.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81.jpg"/><Relationship Id="rId2" Type="http://schemas.openxmlformats.org/officeDocument/2006/relationships/image" Target="../media/image80.jpg"/><Relationship Id="rId1" Type="http://schemas.openxmlformats.org/officeDocument/2006/relationships/slideLayout" Target="../slideLayouts/slideLayout1.xml"/><Relationship Id="rId4" Type="http://schemas.openxmlformats.org/officeDocument/2006/relationships/image" Target="../media/image82.bin"/></Relationships>
</file>

<file path=ppt/slides/_rels/slide5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 Id="rId4" Type="http://schemas.openxmlformats.org/officeDocument/2006/relationships/image" Target="../media/image87.png"/></Relationships>
</file>

<file path=ppt/slides/_rels/slide54.xml.rels><?xml version="1.0" encoding="UTF-8" standalone="yes"?>
<Relationships xmlns="http://schemas.openxmlformats.org/package/2006/relationships"><Relationship Id="rId3" Type="http://schemas.openxmlformats.org/officeDocument/2006/relationships/image" Target="../media/image88.emf"/><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86.png"/></Relationships>
</file>

<file path=ppt/slides/_rels/slide6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97.png"/></Relationships>
</file>

<file path=ppt/slides/_rels/slide64.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98.png"/></Relationships>
</file>

<file path=ppt/slides/_rels/slide65.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99.png"/></Relationships>
</file>

<file path=ppt/slides/_rels/slide66.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image" Target="../media/image100.png"/></Relationships>
</file>

<file path=ppt/slides/_rels/slide67.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101.png"/></Relationships>
</file>

<file path=ppt/slides/_rels/slide68.xml.rels><?xml version="1.0" encoding="UTF-8" standalone="yes"?>
<Relationships xmlns="http://schemas.openxmlformats.org/package/2006/relationships"><Relationship Id="rId2" Type="http://schemas.openxmlformats.org/officeDocument/2006/relationships/image" Target="../media/image102.emf"/><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103.emf"/><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104.emf"/><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105.emf"/><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106.emf"/><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107.emf"/><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109.jpg"/><Relationship Id="rId4" Type="http://schemas.openxmlformats.org/officeDocument/2006/relationships/image" Target="../media/image108.jpg"/></Relationships>
</file>

<file path=ppt/slides/_rels/slide7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110.jpg"/></Relationships>
</file>

<file path=ppt/slides/_rels/slide7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extBox 55">
            <a:extLst>
              <a:ext uri="{FF2B5EF4-FFF2-40B4-BE49-F238E27FC236}">
                <a16:creationId xmlns:a16="http://schemas.microsoft.com/office/drawing/2014/main" id="{96A26AE6-E88F-42C9-902C-E5D1BE160445}"/>
              </a:ext>
            </a:extLst>
          </p:cNvPr>
          <p:cNvSpPr txBox="1"/>
          <p:nvPr/>
        </p:nvSpPr>
        <p:spPr>
          <a:xfrm>
            <a:off x="621792" y="224682"/>
            <a:ext cx="5653605" cy="6093976"/>
          </a:xfrm>
          <a:prstGeom prst="rect">
            <a:avLst/>
          </a:prstGeom>
          <a:noFill/>
        </p:spPr>
        <p:txBody>
          <a:bodyPr wrap="square" rtlCol="0">
            <a:spAutoFit/>
          </a:bodyPr>
          <a:lstStyle/>
          <a:p>
            <a:r>
              <a:rPr lang="en-US" sz="3000" i="1" dirty="0">
                <a:solidFill>
                  <a:schemeClr val="bg2">
                    <a:lumMod val="50000"/>
                  </a:schemeClr>
                </a:solidFill>
              </a:rPr>
              <a:t>1896—Plessy v. Ferguson</a:t>
            </a:r>
          </a:p>
          <a:p>
            <a:endParaRPr lang="en-US" sz="3000" i="1" dirty="0">
              <a:solidFill>
                <a:schemeClr val="bg2">
                  <a:lumMod val="50000"/>
                </a:schemeClr>
              </a:solidFill>
            </a:endParaRPr>
          </a:p>
          <a:p>
            <a:r>
              <a:rPr lang="en-US" sz="3000" dirty="0">
                <a:solidFill>
                  <a:schemeClr val="bg2">
                    <a:lumMod val="50000"/>
                  </a:schemeClr>
                </a:solidFill>
              </a:rPr>
              <a:t>The Supreme Court examined the constitutionality of Louisiana laws (1890, the state adopted its Separate Car Act) that provided for the segregation of railroad car seating by race. The court upheld the "white section" and "colored section" Jim Crow seating law, contending that segregation did not violate any rights guaranteed by the Constitution. </a:t>
            </a:r>
          </a:p>
        </p:txBody>
      </p:sp>
      <p:pic>
        <p:nvPicPr>
          <p:cNvPr id="3" name="Picture 2">
            <a:extLst>
              <a:ext uri="{FF2B5EF4-FFF2-40B4-BE49-F238E27FC236}">
                <a16:creationId xmlns:a16="http://schemas.microsoft.com/office/drawing/2014/main" id="{72B306E9-67D6-40AB-9175-4D194325D8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6143" y="1334588"/>
            <a:ext cx="5268686" cy="321389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538875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extBox 55">
            <a:extLst>
              <a:ext uri="{FF2B5EF4-FFF2-40B4-BE49-F238E27FC236}">
                <a16:creationId xmlns:a16="http://schemas.microsoft.com/office/drawing/2014/main" id="{96A26AE6-E88F-42C9-902C-E5D1BE160445}"/>
              </a:ext>
            </a:extLst>
          </p:cNvPr>
          <p:cNvSpPr txBox="1"/>
          <p:nvPr/>
        </p:nvSpPr>
        <p:spPr>
          <a:xfrm>
            <a:off x="621792" y="224682"/>
            <a:ext cx="5653605" cy="6555641"/>
          </a:xfrm>
          <a:prstGeom prst="rect">
            <a:avLst/>
          </a:prstGeom>
          <a:noFill/>
        </p:spPr>
        <p:txBody>
          <a:bodyPr wrap="square" rtlCol="0">
            <a:spAutoFit/>
          </a:bodyPr>
          <a:lstStyle/>
          <a:p>
            <a:r>
              <a:rPr lang="en-US" sz="3000" i="1" dirty="0">
                <a:solidFill>
                  <a:schemeClr val="bg2">
                    <a:lumMod val="50000"/>
                  </a:schemeClr>
                </a:solidFill>
              </a:rPr>
              <a:t>1953—Baton Rouge Bus Boycott</a:t>
            </a:r>
          </a:p>
          <a:p>
            <a:endParaRPr lang="en-US" sz="3000" i="1" dirty="0">
              <a:solidFill>
                <a:schemeClr val="bg2">
                  <a:lumMod val="50000"/>
                </a:schemeClr>
              </a:solidFill>
            </a:endParaRPr>
          </a:p>
          <a:p>
            <a:r>
              <a:rPr lang="en-US" sz="3000" dirty="0">
                <a:solidFill>
                  <a:schemeClr val="bg2">
                    <a:lumMod val="50000"/>
                  </a:schemeClr>
                </a:solidFill>
              </a:rPr>
              <a:t>African Americans in Baton Rouge, the capital of Louisiana, staged the nation's first successful bus boycott. African Americans accounted for the overwhelming majority of Baton Rouge bus riders and two-thirds of the bus company's revenue. Their economic boycott effectively disrupted the financial stability of the bus company, costing it over $1,600 a day.</a:t>
            </a:r>
          </a:p>
        </p:txBody>
      </p:sp>
      <p:pic>
        <p:nvPicPr>
          <p:cNvPr id="13314" name="Picture 2" descr="https://s3.amazonaws.com/cdn.blackpast.org/wp-content/uploads/20190127011518/Baton_Rouge_Bus_Boycott.jpg">
            <a:extLst>
              <a:ext uri="{FF2B5EF4-FFF2-40B4-BE49-F238E27FC236}">
                <a16:creationId xmlns:a16="http://schemas.microsoft.com/office/drawing/2014/main" id="{8CC63662-28E6-4B38-8D56-FFAC055FCD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5877" y="1273083"/>
            <a:ext cx="5227929" cy="347134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26022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3E65E-BF62-6312-0D13-B06BC6D3C0A1}"/>
            </a:ext>
          </a:extLst>
        </p:cNvPr>
        <p:cNvGrpSpPr/>
        <p:nvPr/>
      </p:nvGrpSpPr>
      <p:grpSpPr>
        <a:xfrm>
          <a:off x="0" y="0"/>
          <a:ext cx="0" cy="0"/>
          <a:chOff x="0" y="0"/>
          <a:chExt cx="0" cy="0"/>
        </a:xfrm>
      </p:grpSpPr>
      <p:grpSp>
        <p:nvGrpSpPr>
          <p:cNvPr id="26" name="Group 25">
            <a:extLst>
              <a:ext uri="{FF2B5EF4-FFF2-40B4-BE49-F238E27FC236}">
                <a16:creationId xmlns:a16="http://schemas.microsoft.com/office/drawing/2014/main" id="{C34E4EE3-6209-7EFE-9266-879236173E63}"/>
              </a:ext>
            </a:extLst>
          </p:cNvPr>
          <p:cNvGrpSpPr/>
          <p:nvPr/>
        </p:nvGrpSpPr>
        <p:grpSpPr>
          <a:xfrm>
            <a:off x="640302" y="-6531"/>
            <a:ext cx="10911396" cy="6859970"/>
            <a:chOff x="462115" y="-6531"/>
            <a:chExt cx="10911396" cy="6859970"/>
          </a:xfrm>
        </p:grpSpPr>
        <p:pic>
          <p:nvPicPr>
            <p:cNvPr id="11" name="Picture 10">
              <a:extLst>
                <a:ext uri="{FF2B5EF4-FFF2-40B4-BE49-F238E27FC236}">
                  <a16:creationId xmlns:a16="http://schemas.microsoft.com/office/drawing/2014/main" id="{E31C4261-E0DE-04D5-2205-7120C023B65A}"/>
                </a:ext>
              </a:extLst>
            </p:cNvPr>
            <p:cNvPicPr>
              <a:picLocks noChangeAspect="1"/>
            </p:cNvPicPr>
            <p:nvPr/>
          </p:nvPicPr>
          <p:blipFill>
            <a:blip r:embed="rId2"/>
            <a:stretch>
              <a:fillRect/>
            </a:stretch>
          </p:blipFill>
          <p:spPr>
            <a:xfrm>
              <a:off x="463964" y="2280"/>
              <a:ext cx="2675659" cy="3429000"/>
            </a:xfrm>
            <a:prstGeom prst="rect">
              <a:avLst/>
            </a:prstGeom>
          </p:spPr>
        </p:pic>
        <p:pic>
          <p:nvPicPr>
            <p:cNvPr id="3" name="Picture 2">
              <a:extLst>
                <a:ext uri="{FF2B5EF4-FFF2-40B4-BE49-F238E27FC236}">
                  <a16:creationId xmlns:a16="http://schemas.microsoft.com/office/drawing/2014/main" id="{6738A250-4DC8-E47B-4116-56C086A048BD}"/>
                </a:ext>
              </a:extLst>
            </p:cNvPr>
            <p:cNvPicPr>
              <a:picLocks noChangeAspect="1"/>
            </p:cNvPicPr>
            <p:nvPr/>
          </p:nvPicPr>
          <p:blipFill>
            <a:blip r:embed="rId3"/>
            <a:stretch>
              <a:fillRect/>
            </a:stretch>
          </p:blipFill>
          <p:spPr>
            <a:xfrm>
              <a:off x="5590569" y="3409407"/>
              <a:ext cx="2924122" cy="3430970"/>
            </a:xfrm>
            <a:prstGeom prst="rect">
              <a:avLst/>
            </a:prstGeom>
          </p:spPr>
        </p:pic>
        <p:pic>
          <p:nvPicPr>
            <p:cNvPr id="7" name="Picture 6">
              <a:extLst>
                <a:ext uri="{FF2B5EF4-FFF2-40B4-BE49-F238E27FC236}">
                  <a16:creationId xmlns:a16="http://schemas.microsoft.com/office/drawing/2014/main" id="{221A6A2C-6E58-B353-500E-F0DD657F2BDB}"/>
                </a:ext>
              </a:extLst>
            </p:cNvPr>
            <p:cNvPicPr>
              <a:picLocks noChangeAspect="1"/>
            </p:cNvPicPr>
            <p:nvPr/>
          </p:nvPicPr>
          <p:blipFill>
            <a:blip r:embed="rId4"/>
            <a:stretch>
              <a:fillRect/>
            </a:stretch>
          </p:blipFill>
          <p:spPr>
            <a:xfrm>
              <a:off x="8449659" y="3422469"/>
              <a:ext cx="2896764" cy="3429000"/>
            </a:xfrm>
            <a:prstGeom prst="rect">
              <a:avLst/>
            </a:prstGeom>
          </p:spPr>
        </p:pic>
        <p:pic>
          <p:nvPicPr>
            <p:cNvPr id="19" name="Picture 18">
              <a:extLst>
                <a:ext uri="{FF2B5EF4-FFF2-40B4-BE49-F238E27FC236}">
                  <a16:creationId xmlns:a16="http://schemas.microsoft.com/office/drawing/2014/main" id="{AAE9B818-1A84-AD46-1F87-B5144E64205B}"/>
                </a:ext>
              </a:extLst>
            </p:cNvPr>
            <p:cNvPicPr>
              <a:picLocks noChangeAspect="1"/>
            </p:cNvPicPr>
            <p:nvPr/>
          </p:nvPicPr>
          <p:blipFill>
            <a:blip r:embed="rId5"/>
            <a:stretch>
              <a:fillRect/>
            </a:stretch>
          </p:blipFill>
          <p:spPr>
            <a:xfrm>
              <a:off x="2960120" y="3422469"/>
              <a:ext cx="2638027" cy="3429000"/>
            </a:xfrm>
            <a:prstGeom prst="rect">
              <a:avLst/>
            </a:prstGeom>
          </p:spPr>
        </p:pic>
        <p:pic>
          <p:nvPicPr>
            <p:cNvPr id="21" name="Picture 20">
              <a:extLst>
                <a:ext uri="{FF2B5EF4-FFF2-40B4-BE49-F238E27FC236}">
                  <a16:creationId xmlns:a16="http://schemas.microsoft.com/office/drawing/2014/main" id="{484D2458-6769-455E-5011-2E676F6E7B0A}"/>
                </a:ext>
              </a:extLst>
            </p:cNvPr>
            <p:cNvPicPr>
              <a:picLocks noChangeAspect="1"/>
            </p:cNvPicPr>
            <p:nvPr/>
          </p:nvPicPr>
          <p:blipFill>
            <a:blip r:embed="rId6"/>
            <a:stretch>
              <a:fillRect/>
            </a:stretch>
          </p:blipFill>
          <p:spPr>
            <a:xfrm>
              <a:off x="8422571" y="4561"/>
              <a:ext cx="2950940" cy="3429000"/>
            </a:xfrm>
            <a:prstGeom prst="rect">
              <a:avLst/>
            </a:prstGeom>
          </p:spPr>
        </p:pic>
        <p:pic>
          <p:nvPicPr>
            <p:cNvPr id="23" name="Picture 22">
              <a:extLst>
                <a:ext uri="{FF2B5EF4-FFF2-40B4-BE49-F238E27FC236}">
                  <a16:creationId xmlns:a16="http://schemas.microsoft.com/office/drawing/2014/main" id="{C7D6EBFF-81C1-5F94-8983-2E73D8FE82F3}"/>
                </a:ext>
              </a:extLst>
            </p:cNvPr>
            <p:cNvPicPr>
              <a:picLocks noChangeAspect="1"/>
            </p:cNvPicPr>
            <p:nvPr/>
          </p:nvPicPr>
          <p:blipFill>
            <a:blip r:embed="rId7"/>
            <a:stretch>
              <a:fillRect/>
            </a:stretch>
          </p:blipFill>
          <p:spPr>
            <a:xfrm>
              <a:off x="5570905" y="-6531"/>
              <a:ext cx="2869075" cy="3429000"/>
            </a:xfrm>
            <a:prstGeom prst="rect">
              <a:avLst/>
            </a:prstGeom>
          </p:spPr>
        </p:pic>
        <p:pic>
          <p:nvPicPr>
            <p:cNvPr id="9" name="Picture 8">
              <a:extLst>
                <a:ext uri="{FF2B5EF4-FFF2-40B4-BE49-F238E27FC236}">
                  <a16:creationId xmlns:a16="http://schemas.microsoft.com/office/drawing/2014/main" id="{DA49DD86-72A6-8E01-5D32-6337A2EEC88D}"/>
                </a:ext>
              </a:extLst>
            </p:cNvPr>
            <p:cNvPicPr>
              <a:picLocks noChangeAspect="1"/>
            </p:cNvPicPr>
            <p:nvPr/>
          </p:nvPicPr>
          <p:blipFill>
            <a:blip r:embed="rId8"/>
            <a:stretch>
              <a:fillRect/>
            </a:stretch>
          </p:blipFill>
          <p:spPr>
            <a:xfrm>
              <a:off x="3038776" y="-5271"/>
              <a:ext cx="2543373" cy="3424439"/>
            </a:xfrm>
            <a:prstGeom prst="rect">
              <a:avLst/>
            </a:prstGeom>
          </p:spPr>
        </p:pic>
        <p:pic>
          <p:nvPicPr>
            <p:cNvPr id="13" name="Picture 12">
              <a:extLst>
                <a:ext uri="{FF2B5EF4-FFF2-40B4-BE49-F238E27FC236}">
                  <a16:creationId xmlns:a16="http://schemas.microsoft.com/office/drawing/2014/main" id="{F6D090CF-91B1-03C5-CEE7-0C684839C045}"/>
                </a:ext>
              </a:extLst>
            </p:cNvPr>
            <p:cNvPicPr>
              <a:picLocks noChangeAspect="1"/>
            </p:cNvPicPr>
            <p:nvPr/>
          </p:nvPicPr>
          <p:blipFill>
            <a:blip r:embed="rId9"/>
            <a:stretch>
              <a:fillRect/>
            </a:stretch>
          </p:blipFill>
          <p:spPr>
            <a:xfrm>
              <a:off x="462115" y="3424439"/>
              <a:ext cx="2579375" cy="3429000"/>
            </a:xfrm>
            <a:prstGeom prst="rect">
              <a:avLst/>
            </a:prstGeom>
          </p:spPr>
        </p:pic>
      </p:grpSp>
    </p:spTree>
    <p:extLst>
      <p:ext uri="{BB962C8B-B14F-4D97-AF65-F5344CB8AC3E}">
        <p14:creationId xmlns:p14="http://schemas.microsoft.com/office/powerpoint/2010/main" val="17383430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5E85B-36AC-3829-5DE4-C3ECEA96F582}"/>
            </a:ext>
          </a:extLst>
        </p:cNvPr>
        <p:cNvGrpSpPr/>
        <p:nvPr/>
      </p:nvGrpSpPr>
      <p:grpSpPr>
        <a:xfrm>
          <a:off x="0" y="0"/>
          <a:ext cx="0" cy="0"/>
          <a:chOff x="0" y="0"/>
          <a:chExt cx="0" cy="0"/>
        </a:xfrm>
      </p:grpSpPr>
      <p:pic>
        <p:nvPicPr>
          <p:cNvPr id="5" name="Shape 234">
            <a:extLst>
              <a:ext uri="{FF2B5EF4-FFF2-40B4-BE49-F238E27FC236}">
                <a16:creationId xmlns:a16="http://schemas.microsoft.com/office/drawing/2014/main" id="{6F8B32F7-AEB3-98D6-BF81-DAC22A7279C9}"/>
              </a:ext>
            </a:extLst>
          </p:cNvPr>
          <p:cNvPicPr preferRelativeResize="0"/>
          <p:nvPr/>
        </p:nvPicPr>
        <p:blipFill rotWithShape="1">
          <a:blip r:embed="rId3">
            <a:alphaModFix/>
          </a:blip>
          <a:srcRect l="66233" t="12309" r="25650" b="46658"/>
          <a:stretch/>
        </p:blipFill>
        <p:spPr>
          <a:xfrm>
            <a:off x="0" y="1"/>
            <a:ext cx="12192000" cy="723900"/>
          </a:xfrm>
          <a:prstGeom prst="rect">
            <a:avLst/>
          </a:prstGeom>
          <a:solidFill>
            <a:srgbClr val="194852"/>
          </a:solidFill>
          <a:ln>
            <a:noFill/>
          </a:ln>
        </p:spPr>
      </p:pic>
      <p:sp>
        <p:nvSpPr>
          <p:cNvPr id="6" name="TextBox 5">
            <a:extLst>
              <a:ext uri="{FF2B5EF4-FFF2-40B4-BE49-F238E27FC236}">
                <a16:creationId xmlns:a16="http://schemas.microsoft.com/office/drawing/2014/main" id="{0EF3E33C-33BF-247A-8AF2-3DCDF7FB65D8}"/>
              </a:ext>
            </a:extLst>
          </p:cNvPr>
          <p:cNvSpPr txBox="1"/>
          <p:nvPr/>
        </p:nvSpPr>
        <p:spPr>
          <a:xfrm>
            <a:off x="0" y="48110"/>
            <a:ext cx="12191999" cy="584775"/>
          </a:xfrm>
          <a:prstGeom prst="rect">
            <a:avLst/>
          </a:prstGeom>
          <a:noFill/>
        </p:spPr>
        <p:txBody>
          <a:bodyPr wrap="square" rtlCol="0">
            <a:spAutoFit/>
          </a:bodyPr>
          <a:lstStyle/>
          <a:p>
            <a:r>
              <a:rPr lang="en-US" sz="3200" dirty="0" err="1">
                <a:solidFill>
                  <a:schemeClr val="bg1"/>
                </a:solidFill>
                <a:latin typeface="Franklin Gothic Demi Cond" panose="020B0706030402020204" pitchFamily="34" charset="0"/>
              </a:rPr>
              <a:t>SeatGeek</a:t>
            </a:r>
            <a:r>
              <a:rPr lang="en-US" sz="3200" dirty="0">
                <a:solidFill>
                  <a:schemeClr val="bg1"/>
                </a:solidFill>
                <a:latin typeface="Franklin Gothic Demi Cond" panose="020B0706030402020204" pitchFamily="34" charset="0"/>
              </a:rPr>
              <a:t> Stadium, Bridgeview Transit Center</a:t>
            </a:r>
          </a:p>
        </p:txBody>
      </p:sp>
      <p:pic>
        <p:nvPicPr>
          <p:cNvPr id="2" name="Picture 1">
            <a:extLst>
              <a:ext uri="{FF2B5EF4-FFF2-40B4-BE49-F238E27FC236}">
                <a16:creationId xmlns:a16="http://schemas.microsoft.com/office/drawing/2014/main" id="{60FAE126-2F15-704E-89E0-2BF945228F61}"/>
              </a:ext>
            </a:extLst>
          </p:cNvPr>
          <p:cNvPicPr>
            <a:picLocks noChangeAspect="1"/>
          </p:cNvPicPr>
          <p:nvPr/>
        </p:nvPicPr>
        <p:blipFill rotWithShape="1">
          <a:blip r:embed="rId4">
            <a:extLst>
              <a:ext uri="{28A0092B-C50C-407E-A947-70E740481C1C}">
                <a14:useLocalDpi xmlns:a14="http://schemas.microsoft.com/office/drawing/2010/main" val="0"/>
              </a:ext>
            </a:extLst>
          </a:blip>
          <a:srcRect t="5556" b="5556"/>
          <a:stretch/>
        </p:blipFill>
        <p:spPr>
          <a:xfrm>
            <a:off x="340894" y="1032459"/>
            <a:ext cx="8229600" cy="5486400"/>
          </a:xfrm>
          <a:prstGeom prst="rect">
            <a:avLst/>
          </a:prstGeom>
        </p:spPr>
      </p:pic>
      <p:sp>
        <p:nvSpPr>
          <p:cNvPr id="7" name="Rectangle 6">
            <a:extLst>
              <a:ext uri="{FF2B5EF4-FFF2-40B4-BE49-F238E27FC236}">
                <a16:creationId xmlns:a16="http://schemas.microsoft.com/office/drawing/2014/main" id="{105D321E-DF0E-74D0-B3A0-B73C8B5E7F5D}"/>
              </a:ext>
            </a:extLst>
          </p:cNvPr>
          <p:cNvSpPr/>
          <p:nvPr/>
        </p:nvSpPr>
        <p:spPr>
          <a:xfrm>
            <a:off x="8674769" y="1032459"/>
            <a:ext cx="3356811" cy="2862322"/>
          </a:xfrm>
          <a:prstGeom prst="rect">
            <a:avLst/>
          </a:prstGeom>
        </p:spPr>
        <p:txBody>
          <a:bodyPr wrap="square">
            <a:spAutoFit/>
          </a:bodyPr>
          <a:lstStyle/>
          <a:p>
            <a:r>
              <a:rPr lang="en-US" b="1" u="sng" dirty="0">
                <a:latin typeface="Calibri" panose="020F0502020204030204" pitchFamily="34" charset="0"/>
                <a:ea typeface="Tahoma" panose="020B0604030504040204" pitchFamily="34" charset="0"/>
              </a:rPr>
              <a:t>Route History</a:t>
            </a:r>
          </a:p>
          <a:p>
            <a:r>
              <a:rPr lang="en-US" dirty="0"/>
              <a:t>The Harlem bus began in 1927 as West Towns route #7. It was renumbered 307 by the RTA in the mid-1970s and has been run by Pace's West Division since 1985.</a:t>
            </a:r>
          </a:p>
          <a:p>
            <a:endParaRPr lang="en-US" b="1" dirty="0">
              <a:latin typeface="Calibri" panose="020F0502020204030204" pitchFamily="34" charset="0"/>
              <a:ea typeface="Tahoma" panose="020B0604030504040204" pitchFamily="34" charset="0"/>
            </a:endParaRPr>
          </a:p>
          <a:p>
            <a:r>
              <a:rPr lang="en-US" b="1" u="sng" dirty="0">
                <a:latin typeface="Calibri" panose="020F0502020204030204" pitchFamily="34" charset="0"/>
                <a:ea typeface="Tahoma" panose="020B0604030504040204" pitchFamily="34" charset="0"/>
              </a:rPr>
              <a:t>Current Pace Bus Route</a:t>
            </a:r>
          </a:p>
          <a:p>
            <a:r>
              <a:rPr lang="en-US" b="1" dirty="0">
                <a:latin typeface="Calibri" panose="020F0502020204030204" pitchFamily="34" charset="0"/>
                <a:ea typeface="Tahoma" panose="020B0604030504040204" pitchFamily="34" charset="0"/>
              </a:rPr>
              <a:t>#307 Grand/Bridgeview</a:t>
            </a:r>
          </a:p>
        </p:txBody>
      </p:sp>
      <p:sp>
        <p:nvSpPr>
          <p:cNvPr id="8" name="TextBox 7">
            <a:extLst>
              <a:ext uri="{FF2B5EF4-FFF2-40B4-BE49-F238E27FC236}">
                <a16:creationId xmlns:a16="http://schemas.microsoft.com/office/drawing/2014/main" id="{246938FB-69E3-7D87-4711-7D0F7056F94F}"/>
              </a:ext>
            </a:extLst>
          </p:cNvPr>
          <p:cNvSpPr txBox="1"/>
          <p:nvPr/>
        </p:nvSpPr>
        <p:spPr>
          <a:xfrm>
            <a:off x="195353" y="6532564"/>
            <a:ext cx="3531801" cy="338554"/>
          </a:xfrm>
          <a:prstGeom prst="rect">
            <a:avLst/>
          </a:prstGeom>
          <a:noFill/>
        </p:spPr>
        <p:txBody>
          <a:bodyPr wrap="none" rtlCol="0">
            <a:spAutoFit/>
          </a:bodyPr>
          <a:lstStyle/>
          <a:p>
            <a:r>
              <a:rPr lang="en-US" sz="1600" i="1" dirty="0"/>
              <a:t>Image source: C. Scott Smith, 10/5/2026</a:t>
            </a:r>
          </a:p>
        </p:txBody>
      </p:sp>
    </p:spTree>
    <p:extLst>
      <p:ext uri="{BB962C8B-B14F-4D97-AF65-F5344CB8AC3E}">
        <p14:creationId xmlns:p14="http://schemas.microsoft.com/office/powerpoint/2010/main" val="2646375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F1959D6-2E86-42DE-BF07-5B9BEE92F429}"/>
              </a:ext>
            </a:extLst>
          </p:cNvPr>
          <p:cNvPicPr>
            <a:picLocks noGrp="1" noChangeAspect="1"/>
          </p:cNvPicPr>
          <p:nvPr>
            <p:ph idx="1"/>
          </p:nvPr>
        </p:nvPicPr>
        <p:blipFill rotWithShape="1">
          <a:blip r:embed="rId2"/>
          <a:srcRect l="-8890" t="2081" r="-5975" b="2081"/>
          <a:stretch/>
        </p:blipFill>
        <p:spPr>
          <a:xfrm>
            <a:off x="5842503" y="10"/>
            <a:ext cx="6349497" cy="6857990"/>
          </a:xfrm>
          <a:prstGeom prst="rect">
            <a:avLst/>
          </a:prstGeom>
        </p:spPr>
      </p:pic>
      <p:sp>
        <p:nvSpPr>
          <p:cNvPr id="2" name="Title 1">
            <a:extLst>
              <a:ext uri="{FF2B5EF4-FFF2-40B4-BE49-F238E27FC236}">
                <a16:creationId xmlns:a16="http://schemas.microsoft.com/office/drawing/2014/main" id="{E2EE565E-CC0B-4E9A-9325-2E4CF5FFB601}"/>
              </a:ext>
            </a:extLst>
          </p:cNvPr>
          <p:cNvSpPr>
            <a:spLocks noGrp="1"/>
          </p:cNvSpPr>
          <p:nvPr>
            <p:ph type="title"/>
          </p:nvPr>
        </p:nvSpPr>
        <p:spPr>
          <a:xfrm>
            <a:off x="1166648" y="721805"/>
            <a:ext cx="4264888" cy="2221992"/>
          </a:xfrm>
        </p:spPr>
        <p:txBody>
          <a:bodyPr vert="horz" lIns="91440" tIns="45720" rIns="91440" bIns="45720" rtlCol="0" anchor="ctr">
            <a:normAutofit/>
          </a:bodyPr>
          <a:lstStyle/>
          <a:p>
            <a:r>
              <a:rPr lang="en-US" sz="4200"/>
              <a:t>Bus turnarounds in Chicago</a:t>
            </a:r>
          </a:p>
        </p:txBody>
      </p:sp>
      <p:sp>
        <p:nvSpPr>
          <p:cNvPr id="3" name="TextBox 2">
            <a:extLst>
              <a:ext uri="{FF2B5EF4-FFF2-40B4-BE49-F238E27FC236}">
                <a16:creationId xmlns:a16="http://schemas.microsoft.com/office/drawing/2014/main" id="{3D4BA7E4-F243-4FE8-9BBA-FE425A10ABC0}"/>
              </a:ext>
            </a:extLst>
          </p:cNvPr>
          <p:cNvSpPr txBox="1"/>
          <p:nvPr/>
        </p:nvSpPr>
        <p:spPr>
          <a:xfrm>
            <a:off x="723836" y="3307136"/>
            <a:ext cx="5282826" cy="3326514"/>
          </a:xfrm>
          <a:prstGeom prst="rect">
            <a:avLst/>
          </a:prstGeom>
        </p:spPr>
        <p:txBody>
          <a:bodyPr vert="horz" lIns="91440" tIns="45720" rIns="91440" bIns="45720" rtlCol="0" anchor="ctr">
            <a:normAutofit/>
          </a:bodyPr>
          <a:lstStyle/>
          <a:p>
            <a:pPr marL="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lot of them located on the city´s border</a:t>
            </a:r>
          </a:p>
          <a:p>
            <a:pPr marL="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Poor or basic infrastructure</a:t>
            </a:r>
          </a:p>
          <a:p>
            <a:pPr marL="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Space enough for a development that activates the area and provide additional services to the community</a:t>
            </a:r>
          </a:p>
          <a:p>
            <a:pPr marL="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Potential space for a sustainable component in their design </a:t>
            </a:r>
          </a:p>
          <a:p>
            <a:pPr marL="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Potential for increasing public space for gathering and increase the sense of community</a:t>
            </a:r>
          </a:p>
          <a:p>
            <a:pPr marL="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6647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hape 234">
            <a:extLst>
              <a:ext uri="{FF2B5EF4-FFF2-40B4-BE49-F238E27FC236}">
                <a16:creationId xmlns:a16="http://schemas.microsoft.com/office/drawing/2014/main" id="{17CB5BC5-BAF2-4480-9A69-63B20B8566F0}"/>
              </a:ext>
            </a:extLst>
          </p:cNvPr>
          <p:cNvPicPr preferRelativeResize="0"/>
          <p:nvPr/>
        </p:nvPicPr>
        <p:blipFill rotWithShape="1">
          <a:blip r:embed="rId3">
            <a:alphaModFix/>
          </a:blip>
          <a:srcRect l="66233" t="12309" r="25650" b="46658"/>
          <a:stretch/>
        </p:blipFill>
        <p:spPr>
          <a:xfrm>
            <a:off x="0" y="1"/>
            <a:ext cx="12192000" cy="723900"/>
          </a:xfrm>
          <a:prstGeom prst="rect">
            <a:avLst/>
          </a:prstGeom>
          <a:solidFill>
            <a:srgbClr val="194852"/>
          </a:solidFill>
          <a:ln>
            <a:noFill/>
          </a:ln>
        </p:spPr>
      </p:pic>
      <p:sp>
        <p:nvSpPr>
          <p:cNvPr id="6" name="TextBox 5">
            <a:extLst>
              <a:ext uri="{FF2B5EF4-FFF2-40B4-BE49-F238E27FC236}">
                <a16:creationId xmlns:a16="http://schemas.microsoft.com/office/drawing/2014/main" id="{390FDEB5-AD63-48E2-84EC-471396673863}"/>
              </a:ext>
            </a:extLst>
          </p:cNvPr>
          <p:cNvSpPr txBox="1"/>
          <p:nvPr/>
        </p:nvSpPr>
        <p:spPr>
          <a:xfrm>
            <a:off x="0" y="48110"/>
            <a:ext cx="12191999" cy="584775"/>
          </a:xfrm>
          <a:prstGeom prst="rect">
            <a:avLst/>
          </a:prstGeom>
          <a:noFill/>
        </p:spPr>
        <p:txBody>
          <a:bodyPr wrap="square" rtlCol="0">
            <a:spAutoFit/>
          </a:bodyPr>
          <a:lstStyle/>
          <a:p>
            <a:r>
              <a:rPr lang="en-US" sz="3200" dirty="0">
                <a:solidFill>
                  <a:schemeClr val="bg1"/>
                </a:solidFill>
                <a:latin typeface="Franklin Gothic Demi Cond" panose="020B0706030402020204" pitchFamily="34" charset="0"/>
              </a:rPr>
              <a:t>BUS TURNAROUNDS – Racine &amp; 87</a:t>
            </a:r>
            <a:r>
              <a:rPr lang="en-US" sz="3200" baseline="30000" dirty="0">
                <a:solidFill>
                  <a:schemeClr val="bg1"/>
                </a:solidFill>
                <a:latin typeface="Franklin Gothic Demi Cond" panose="020B0706030402020204" pitchFamily="34" charset="0"/>
              </a:rPr>
              <a:t>th</a:t>
            </a:r>
            <a:r>
              <a:rPr lang="en-US" sz="3200" dirty="0">
                <a:solidFill>
                  <a:schemeClr val="bg1"/>
                </a:solidFill>
                <a:latin typeface="Franklin Gothic Demi Cond" panose="020B0706030402020204" pitchFamily="34" charset="0"/>
              </a:rPr>
              <a:t> St</a:t>
            </a:r>
          </a:p>
        </p:txBody>
      </p:sp>
      <p:pic>
        <p:nvPicPr>
          <p:cNvPr id="2" name="Picture 1">
            <a:extLst>
              <a:ext uri="{FF2B5EF4-FFF2-40B4-BE49-F238E27FC236}">
                <a16:creationId xmlns:a16="http://schemas.microsoft.com/office/drawing/2014/main" id="{1B744572-9DBE-4B44-835F-B837162728B9}"/>
              </a:ext>
            </a:extLst>
          </p:cNvPr>
          <p:cNvPicPr>
            <a:picLocks noChangeAspect="1"/>
          </p:cNvPicPr>
          <p:nvPr/>
        </p:nvPicPr>
        <p:blipFill rotWithShape="1">
          <a:blip r:embed="rId4"/>
          <a:srcRect l="420" r="420"/>
          <a:stretch/>
        </p:blipFill>
        <p:spPr>
          <a:xfrm>
            <a:off x="340894" y="1032459"/>
            <a:ext cx="8229600" cy="5486400"/>
          </a:xfrm>
          <a:prstGeom prst="rect">
            <a:avLst/>
          </a:prstGeom>
        </p:spPr>
      </p:pic>
      <p:sp>
        <p:nvSpPr>
          <p:cNvPr id="7" name="Rectangle 6">
            <a:extLst>
              <a:ext uri="{FF2B5EF4-FFF2-40B4-BE49-F238E27FC236}">
                <a16:creationId xmlns:a16="http://schemas.microsoft.com/office/drawing/2014/main" id="{713781FF-68AB-4473-AC06-40D0766CD4CA}"/>
              </a:ext>
            </a:extLst>
          </p:cNvPr>
          <p:cNvSpPr/>
          <p:nvPr/>
        </p:nvSpPr>
        <p:spPr>
          <a:xfrm>
            <a:off x="8674769" y="1032459"/>
            <a:ext cx="3356811" cy="3139321"/>
          </a:xfrm>
          <a:prstGeom prst="rect">
            <a:avLst/>
          </a:prstGeom>
        </p:spPr>
        <p:txBody>
          <a:bodyPr wrap="square">
            <a:spAutoFit/>
          </a:bodyPr>
          <a:lstStyle/>
          <a:p>
            <a:r>
              <a:rPr lang="en-US" b="1" u="sng" dirty="0">
                <a:latin typeface="Calibri" panose="020F0502020204030204" pitchFamily="34" charset="0"/>
                <a:ea typeface="Tahoma" panose="020B0604030504040204" pitchFamily="34" charset="0"/>
              </a:rPr>
              <a:t>Route History</a:t>
            </a:r>
          </a:p>
          <a:p>
            <a:r>
              <a:rPr lang="en-US" dirty="0">
                <a:latin typeface="Calibri" panose="020F0502020204030204" pitchFamily="34" charset="0"/>
                <a:ea typeface="Tahoma" panose="020B0604030504040204" pitchFamily="34" charset="0"/>
              </a:rPr>
              <a:t>The </a:t>
            </a:r>
            <a:r>
              <a:rPr lang="en-US" b="1" dirty="0">
                <a:latin typeface="Calibri" panose="020F0502020204030204" pitchFamily="34" charset="0"/>
                <a:ea typeface="Tahoma" panose="020B0604030504040204" pitchFamily="34" charset="0"/>
              </a:rPr>
              <a:t>Wallace &amp; Racine </a:t>
            </a:r>
            <a:r>
              <a:rPr lang="en-US" dirty="0">
                <a:latin typeface="Calibri" panose="020F0502020204030204" pitchFamily="34" charset="0"/>
                <a:ea typeface="Tahoma" panose="020B0604030504040204" pitchFamily="34" charset="0"/>
              </a:rPr>
              <a:t>route provided service between </a:t>
            </a:r>
            <a:r>
              <a:rPr lang="en-US" b="1" dirty="0">
                <a:latin typeface="Calibri" panose="020F0502020204030204" pitchFamily="34" charset="0"/>
                <a:ea typeface="Tahoma" panose="020B0604030504040204" pitchFamily="34" charset="0"/>
              </a:rPr>
              <a:t>State &amp; Lake </a:t>
            </a:r>
            <a:r>
              <a:rPr lang="en-US" dirty="0">
                <a:latin typeface="Calibri" panose="020F0502020204030204" pitchFamily="34" charset="0"/>
                <a:ea typeface="Tahoma" panose="020B0604030504040204" pitchFamily="34" charset="0"/>
              </a:rPr>
              <a:t>and </a:t>
            </a:r>
            <a:r>
              <a:rPr lang="en-US" b="1" dirty="0">
                <a:latin typeface="Calibri" panose="020F0502020204030204" pitchFamily="34" charset="0"/>
                <a:ea typeface="Tahoma" panose="020B0604030504040204" pitchFamily="34" charset="0"/>
              </a:rPr>
              <a:t>87</a:t>
            </a:r>
            <a:r>
              <a:rPr lang="en-US" b="1" baseline="30000" dirty="0">
                <a:latin typeface="Calibri" panose="020F0502020204030204" pitchFamily="34" charset="0"/>
                <a:ea typeface="Tahoma" panose="020B0604030504040204" pitchFamily="34" charset="0"/>
              </a:rPr>
              <a:t>th</a:t>
            </a:r>
            <a:r>
              <a:rPr lang="en-US" b="1" dirty="0">
                <a:latin typeface="Calibri" panose="020F0502020204030204" pitchFamily="34" charset="0"/>
                <a:ea typeface="Tahoma" panose="020B0604030504040204" pitchFamily="34" charset="0"/>
              </a:rPr>
              <a:t> &amp; Racine </a:t>
            </a:r>
            <a:r>
              <a:rPr lang="en-US" dirty="0">
                <a:latin typeface="Calibri" panose="020F0502020204030204" pitchFamily="34" charset="0"/>
                <a:ea typeface="Tahoma" panose="020B0604030504040204" pitchFamily="34" charset="0"/>
              </a:rPr>
              <a:t>with service abandoned </a:t>
            </a:r>
            <a:r>
              <a:rPr lang="en-US" b="1" dirty="0">
                <a:latin typeface="Calibri" panose="020F0502020204030204" pitchFamily="34" charset="0"/>
                <a:ea typeface="Tahoma" panose="020B0604030504040204" pitchFamily="34" charset="0"/>
              </a:rPr>
              <a:t>7/27/1951</a:t>
            </a:r>
          </a:p>
          <a:p>
            <a:endParaRPr lang="en-US" b="1" dirty="0">
              <a:latin typeface="Calibri" panose="020F0502020204030204" pitchFamily="34" charset="0"/>
              <a:ea typeface="Tahoma" panose="020B0604030504040204" pitchFamily="34" charset="0"/>
            </a:endParaRPr>
          </a:p>
          <a:p>
            <a:r>
              <a:rPr lang="en-US" b="1" u="sng" dirty="0">
                <a:latin typeface="Calibri" panose="020F0502020204030204" pitchFamily="34" charset="0"/>
                <a:ea typeface="Tahoma" panose="020B0604030504040204" pitchFamily="34" charset="0"/>
              </a:rPr>
              <a:t>Current CTA Bus Route</a:t>
            </a:r>
          </a:p>
          <a:p>
            <a:r>
              <a:rPr lang="en-US" b="1" dirty="0">
                <a:latin typeface="Calibri" panose="020F0502020204030204" pitchFamily="34" charset="0"/>
                <a:ea typeface="Tahoma" panose="020B0604030504040204" pitchFamily="34" charset="0"/>
              </a:rPr>
              <a:t>#44 Wallace/Racine</a:t>
            </a:r>
          </a:p>
          <a:p>
            <a:endParaRPr lang="en-US" b="1" dirty="0">
              <a:latin typeface="Calibri" panose="020F0502020204030204" pitchFamily="34" charset="0"/>
              <a:ea typeface="Tahoma" panose="020B0604030504040204" pitchFamily="34" charset="0"/>
            </a:endParaRPr>
          </a:p>
          <a:p>
            <a:r>
              <a:rPr lang="en-US" b="1" u="sng" dirty="0">
                <a:latin typeface="Calibri" panose="020F0502020204030204" pitchFamily="34" charset="0"/>
                <a:ea typeface="Tahoma" panose="020B0604030504040204" pitchFamily="34" charset="0"/>
              </a:rPr>
              <a:t>Site Dimensions</a:t>
            </a:r>
          </a:p>
          <a:p>
            <a:r>
              <a:rPr lang="en-US" dirty="0">
                <a:latin typeface="Calibri" panose="020F0502020204030204" pitchFamily="34" charset="0"/>
                <a:ea typeface="Tahoma" panose="020B0604030504040204" pitchFamily="34" charset="0"/>
              </a:rPr>
              <a:t>0.42 acres</a:t>
            </a:r>
          </a:p>
        </p:txBody>
      </p:sp>
      <p:pic>
        <p:nvPicPr>
          <p:cNvPr id="3" name="Picture 2">
            <a:extLst>
              <a:ext uri="{FF2B5EF4-FFF2-40B4-BE49-F238E27FC236}">
                <a16:creationId xmlns:a16="http://schemas.microsoft.com/office/drawing/2014/main" id="{35F0FBA8-562B-4510-9EC4-1A1023E8965E}"/>
              </a:ext>
            </a:extLst>
          </p:cNvPr>
          <p:cNvPicPr>
            <a:picLocks noChangeAspect="1"/>
          </p:cNvPicPr>
          <p:nvPr/>
        </p:nvPicPr>
        <p:blipFill rotWithShape="1">
          <a:blip r:embed="rId5"/>
          <a:srcRect t="399" b="6986"/>
          <a:stretch/>
        </p:blipFill>
        <p:spPr>
          <a:xfrm>
            <a:off x="8969542" y="4690059"/>
            <a:ext cx="2743200" cy="1828800"/>
          </a:xfrm>
          <a:prstGeom prst="rect">
            <a:avLst/>
          </a:prstGeom>
        </p:spPr>
      </p:pic>
      <p:sp>
        <p:nvSpPr>
          <p:cNvPr id="8" name="TextBox 7">
            <a:extLst>
              <a:ext uri="{FF2B5EF4-FFF2-40B4-BE49-F238E27FC236}">
                <a16:creationId xmlns:a16="http://schemas.microsoft.com/office/drawing/2014/main" id="{9E939AAA-B35F-4C2E-B7BF-5413C642F2AB}"/>
              </a:ext>
            </a:extLst>
          </p:cNvPr>
          <p:cNvSpPr txBox="1"/>
          <p:nvPr/>
        </p:nvSpPr>
        <p:spPr>
          <a:xfrm>
            <a:off x="195353" y="6532564"/>
            <a:ext cx="4500143" cy="338554"/>
          </a:xfrm>
          <a:prstGeom prst="rect">
            <a:avLst/>
          </a:prstGeom>
          <a:noFill/>
        </p:spPr>
        <p:txBody>
          <a:bodyPr wrap="none" rtlCol="0">
            <a:spAutoFit/>
          </a:bodyPr>
          <a:lstStyle/>
          <a:p>
            <a:r>
              <a:rPr lang="en-US" sz="1600" i="1" dirty="0"/>
              <a:t>Image source: Google Maps and Google Street View</a:t>
            </a:r>
          </a:p>
        </p:txBody>
      </p:sp>
    </p:spTree>
    <p:extLst>
      <p:ext uri="{BB962C8B-B14F-4D97-AF65-F5344CB8AC3E}">
        <p14:creationId xmlns:p14="http://schemas.microsoft.com/office/powerpoint/2010/main" val="16379182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hape 234">
            <a:extLst>
              <a:ext uri="{FF2B5EF4-FFF2-40B4-BE49-F238E27FC236}">
                <a16:creationId xmlns:a16="http://schemas.microsoft.com/office/drawing/2014/main" id="{17CB5BC5-BAF2-4480-9A69-63B20B8566F0}"/>
              </a:ext>
            </a:extLst>
          </p:cNvPr>
          <p:cNvPicPr preferRelativeResize="0"/>
          <p:nvPr/>
        </p:nvPicPr>
        <p:blipFill rotWithShape="1">
          <a:blip r:embed="rId3">
            <a:alphaModFix/>
          </a:blip>
          <a:srcRect l="66233" t="12309" r="25650" b="46658"/>
          <a:stretch/>
        </p:blipFill>
        <p:spPr>
          <a:xfrm>
            <a:off x="0" y="1"/>
            <a:ext cx="12192000" cy="723900"/>
          </a:xfrm>
          <a:prstGeom prst="rect">
            <a:avLst/>
          </a:prstGeom>
          <a:solidFill>
            <a:srgbClr val="194852"/>
          </a:solidFill>
          <a:ln>
            <a:noFill/>
          </a:ln>
        </p:spPr>
      </p:pic>
      <p:sp>
        <p:nvSpPr>
          <p:cNvPr id="6" name="TextBox 5">
            <a:extLst>
              <a:ext uri="{FF2B5EF4-FFF2-40B4-BE49-F238E27FC236}">
                <a16:creationId xmlns:a16="http://schemas.microsoft.com/office/drawing/2014/main" id="{390FDEB5-AD63-48E2-84EC-471396673863}"/>
              </a:ext>
            </a:extLst>
          </p:cNvPr>
          <p:cNvSpPr txBox="1"/>
          <p:nvPr/>
        </p:nvSpPr>
        <p:spPr>
          <a:xfrm>
            <a:off x="0" y="48110"/>
            <a:ext cx="12191999" cy="584775"/>
          </a:xfrm>
          <a:prstGeom prst="rect">
            <a:avLst/>
          </a:prstGeom>
          <a:noFill/>
        </p:spPr>
        <p:txBody>
          <a:bodyPr wrap="square" rtlCol="0">
            <a:spAutoFit/>
          </a:bodyPr>
          <a:lstStyle/>
          <a:p>
            <a:r>
              <a:rPr lang="en-US" sz="3200" dirty="0">
                <a:solidFill>
                  <a:schemeClr val="bg1"/>
                </a:solidFill>
                <a:latin typeface="Franklin Gothic Demi Cond" panose="020B0706030402020204" pitchFamily="34" charset="0"/>
              </a:rPr>
              <a:t>BUS TURNAROUNDS – S Western Ave &amp; 79</a:t>
            </a:r>
            <a:r>
              <a:rPr lang="en-US" sz="3200" baseline="30000" dirty="0">
                <a:solidFill>
                  <a:schemeClr val="bg1"/>
                </a:solidFill>
                <a:latin typeface="Franklin Gothic Demi Cond" panose="020B0706030402020204" pitchFamily="34" charset="0"/>
              </a:rPr>
              <a:t>th</a:t>
            </a:r>
            <a:r>
              <a:rPr lang="en-US" sz="3200" dirty="0">
                <a:solidFill>
                  <a:schemeClr val="bg1"/>
                </a:solidFill>
                <a:latin typeface="Franklin Gothic Demi Cond" panose="020B0706030402020204" pitchFamily="34" charset="0"/>
              </a:rPr>
              <a:t> St</a:t>
            </a:r>
          </a:p>
        </p:txBody>
      </p:sp>
      <p:sp>
        <p:nvSpPr>
          <p:cNvPr id="7" name="Rectangle 6">
            <a:extLst>
              <a:ext uri="{FF2B5EF4-FFF2-40B4-BE49-F238E27FC236}">
                <a16:creationId xmlns:a16="http://schemas.microsoft.com/office/drawing/2014/main" id="{713781FF-68AB-4473-AC06-40D0766CD4CA}"/>
              </a:ext>
            </a:extLst>
          </p:cNvPr>
          <p:cNvSpPr/>
          <p:nvPr/>
        </p:nvSpPr>
        <p:spPr>
          <a:xfrm>
            <a:off x="8674769" y="986088"/>
            <a:ext cx="3356811" cy="3693319"/>
          </a:xfrm>
          <a:prstGeom prst="rect">
            <a:avLst/>
          </a:prstGeom>
        </p:spPr>
        <p:txBody>
          <a:bodyPr wrap="square">
            <a:spAutoFit/>
          </a:bodyPr>
          <a:lstStyle/>
          <a:p>
            <a:r>
              <a:rPr lang="en-US" b="1" u="sng" dirty="0">
                <a:latin typeface="Calibri" panose="020F0502020204030204" pitchFamily="34" charset="0"/>
                <a:ea typeface="Tahoma" panose="020B0604030504040204" pitchFamily="34" charset="0"/>
              </a:rPr>
              <a:t>Route History</a:t>
            </a:r>
          </a:p>
          <a:p>
            <a:r>
              <a:rPr lang="en-US" dirty="0">
                <a:latin typeface="Calibri" panose="020F0502020204030204" pitchFamily="34" charset="0"/>
                <a:ea typeface="Tahoma" panose="020B0604030504040204" pitchFamily="34" charset="0"/>
              </a:rPr>
              <a:t>From 1931, the </a:t>
            </a:r>
            <a:r>
              <a:rPr lang="en-US" b="1" dirty="0">
                <a:latin typeface="Calibri" panose="020F0502020204030204" pitchFamily="34" charset="0"/>
                <a:ea typeface="Tahoma" panose="020B0604030504040204" pitchFamily="34" charset="0"/>
              </a:rPr>
              <a:t>Western Ave</a:t>
            </a:r>
            <a:r>
              <a:rPr lang="en-US" dirty="0">
                <a:latin typeface="Calibri" panose="020F0502020204030204" pitchFamily="34" charset="0"/>
                <a:ea typeface="Tahoma" panose="020B0604030504040204" pitchFamily="34" charset="0"/>
              </a:rPr>
              <a:t> route between </a:t>
            </a:r>
            <a:r>
              <a:rPr lang="en-US" b="1" dirty="0">
                <a:latin typeface="Calibri" panose="020F0502020204030204" pitchFamily="34" charset="0"/>
                <a:ea typeface="Tahoma" panose="020B0604030504040204" pitchFamily="34" charset="0"/>
              </a:rPr>
              <a:t>Lake St </a:t>
            </a:r>
            <a:r>
              <a:rPr lang="en-US" dirty="0">
                <a:latin typeface="Calibri" panose="020F0502020204030204" pitchFamily="34" charset="0"/>
                <a:ea typeface="Tahoma" panose="020B0604030504040204" pitchFamily="34" charset="0"/>
              </a:rPr>
              <a:t>and </a:t>
            </a:r>
            <a:r>
              <a:rPr lang="en-US" b="1" dirty="0">
                <a:latin typeface="Calibri" panose="020F0502020204030204" pitchFamily="34" charset="0"/>
                <a:ea typeface="Tahoma" panose="020B0604030504040204" pitchFamily="34" charset="0"/>
              </a:rPr>
              <a:t>79</a:t>
            </a:r>
            <a:r>
              <a:rPr lang="en-US" b="1" baseline="30000" dirty="0">
                <a:latin typeface="Calibri" panose="020F0502020204030204" pitchFamily="34" charset="0"/>
                <a:ea typeface="Tahoma" panose="020B0604030504040204" pitchFamily="34" charset="0"/>
              </a:rPr>
              <a:t>th</a:t>
            </a:r>
            <a:r>
              <a:rPr lang="en-US" b="1" dirty="0">
                <a:latin typeface="Calibri" panose="020F0502020204030204" pitchFamily="34" charset="0"/>
                <a:ea typeface="Tahoma" panose="020B0604030504040204" pitchFamily="34" charset="0"/>
              </a:rPr>
              <a:t> St</a:t>
            </a:r>
            <a:r>
              <a:rPr lang="en-US" dirty="0">
                <a:latin typeface="Calibri" panose="020F0502020204030204" pitchFamily="34" charset="0"/>
                <a:ea typeface="Tahoma" panose="020B0604030504040204" pitchFamily="34" charset="0"/>
              </a:rPr>
              <a:t> served by streetcar and bus, which was converted to motor bus in 1956</a:t>
            </a:r>
          </a:p>
          <a:p>
            <a:endParaRPr lang="en-US" b="1" dirty="0">
              <a:latin typeface="Calibri" panose="020F0502020204030204" pitchFamily="34" charset="0"/>
              <a:ea typeface="Tahoma" panose="020B0604030504040204" pitchFamily="34" charset="0"/>
            </a:endParaRPr>
          </a:p>
          <a:p>
            <a:r>
              <a:rPr lang="en-US" b="1" u="sng" dirty="0">
                <a:latin typeface="Calibri" panose="020F0502020204030204" pitchFamily="34" charset="0"/>
                <a:ea typeface="Tahoma" panose="020B0604030504040204" pitchFamily="34" charset="0"/>
              </a:rPr>
              <a:t>Current CTA Bus Route</a:t>
            </a:r>
          </a:p>
          <a:p>
            <a:r>
              <a:rPr lang="en-US" b="1" dirty="0">
                <a:latin typeface="Calibri" panose="020F0502020204030204" pitchFamily="34" charset="0"/>
                <a:ea typeface="Tahoma" panose="020B0604030504040204" pitchFamily="34" charset="0"/>
              </a:rPr>
              <a:t>X 49 Western Express</a:t>
            </a:r>
          </a:p>
          <a:p>
            <a:r>
              <a:rPr lang="en-US" b="1" dirty="0">
                <a:latin typeface="Calibri" panose="020F0502020204030204" pitchFamily="34" charset="0"/>
                <a:ea typeface="Tahoma" panose="020B0604030504040204" pitchFamily="34" charset="0"/>
              </a:rPr>
              <a:t>49 Western </a:t>
            </a:r>
          </a:p>
          <a:p>
            <a:endParaRPr lang="en-US" b="1" dirty="0">
              <a:latin typeface="Calibri" panose="020F0502020204030204" pitchFamily="34" charset="0"/>
              <a:ea typeface="Tahoma" panose="020B0604030504040204" pitchFamily="34" charset="0"/>
            </a:endParaRPr>
          </a:p>
          <a:p>
            <a:r>
              <a:rPr lang="en-US" b="1" u="sng" dirty="0">
                <a:latin typeface="Calibri" panose="020F0502020204030204" pitchFamily="34" charset="0"/>
                <a:ea typeface="Tahoma" panose="020B0604030504040204" pitchFamily="34" charset="0"/>
              </a:rPr>
              <a:t>Site Dimensions</a:t>
            </a:r>
          </a:p>
          <a:p>
            <a:r>
              <a:rPr lang="en-US" dirty="0">
                <a:latin typeface="Calibri" panose="020F0502020204030204" pitchFamily="34" charset="0"/>
                <a:ea typeface="Tahoma" panose="020B0604030504040204" pitchFamily="34" charset="0"/>
              </a:rPr>
              <a:t>0.9 acres</a:t>
            </a:r>
          </a:p>
        </p:txBody>
      </p:sp>
      <p:pic>
        <p:nvPicPr>
          <p:cNvPr id="4" name="Picture 3">
            <a:extLst>
              <a:ext uri="{FF2B5EF4-FFF2-40B4-BE49-F238E27FC236}">
                <a16:creationId xmlns:a16="http://schemas.microsoft.com/office/drawing/2014/main" id="{73CA6411-7D91-49D7-9C85-F3E842321BB8}"/>
              </a:ext>
            </a:extLst>
          </p:cNvPr>
          <p:cNvPicPr>
            <a:picLocks noChangeAspect="1"/>
          </p:cNvPicPr>
          <p:nvPr/>
        </p:nvPicPr>
        <p:blipFill rotWithShape="1">
          <a:blip r:embed="rId4"/>
          <a:srcRect l="2351" r="2351"/>
          <a:stretch/>
        </p:blipFill>
        <p:spPr>
          <a:xfrm>
            <a:off x="363467" y="986088"/>
            <a:ext cx="8229600" cy="5486400"/>
          </a:xfrm>
          <a:prstGeom prst="rect">
            <a:avLst/>
          </a:prstGeom>
        </p:spPr>
      </p:pic>
      <p:pic>
        <p:nvPicPr>
          <p:cNvPr id="8" name="Picture 7">
            <a:extLst>
              <a:ext uri="{FF2B5EF4-FFF2-40B4-BE49-F238E27FC236}">
                <a16:creationId xmlns:a16="http://schemas.microsoft.com/office/drawing/2014/main" id="{D3A8017C-3548-482B-8070-D68EB8A81787}"/>
              </a:ext>
            </a:extLst>
          </p:cNvPr>
          <p:cNvPicPr>
            <a:picLocks noChangeAspect="1"/>
          </p:cNvPicPr>
          <p:nvPr/>
        </p:nvPicPr>
        <p:blipFill rotWithShape="1">
          <a:blip r:embed="rId5"/>
          <a:srcRect l="3361" r="3361"/>
          <a:stretch/>
        </p:blipFill>
        <p:spPr>
          <a:xfrm>
            <a:off x="8981573" y="4632360"/>
            <a:ext cx="2743200" cy="1828800"/>
          </a:xfrm>
          <a:prstGeom prst="rect">
            <a:avLst/>
          </a:prstGeom>
        </p:spPr>
      </p:pic>
      <p:sp>
        <p:nvSpPr>
          <p:cNvPr id="9" name="TextBox 8">
            <a:extLst>
              <a:ext uri="{FF2B5EF4-FFF2-40B4-BE49-F238E27FC236}">
                <a16:creationId xmlns:a16="http://schemas.microsoft.com/office/drawing/2014/main" id="{92030EA2-F65B-4A6B-8870-6690BC23FD5D}"/>
              </a:ext>
            </a:extLst>
          </p:cNvPr>
          <p:cNvSpPr txBox="1"/>
          <p:nvPr/>
        </p:nvSpPr>
        <p:spPr>
          <a:xfrm>
            <a:off x="195353" y="6532564"/>
            <a:ext cx="4500143" cy="338554"/>
          </a:xfrm>
          <a:prstGeom prst="rect">
            <a:avLst/>
          </a:prstGeom>
          <a:noFill/>
        </p:spPr>
        <p:txBody>
          <a:bodyPr wrap="none" rtlCol="0">
            <a:spAutoFit/>
          </a:bodyPr>
          <a:lstStyle/>
          <a:p>
            <a:r>
              <a:rPr lang="en-US" sz="1600" i="1" dirty="0"/>
              <a:t>Image source: Google Maps and Google Street View</a:t>
            </a:r>
          </a:p>
        </p:txBody>
      </p:sp>
    </p:spTree>
    <p:extLst>
      <p:ext uri="{BB962C8B-B14F-4D97-AF65-F5344CB8AC3E}">
        <p14:creationId xmlns:p14="http://schemas.microsoft.com/office/powerpoint/2010/main" val="3540429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hape 234">
            <a:extLst>
              <a:ext uri="{FF2B5EF4-FFF2-40B4-BE49-F238E27FC236}">
                <a16:creationId xmlns:a16="http://schemas.microsoft.com/office/drawing/2014/main" id="{17CB5BC5-BAF2-4480-9A69-63B20B8566F0}"/>
              </a:ext>
            </a:extLst>
          </p:cNvPr>
          <p:cNvPicPr preferRelativeResize="0"/>
          <p:nvPr/>
        </p:nvPicPr>
        <p:blipFill rotWithShape="1">
          <a:blip r:embed="rId3">
            <a:alphaModFix/>
          </a:blip>
          <a:srcRect l="66233" t="12309" r="25650" b="46658"/>
          <a:stretch/>
        </p:blipFill>
        <p:spPr>
          <a:xfrm>
            <a:off x="0" y="1"/>
            <a:ext cx="12192000" cy="723900"/>
          </a:xfrm>
          <a:prstGeom prst="rect">
            <a:avLst/>
          </a:prstGeom>
          <a:solidFill>
            <a:srgbClr val="194852"/>
          </a:solidFill>
          <a:ln>
            <a:noFill/>
          </a:ln>
        </p:spPr>
      </p:pic>
      <p:sp>
        <p:nvSpPr>
          <p:cNvPr id="6" name="TextBox 5">
            <a:extLst>
              <a:ext uri="{FF2B5EF4-FFF2-40B4-BE49-F238E27FC236}">
                <a16:creationId xmlns:a16="http://schemas.microsoft.com/office/drawing/2014/main" id="{390FDEB5-AD63-48E2-84EC-471396673863}"/>
              </a:ext>
            </a:extLst>
          </p:cNvPr>
          <p:cNvSpPr txBox="1"/>
          <p:nvPr/>
        </p:nvSpPr>
        <p:spPr>
          <a:xfrm>
            <a:off x="0" y="48110"/>
            <a:ext cx="12191999" cy="584775"/>
          </a:xfrm>
          <a:prstGeom prst="rect">
            <a:avLst/>
          </a:prstGeom>
          <a:noFill/>
        </p:spPr>
        <p:txBody>
          <a:bodyPr wrap="square" rtlCol="0">
            <a:spAutoFit/>
          </a:bodyPr>
          <a:lstStyle/>
          <a:p>
            <a:r>
              <a:rPr lang="en-US" sz="3200" dirty="0">
                <a:solidFill>
                  <a:schemeClr val="bg1"/>
                </a:solidFill>
                <a:latin typeface="Franklin Gothic Demi Cond" panose="020B0706030402020204" pitchFamily="34" charset="0"/>
              </a:rPr>
              <a:t>BUS TURNAROUNDS – </a:t>
            </a:r>
            <a:r>
              <a:rPr lang="en-US" sz="3200" dirty="0" err="1">
                <a:solidFill>
                  <a:schemeClr val="bg1"/>
                </a:solidFill>
                <a:latin typeface="Franklin Gothic Demi Cond" panose="020B0706030402020204" pitchFamily="34" charset="0"/>
              </a:rPr>
              <a:t>Diversey</a:t>
            </a:r>
            <a:r>
              <a:rPr lang="en-US" sz="3200" dirty="0">
                <a:solidFill>
                  <a:schemeClr val="bg1"/>
                </a:solidFill>
                <a:latin typeface="Franklin Gothic Demi Cond" panose="020B0706030402020204" pitchFamily="34" charset="0"/>
              </a:rPr>
              <a:t> &amp; N Neva Ave</a:t>
            </a:r>
          </a:p>
        </p:txBody>
      </p:sp>
      <p:sp>
        <p:nvSpPr>
          <p:cNvPr id="7" name="Rectangle 6">
            <a:extLst>
              <a:ext uri="{FF2B5EF4-FFF2-40B4-BE49-F238E27FC236}">
                <a16:creationId xmlns:a16="http://schemas.microsoft.com/office/drawing/2014/main" id="{713781FF-68AB-4473-AC06-40D0766CD4CA}"/>
              </a:ext>
            </a:extLst>
          </p:cNvPr>
          <p:cNvSpPr/>
          <p:nvPr/>
        </p:nvSpPr>
        <p:spPr>
          <a:xfrm>
            <a:off x="8674769" y="1216040"/>
            <a:ext cx="3356811" cy="2862322"/>
          </a:xfrm>
          <a:prstGeom prst="rect">
            <a:avLst/>
          </a:prstGeom>
        </p:spPr>
        <p:txBody>
          <a:bodyPr wrap="square">
            <a:spAutoFit/>
          </a:bodyPr>
          <a:lstStyle/>
          <a:p>
            <a:r>
              <a:rPr lang="en-US" b="1" u="sng" dirty="0">
                <a:latin typeface="Calibri" panose="020F0502020204030204" pitchFamily="34" charset="0"/>
                <a:ea typeface="Tahoma" panose="020B0604030504040204" pitchFamily="34" charset="0"/>
              </a:rPr>
              <a:t>Route History</a:t>
            </a:r>
          </a:p>
          <a:p>
            <a:r>
              <a:rPr lang="en-US" dirty="0">
                <a:latin typeface="Calibri" panose="020F0502020204030204" pitchFamily="34" charset="0"/>
                <a:ea typeface="Tahoma" panose="020B0604030504040204" pitchFamily="34" charset="0"/>
              </a:rPr>
              <a:t>CMC trolleybus route 76 between </a:t>
            </a:r>
            <a:r>
              <a:rPr lang="en-US" b="1" dirty="0">
                <a:latin typeface="Calibri" panose="020F0502020204030204" pitchFamily="34" charset="0"/>
                <a:ea typeface="Tahoma" panose="020B0604030504040204" pitchFamily="34" charset="0"/>
              </a:rPr>
              <a:t>Kimball Ave</a:t>
            </a:r>
            <a:r>
              <a:rPr lang="en-US" dirty="0">
                <a:latin typeface="Calibri" panose="020F0502020204030204" pitchFamily="34" charset="0"/>
                <a:ea typeface="Tahoma" panose="020B0604030504040204" pitchFamily="34" charset="0"/>
              </a:rPr>
              <a:t> and </a:t>
            </a:r>
            <a:r>
              <a:rPr lang="en-US" b="1" dirty="0">
                <a:latin typeface="Calibri" panose="020F0502020204030204" pitchFamily="34" charset="0"/>
                <a:ea typeface="Tahoma" panose="020B0604030504040204" pitchFamily="34" charset="0"/>
              </a:rPr>
              <a:t>Narragansett Ave</a:t>
            </a:r>
          </a:p>
          <a:p>
            <a:endParaRPr lang="en-US" b="1" dirty="0">
              <a:latin typeface="Calibri" panose="020F0502020204030204" pitchFamily="34" charset="0"/>
              <a:ea typeface="Tahoma" panose="020B0604030504040204" pitchFamily="34" charset="0"/>
            </a:endParaRPr>
          </a:p>
          <a:p>
            <a:r>
              <a:rPr lang="en-US" b="1" u="sng" dirty="0">
                <a:latin typeface="Calibri" panose="020F0502020204030204" pitchFamily="34" charset="0"/>
                <a:ea typeface="Tahoma" panose="020B0604030504040204" pitchFamily="34" charset="0"/>
              </a:rPr>
              <a:t>Current CTA Bus Route</a:t>
            </a:r>
          </a:p>
          <a:p>
            <a:r>
              <a:rPr lang="en-US" b="1" dirty="0">
                <a:latin typeface="Calibri" panose="020F0502020204030204" pitchFamily="34" charset="0"/>
                <a:ea typeface="Tahoma" panose="020B0604030504040204" pitchFamily="34" charset="0"/>
              </a:rPr>
              <a:t>76 </a:t>
            </a:r>
            <a:r>
              <a:rPr lang="en-US" b="1" dirty="0" err="1">
                <a:latin typeface="Calibri" panose="020F0502020204030204" pitchFamily="34" charset="0"/>
                <a:ea typeface="Tahoma" panose="020B0604030504040204" pitchFamily="34" charset="0"/>
              </a:rPr>
              <a:t>Diversey</a:t>
            </a:r>
            <a:endParaRPr lang="en-US" b="1" dirty="0">
              <a:latin typeface="Calibri" panose="020F0502020204030204" pitchFamily="34" charset="0"/>
              <a:ea typeface="Tahoma" panose="020B0604030504040204" pitchFamily="34" charset="0"/>
            </a:endParaRPr>
          </a:p>
          <a:p>
            <a:endParaRPr lang="en-US" b="1" dirty="0">
              <a:latin typeface="Calibri" panose="020F0502020204030204" pitchFamily="34" charset="0"/>
              <a:ea typeface="Tahoma" panose="020B0604030504040204" pitchFamily="34" charset="0"/>
            </a:endParaRPr>
          </a:p>
          <a:p>
            <a:r>
              <a:rPr lang="en-US" b="1" u="sng" dirty="0">
                <a:latin typeface="Calibri" panose="020F0502020204030204" pitchFamily="34" charset="0"/>
                <a:ea typeface="Tahoma" panose="020B0604030504040204" pitchFamily="34" charset="0"/>
              </a:rPr>
              <a:t>Site Dimensions</a:t>
            </a:r>
          </a:p>
          <a:p>
            <a:r>
              <a:rPr lang="en-US" dirty="0">
                <a:latin typeface="Calibri" panose="020F0502020204030204" pitchFamily="34" charset="0"/>
                <a:ea typeface="Tahoma" panose="020B0604030504040204" pitchFamily="34" charset="0"/>
              </a:rPr>
              <a:t>0.42 acres</a:t>
            </a:r>
          </a:p>
        </p:txBody>
      </p:sp>
      <p:pic>
        <p:nvPicPr>
          <p:cNvPr id="2" name="Picture 1"/>
          <p:cNvPicPr>
            <a:picLocks noChangeAspect="1"/>
          </p:cNvPicPr>
          <p:nvPr/>
        </p:nvPicPr>
        <p:blipFill rotWithShape="1">
          <a:blip r:embed="rId4"/>
          <a:srcRect t="617" b="617"/>
          <a:stretch/>
        </p:blipFill>
        <p:spPr>
          <a:xfrm>
            <a:off x="291767" y="974760"/>
            <a:ext cx="8229600" cy="5486400"/>
          </a:xfrm>
          <a:prstGeom prst="rect">
            <a:avLst/>
          </a:prstGeom>
        </p:spPr>
      </p:pic>
      <p:pic>
        <p:nvPicPr>
          <p:cNvPr id="3" name="Picture 2"/>
          <p:cNvPicPr>
            <a:picLocks noChangeAspect="1"/>
          </p:cNvPicPr>
          <p:nvPr/>
        </p:nvPicPr>
        <p:blipFill rotWithShape="1">
          <a:blip r:embed="rId5"/>
          <a:srcRect t="10256" b="10256"/>
          <a:stretch/>
        </p:blipFill>
        <p:spPr>
          <a:xfrm>
            <a:off x="8981574" y="4632360"/>
            <a:ext cx="2743200" cy="1828800"/>
          </a:xfrm>
          <a:prstGeom prst="rect">
            <a:avLst/>
          </a:prstGeom>
        </p:spPr>
      </p:pic>
      <p:sp>
        <p:nvSpPr>
          <p:cNvPr id="8" name="TextBox 7">
            <a:extLst>
              <a:ext uri="{FF2B5EF4-FFF2-40B4-BE49-F238E27FC236}">
                <a16:creationId xmlns:a16="http://schemas.microsoft.com/office/drawing/2014/main" id="{B93E52BB-FEAC-405A-A719-0EC5E42EC2F2}"/>
              </a:ext>
            </a:extLst>
          </p:cNvPr>
          <p:cNvSpPr txBox="1"/>
          <p:nvPr/>
        </p:nvSpPr>
        <p:spPr>
          <a:xfrm>
            <a:off x="195353" y="6532564"/>
            <a:ext cx="4500143" cy="338554"/>
          </a:xfrm>
          <a:prstGeom prst="rect">
            <a:avLst/>
          </a:prstGeom>
          <a:noFill/>
        </p:spPr>
        <p:txBody>
          <a:bodyPr wrap="none" rtlCol="0">
            <a:spAutoFit/>
          </a:bodyPr>
          <a:lstStyle/>
          <a:p>
            <a:r>
              <a:rPr lang="en-US" sz="1600" i="1" dirty="0"/>
              <a:t>Image source: Google Maps and Google Street View</a:t>
            </a:r>
          </a:p>
        </p:txBody>
      </p:sp>
    </p:spTree>
    <p:extLst>
      <p:ext uri="{BB962C8B-B14F-4D97-AF65-F5344CB8AC3E}">
        <p14:creationId xmlns:p14="http://schemas.microsoft.com/office/powerpoint/2010/main" val="16473494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hape 234">
            <a:extLst>
              <a:ext uri="{FF2B5EF4-FFF2-40B4-BE49-F238E27FC236}">
                <a16:creationId xmlns:a16="http://schemas.microsoft.com/office/drawing/2014/main" id="{17CB5BC5-BAF2-4480-9A69-63B20B8566F0}"/>
              </a:ext>
            </a:extLst>
          </p:cNvPr>
          <p:cNvPicPr preferRelativeResize="0"/>
          <p:nvPr/>
        </p:nvPicPr>
        <p:blipFill rotWithShape="1">
          <a:blip r:embed="rId3">
            <a:alphaModFix/>
          </a:blip>
          <a:srcRect l="66233" t="12309" r="25650" b="46658"/>
          <a:stretch/>
        </p:blipFill>
        <p:spPr>
          <a:xfrm>
            <a:off x="0" y="1"/>
            <a:ext cx="12192000" cy="723900"/>
          </a:xfrm>
          <a:prstGeom prst="rect">
            <a:avLst/>
          </a:prstGeom>
          <a:solidFill>
            <a:srgbClr val="194852"/>
          </a:solidFill>
          <a:ln>
            <a:noFill/>
          </a:ln>
        </p:spPr>
      </p:pic>
      <p:sp>
        <p:nvSpPr>
          <p:cNvPr id="6" name="TextBox 5">
            <a:extLst>
              <a:ext uri="{FF2B5EF4-FFF2-40B4-BE49-F238E27FC236}">
                <a16:creationId xmlns:a16="http://schemas.microsoft.com/office/drawing/2014/main" id="{390FDEB5-AD63-48E2-84EC-471396673863}"/>
              </a:ext>
            </a:extLst>
          </p:cNvPr>
          <p:cNvSpPr txBox="1"/>
          <p:nvPr/>
        </p:nvSpPr>
        <p:spPr>
          <a:xfrm>
            <a:off x="0" y="48110"/>
            <a:ext cx="12191999" cy="584775"/>
          </a:xfrm>
          <a:prstGeom prst="rect">
            <a:avLst/>
          </a:prstGeom>
          <a:noFill/>
        </p:spPr>
        <p:txBody>
          <a:bodyPr wrap="square" rtlCol="0">
            <a:spAutoFit/>
          </a:bodyPr>
          <a:lstStyle/>
          <a:p>
            <a:r>
              <a:rPr lang="en-US" sz="3200" dirty="0">
                <a:solidFill>
                  <a:schemeClr val="bg1"/>
                </a:solidFill>
                <a:latin typeface="Franklin Gothic Demi Cond" panose="020B0706030402020204" pitchFamily="34" charset="0"/>
              </a:rPr>
              <a:t>BUS TURNAROUNDS – N Clark St &amp; W Devon Ave</a:t>
            </a:r>
          </a:p>
        </p:txBody>
      </p:sp>
      <p:sp>
        <p:nvSpPr>
          <p:cNvPr id="7" name="Rectangle 6">
            <a:extLst>
              <a:ext uri="{FF2B5EF4-FFF2-40B4-BE49-F238E27FC236}">
                <a16:creationId xmlns:a16="http://schemas.microsoft.com/office/drawing/2014/main" id="{713781FF-68AB-4473-AC06-40D0766CD4CA}"/>
              </a:ext>
            </a:extLst>
          </p:cNvPr>
          <p:cNvSpPr/>
          <p:nvPr/>
        </p:nvSpPr>
        <p:spPr>
          <a:xfrm>
            <a:off x="8674769" y="974760"/>
            <a:ext cx="3356811" cy="3416320"/>
          </a:xfrm>
          <a:prstGeom prst="rect">
            <a:avLst/>
          </a:prstGeom>
        </p:spPr>
        <p:txBody>
          <a:bodyPr wrap="square">
            <a:spAutoFit/>
          </a:bodyPr>
          <a:lstStyle/>
          <a:p>
            <a:r>
              <a:rPr lang="en-US" b="1" u="sng" dirty="0">
                <a:latin typeface="Calibri" panose="020F0502020204030204" pitchFamily="34" charset="0"/>
                <a:ea typeface="Tahoma" panose="020B0604030504040204" pitchFamily="34" charset="0"/>
              </a:rPr>
              <a:t>Route History</a:t>
            </a:r>
          </a:p>
          <a:p>
            <a:r>
              <a:rPr lang="en-US" dirty="0">
                <a:latin typeface="Calibri" panose="020F0502020204030204" pitchFamily="34" charset="0"/>
                <a:ea typeface="Tahoma" panose="020B0604030504040204" pitchFamily="34" charset="0"/>
              </a:rPr>
              <a:t>From 1917 operated as bus route by Chicago Motor Coach (CMC).</a:t>
            </a:r>
          </a:p>
          <a:p>
            <a:endParaRPr lang="en-US" b="1" dirty="0">
              <a:latin typeface="Calibri" panose="020F0502020204030204" pitchFamily="34" charset="0"/>
              <a:ea typeface="Tahoma" panose="020B0604030504040204" pitchFamily="34" charset="0"/>
            </a:endParaRPr>
          </a:p>
          <a:p>
            <a:r>
              <a:rPr lang="en-US" b="1" u="sng" dirty="0">
                <a:latin typeface="Calibri" panose="020F0502020204030204" pitchFamily="34" charset="0"/>
                <a:ea typeface="Tahoma" panose="020B0604030504040204" pitchFamily="34" charset="0"/>
              </a:rPr>
              <a:t>Current CTA Bus Route</a:t>
            </a:r>
          </a:p>
          <a:p>
            <a:r>
              <a:rPr lang="en-US" b="1" dirty="0">
                <a:latin typeface="Calibri" panose="020F0502020204030204" pitchFamily="34" charset="0"/>
                <a:ea typeface="Tahoma" panose="020B0604030504040204" pitchFamily="34" charset="0"/>
              </a:rPr>
              <a:t>151 Sheridan</a:t>
            </a:r>
          </a:p>
          <a:p>
            <a:endParaRPr lang="en-US" b="1" dirty="0">
              <a:latin typeface="Calibri" panose="020F0502020204030204" pitchFamily="34" charset="0"/>
              <a:ea typeface="Tahoma" panose="020B0604030504040204" pitchFamily="34" charset="0"/>
            </a:endParaRPr>
          </a:p>
          <a:p>
            <a:endParaRPr lang="en-US" b="1" dirty="0">
              <a:latin typeface="Calibri" panose="020F0502020204030204" pitchFamily="34" charset="0"/>
              <a:ea typeface="Tahoma" panose="020B0604030504040204" pitchFamily="34" charset="0"/>
            </a:endParaRPr>
          </a:p>
          <a:p>
            <a:endParaRPr lang="en-US" b="1" dirty="0">
              <a:latin typeface="Calibri" panose="020F0502020204030204" pitchFamily="34" charset="0"/>
              <a:ea typeface="Tahoma" panose="020B0604030504040204" pitchFamily="34" charset="0"/>
            </a:endParaRPr>
          </a:p>
          <a:p>
            <a:endParaRPr lang="en-US" b="1" dirty="0">
              <a:latin typeface="Calibri" panose="020F0502020204030204" pitchFamily="34" charset="0"/>
              <a:ea typeface="Tahoma" panose="020B0604030504040204" pitchFamily="34" charset="0"/>
            </a:endParaRPr>
          </a:p>
          <a:p>
            <a:r>
              <a:rPr lang="en-US" b="1" u="sng" dirty="0">
                <a:latin typeface="Calibri" panose="020F0502020204030204" pitchFamily="34" charset="0"/>
                <a:ea typeface="Tahoma" panose="020B0604030504040204" pitchFamily="34" charset="0"/>
              </a:rPr>
              <a:t>Site Dimensions</a:t>
            </a:r>
          </a:p>
          <a:p>
            <a:r>
              <a:rPr lang="en-US" dirty="0">
                <a:latin typeface="Calibri" panose="020F0502020204030204" pitchFamily="34" charset="0"/>
                <a:ea typeface="Tahoma" panose="020B0604030504040204" pitchFamily="34" charset="0"/>
              </a:rPr>
              <a:t>0.25 acres</a:t>
            </a:r>
          </a:p>
        </p:txBody>
      </p:sp>
      <p:pic>
        <p:nvPicPr>
          <p:cNvPr id="2" name="Picture 1"/>
          <p:cNvPicPr>
            <a:picLocks noChangeAspect="1"/>
          </p:cNvPicPr>
          <p:nvPr/>
        </p:nvPicPr>
        <p:blipFill rotWithShape="1">
          <a:blip r:embed="rId4"/>
          <a:srcRect l="4424" r="4424"/>
          <a:stretch/>
        </p:blipFill>
        <p:spPr>
          <a:xfrm>
            <a:off x="291767" y="974760"/>
            <a:ext cx="8229600" cy="5486400"/>
          </a:xfrm>
          <a:prstGeom prst="rect">
            <a:avLst/>
          </a:prstGeom>
        </p:spPr>
      </p:pic>
      <p:pic>
        <p:nvPicPr>
          <p:cNvPr id="3" name="Picture 2"/>
          <p:cNvPicPr>
            <a:picLocks noChangeAspect="1"/>
          </p:cNvPicPr>
          <p:nvPr/>
        </p:nvPicPr>
        <p:blipFill rotWithShape="1">
          <a:blip r:embed="rId5"/>
          <a:srcRect t="1273" b="1273"/>
          <a:stretch/>
        </p:blipFill>
        <p:spPr>
          <a:xfrm>
            <a:off x="8981574" y="4632360"/>
            <a:ext cx="2743200" cy="1828800"/>
          </a:xfrm>
          <a:prstGeom prst="rect">
            <a:avLst/>
          </a:prstGeom>
        </p:spPr>
      </p:pic>
      <p:sp>
        <p:nvSpPr>
          <p:cNvPr id="8" name="TextBox 7">
            <a:extLst>
              <a:ext uri="{FF2B5EF4-FFF2-40B4-BE49-F238E27FC236}">
                <a16:creationId xmlns:a16="http://schemas.microsoft.com/office/drawing/2014/main" id="{AAA6B94F-298A-477E-9B83-507822593F4C}"/>
              </a:ext>
            </a:extLst>
          </p:cNvPr>
          <p:cNvSpPr txBox="1"/>
          <p:nvPr/>
        </p:nvSpPr>
        <p:spPr>
          <a:xfrm>
            <a:off x="195353" y="6532564"/>
            <a:ext cx="4500143" cy="338554"/>
          </a:xfrm>
          <a:prstGeom prst="rect">
            <a:avLst/>
          </a:prstGeom>
          <a:noFill/>
        </p:spPr>
        <p:txBody>
          <a:bodyPr wrap="none" rtlCol="0">
            <a:spAutoFit/>
          </a:bodyPr>
          <a:lstStyle/>
          <a:p>
            <a:r>
              <a:rPr lang="en-US" sz="1600" i="1" dirty="0"/>
              <a:t>Image source: Google Maps and Google Street View</a:t>
            </a:r>
          </a:p>
        </p:txBody>
      </p:sp>
    </p:spTree>
    <p:extLst>
      <p:ext uri="{BB962C8B-B14F-4D97-AF65-F5344CB8AC3E}">
        <p14:creationId xmlns:p14="http://schemas.microsoft.com/office/powerpoint/2010/main" val="3632258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10" name="Shape 234">
            <a:extLst>
              <a:ext uri="{FF2B5EF4-FFF2-40B4-BE49-F238E27FC236}">
                <a16:creationId xmlns:a16="http://schemas.microsoft.com/office/drawing/2014/main" id="{89274F09-2947-435F-94AA-A36D9E31543F}"/>
              </a:ext>
            </a:extLst>
          </p:cNvPr>
          <p:cNvPicPr preferRelativeResize="0"/>
          <p:nvPr/>
        </p:nvPicPr>
        <p:blipFill rotWithShape="1">
          <a:blip r:embed="rId3">
            <a:alphaModFix/>
          </a:blip>
          <a:srcRect l="66233" t="12309" r="25650" b="46658"/>
          <a:stretch/>
        </p:blipFill>
        <p:spPr>
          <a:xfrm>
            <a:off x="0" y="0"/>
            <a:ext cx="12192000" cy="6857999"/>
          </a:xfrm>
          <a:prstGeom prst="rect">
            <a:avLst/>
          </a:prstGeom>
          <a:noFill/>
          <a:ln>
            <a:noFill/>
          </a:ln>
        </p:spPr>
      </p:pic>
      <p:sp>
        <p:nvSpPr>
          <p:cNvPr id="11" name="TextBox 10">
            <a:extLst>
              <a:ext uri="{FF2B5EF4-FFF2-40B4-BE49-F238E27FC236}">
                <a16:creationId xmlns:a16="http://schemas.microsoft.com/office/drawing/2014/main" id="{CB067A2A-AB3B-4413-8010-E003AF0C9F3F}"/>
              </a:ext>
            </a:extLst>
          </p:cNvPr>
          <p:cNvSpPr txBox="1"/>
          <p:nvPr/>
        </p:nvSpPr>
        <p:spPr>
          <a:xfrm>
            <a:off x="0" y="2090172"/>
            <a:ext cx="12191999" cy="1815882"/>
          </a:xfrm>
          <a:prstGeom prst="rect">
            <a:avLst/>
          </a:prstGeom>
          <a:noFill/>
        </p:spPr>
        <p:txBody>
          <a:bodyPr wrap="square" rtlCol="0">
            <a:spAutoFit/>
          </a:bodyPr>
          <a:lstStyle/>
          <a:p>
            <a:pPr algn="ctr"/>
            <a:r>
              <a:rPr lang="en-US" sz="5600" dirty="0">
                <a:solidFill>
                  <a:schemeClr val="bg1"/>
                </a:solidFill>
                <a:latin typeface="Franklin Gothic Demi Cond" panose="020B0706030402020204" pitchFamily="34" charset="0"/>
              </a:rPr>
              <a:t>The Austin &amp; Division Bus Terminal </a:t>
            </a:r>
          </a:p>
          <a:p>
            <a:pPr algn="ctr"/>
            <a:r>
              <a:rPr lang="en-US" sz="5600" dirty="0">
                <a:solidFill>
                  <a:schemeClr val="bg1"/>
                </a:solidFill>
                <a:latin typeface="Franklin Gothic Demi Cond" panose="020B0706030402020204" pitchFamily="34" charset="0"/>
              </a:rPr>
              <a:t>and its Environs</a:t>
            </a:r>
          </a:p>
        </p:txBody>
      </p:sp>
    </p:spTree>
    <p:extLst>
      <p:ext uri="{BB962C8B-B14F-4D97-AF65-F5344CB8AC3E}">
        <p14:creationId xmlns:p14="http://schemas.microsoft.com/office/powerpoint/2010/main" val="30244878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8" name="Shape 234">
            <a:extLst>
              <a:ext uri="{FF2B5EF4-FFF2-40B4-BE49-F238E27FC236}">
                <a16:creationId xmlns:a16="http://schemas.microsoft.com/office/drawing/2014/main" id="{6CB1D81F-3B5C-4579-AEF6-D8AF322491C7}"/>
              </a:ext>
            </a:extLst>
          </p:cNvPr>
          <p:cNvPicPr preferRelativeResize="0"/>
          <p:nvPr/>
        </p:nvPicPr>
        <p:blipFill rotWithShape="1">
          <a:blip r:embed="rId3">
            <a:alphaModFix/>
          </a:blip>
          <a:srcRect l="66233" t="12309" r="25650" b="46658"/>
          <a:stretch/>
        </p:blipFill>
        <p:spPr>
          <a:xfrm>
            <a:off x="0" y="1"/>
            <a:ext cx="12192000" cy="723900"/>
          </a:xfrm>
          <a:prstGeom prst="rect">
            <a:avLst/>
          </a:prstGeom>
          <a:noFill/>
          <a:ln>
            <a:noFill/>
          </a:ln>
        </p:spPr>
      </p:pic>
      <p:sp>
        <p:nvSpPr>
          <p:cNvPr id="9" name="TextBox 8">
            <a:extLst>
              <a:ext uri="{FF2B5EF4-FFF2-40B4-BE49-F238E27FC236}">
                <a16:creationId xmlns:a16="http://schemas.microsoft.com/office/drawing/2014/main" id="{24B8690F-ED69-4EE5-B276-077E79E21CD5}"/>
              </a:ext>
            </a:extLst>
          </p:cNvPr>
          <p:cNvSpPr txBox="1"/>
          <p:nvPr/>
        </p:nvSpPr>
        <p:spPr>
          <a:xfrm>
            <a:off x="0" y="48110"/>
            <a:ext cx="12191999" cy="584775"/>
          </a:xfrm>
          <a:prstGeom prst="rect">
            <a:avLst/>
          </a:prstGeom>
          <a:noFill/>
        </p:spPr>
        <p:txBody>
          <a:bodyPr wrap="square" rtlCol="0">
            <a:spAutoFit/>
          </a:bodyPr>
          <a:lstStyle/>
          <a:p>
            <a:r>
              <a:rPr lang="en-US" sz="3200" dirty="0">
                <a:solidFill>
                  <a:schemeClr val="bg1"/>
                </a:solidFill>
                <a:latin typeface="Franklin Gothic Demi Cond" panose="020B0706030402020204" pitchFamily="34" charset="0"/>
              </a:rPr>
              <a:t>FOUR OBJECTIVES IN FOUR SECTIONS</a:t>
            </a:r>
          </a:p>
        </p:txBody>
      </p:sp>
      <p:sp>
        <p:nvSpPr>
          <p:cNvPr id="5" name="Rectangle 4">
            <a:extLst>
              <a:ext uri="{FF2B5EF4-FFF2-40B4-BE49-F238E27FC236}">
                <a16:creationId xmlns:a16="http://schemas.microsoft.com/office/drawing/2014/main" id="{0878097F-1CE9-427F-B621-F2A1E9F2A96F}"/>
              </a:ext>
            </a:extLst>
          </p:cNvPr>
          <p:cNvSpPr/>
          <p:nvPr/>
        </p:nvSpPr>
        <p:spPr>
          <a:xfrm>
            <a:off x="563313" y="1010696"/>
            <a:ext cx="5974647" cy="5755422"/>
          </a:xfrm>
          <a:prstGeom prst="rect">
            <a:avLst/>
          </a:prstGeom>
        </p:spPr>
        <p:txBody>
          <a:bodyPr wrap="square">
            <a:spAutoFit/>
          </a:bodyPr>
          <a:lstStyle/>
          <a:p>
            <a:pPr algn="just"/>
            <a:r>
              <a:rPr lang="en-US" sz="2000" b="1" i="1" dirty="0"/>
              <a:t>Section One: </a:t>
            </a:r>
            <a:r>
              <a:rPr lang="en-US" i="1" dirty="0"/>
              <a:t>Characterizes key social and physical aspects of the bus stop terminal site, its surroundings, jurisdictional boundaries, population and housing patterns, key cultural assets.</a:t>
            </a:r>
          </a:p>
          <a:p>
            <a:pPr algn="just"/>
            <a:endParaRPr lang="en-US" i="1" dirty="0"/>
          </a:p>
          <a:p>
            <a:pPr algn="just"/>
            <a:r>
              <a:rPr lang="en-US" sz="2000" b="1" i="1" dirty="0"/>
              <a:t>Section Two: </a:t>
            </a:r>
            <a:r>
              <a:rPr lang="en-US" i="1" dirty="0"/>
              <a:t>Summarizes travel behaviors of commuters within study area, focusing on their use of public transit and active transportation. We also examine recent trends in shared use mobility and how these changes in the structure of transportation may have implications for a reimagined Austin and Division CTA bus terminal.</a:t>
            </a:r>
          </a:p>
          <a:p>
            <a:pPr algn="just"/>
            <a:endParaRPr lang="en-US" i="1" dirty="0"/>
          </a:p>
          <a:p>
            <a:pPr algn="just"/>
            <a:r>
              <a:rPr lang="en-US" sz="2000" b="1" i="1" dirty="0"/>
              <a:t>Section Three: </a:t>
            </a:r>
            <a:r>
              <a:rPr lang="en-US" i="1" dirty="0"/>
              <a:t>We combine existing and emerging best practices for urban transit street and stop design together with other principles of good planning to fashion a menu of strategies with which to inform a high-impact design process focused on sustainability.</a:t>
            </a:r>
          </a:p>
          <a:p>
            <a:pPr algn="just"/>
            <a:endParaRPr lang="en-US" i="1" dirty="0"/>
          </a:p>
          <a:p>
            <a:pPr algn="just"/>
            <a:r>
              <a:rPr lang="en-US" sz="2000" b="1" i="1" dirty="0"/>
              <a:t>Section Four: </a:t>
            </a:r>
            <a:r>
              <a:rPr lang="en-US" i="1" dirty="0"/>
              <a:t>Report summary, conclusions, next steps and beyond...</a:t>
            </a:r>
          </a:p>
        </p:txBody>
      </p:sp>
      <p:pic>
        <p:nvPicPr>
          <p:cNvPr id="6" name="Picture 5">
            <a:extLst>
              <a:ext uri="{FF2B5EF4-FFF2-40B4-BE49-F238E27FC236}">
                <a16:creationId xmlns:a16="http://schemas.microsoft.com/office/drawing/2014/main" id="{A7D6B3E9-D620-467C-9CA3-D7362F235762}"/>
              </a:ext>
            </a:extLst>
          </p:cNvPr>
          <p:cNvPicPr>
            <a:picLocks noChangeAspect="1"/>
          </p:cNvPicPr>
          <p:nvPr/>
        </p:nvPicPr>
        <p:blipFill rotWithShape="1">
          <a:blip r:embed="rId4">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rcRect l="27778" t="10494" r="27778" b="10494"/>
          <a:stretch/>
        </p:blipFill>
        <p:spPr>
          <a:xfrm>
            <a:off x="7075336" y="1018044"/>
            <a:ext cx="4160354" cy="5547139"/>
          </a:xfrm>
          <a:prstGeom prst="rect">
            <a:avLst/>
          </a:prstGeom>
        </p:spPr>
      </p:pic>
      <p:sp>
        <p:nvSpPr>
          <p:cNvPr id="2" name="TextBox 1">
            <a:extLst>
              <a:ext uri="{FF2B5EF4-FFF2-40B4-BE49-F238E27FC236}">
                <a16:creationId xmlns:a16="http://schemas.microsoft.com/office/drawing/2014/main" id="{CA5F7424-EC01-42B9-AEAC-227E7F369ED0}"/>
              </a:ext>
            </a:extLst>
          </p:cNvPr>
          <p:cNvSpPr txBox="1"/>
          <p:nvPr/>
        </p:nvSpPr>
        <p:spPr>
          <a:xfrm>
            <a:off x="7075335" y="1010696"/>
            <a:ext cx="4160520" cy="707886"/>
          </a:xfrm>
          <a:prstGeom prst="rect">
            <a:avLst/>
          </a:prstGeom>
          <a:solidFill>
            <a:schemeClr val="bg1">
              <a:alpha val="80000"/>
            </a:schemeClr>
          </a:solidFill>
        </p:spPr>
        <p:txBody>
          <a:bodyPr wrap="square" rtlCol="0">
            <a:spAutoFit/>
          </a:bodyPr>
          <a:lstStyle/>
          <a:p>
            <a:r>
              <a:rPr lang="en-US" sz="2000" b="1" dirty="0">
                <a:latin typeface="Futura Std Medium" panose="020B0502020204020303" pitchFamily="34" charset="0"/>
              </a:rPr>
              <a:t>Activating the Austin/Division Bus Terminal Site &amp;  Environs</a:t>
            </a:r>
          </a:p>
        </p:txBody>
      </p:sp>
      <p:pic>
        <p:nvPicPr>
          <p:cNvPr id="3" name="Picture 2">
            <a:extLst>
              <a:ext uri="{FF2B5EF4-FFF2-40B4-BE49-F238E27FC236}">
                <a16:creationId xmlns:a16="http://schemas.microsoft.com/office/drawing/2014/main" id="{44B70BC4-DBD9-40A7-B507-F650623FEC50}"/>
              </a:ext>
            </a:extLst>
          </p:cNvPr>
          <p:cNvPicPr>
            <a:picLocks noChangeAspect="1"/>
          </p:cNvPicPr>
          <p:nvPr/>
        </p:nvPicPr>
        <p:blipFill>
          <a:blip r:embed="rId6"/>
          <a:stretch>
            <a:fillRect/>
          </a:stretch>
        </p:blipFill>
        <p:spPr>
          <a:xfrm>
            <a:off x="10527363" y="6035040"/>
            <a:ext cx="642514" cy="484916"/>
          </a:xfrm>
          <a:prstGeom prst="rect">
            <a:avLst/>
          </a:prstGeom>
        </p:spPr>
      </p:pic>
    </p:spTree>
    <p:extLst>
      <p:ext uri="{BB962C8B-B14F-4D97-AF65-F5344CB8AC3E}">
        <p14:creationId xmlns:p14="http://schemas.microsoft.com/office/powerpoint/2010/main" val="2311133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4" name="Picture 3">
            <a:extLst>
              <a:ext uri="{FF2B5EF4-FFF2-40B4-BE49-F238E27FC236}">
                <a16:creationId xmlns:a16="http://schemas.microsoft.com/office/drawing/2014/main" id="{DB7E4DB6-B94F-46DB-BE1B-BB4A9B4D01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95400" y="274760"/>
            <a:ext cx="9601200" cy="6308481"/>
          </a:xfrm>
          <a:prstGeom prst="rect">
            <a:avLst/>
          </a:prstGeom>
        </p:spPr>
      </p:pic>
      <p:sp>
        <p:nvSpPr>
          <p:cNvPr id="10" name="Rectangle 9">
            <a:extLst>
              <a:ext uri="{FF2B5EF4-FFF2-40B4-BE49-F238E27FC236}">
                <a16:creationId xmlns:a16="http://schemas.microsoft.com/office/drawing/2014/main" id="{A93EA91B-2F22-426B-B0C2-824139BF40F5}"/>
              </a:ext>
            </a:extLst>
          </p:cNvPr>
          <p:cNvSpPr/>
          <p:nvPr/>
        </p:nvSpPr>
        <p:spPr>
          <a:xfrm>
            <a:off x="7803446" y="195839"/>
            <a:ext cx="4278064" cy="369332"/>
          </a:xfrm>
          <a:prstGeom prst="rect">
            <a:avLst/>
          </a:prstGeom>
        </p:spPr>
        <p:txBody>
          <a:bodyPr wrap="square">
            <a:spAutoFit/>
          </a:bodyPr>
          <a:lstStyle/>
          <a:p>
            <a:r>
              <a:rPr lang="en-US" b="1" dirty="0">
                <a:latin typeface="Myriad Pro" panose="020B0503030403020204" pitchFamily="34" charset="0"/>
                <a:ea typeface="Calibri" panose="020F0502020204030204" pitchFamily="34" charset="0"/>
                <a:cs typeface="Times New Roman" panose="02020603050405020304" pitchFamily="18" charset="0"/>
              </a:rPr>
              <a:t>Study Area: ¼-mile buffer from terminal</a:t>
            </a:r>
            <a:endParaRPr lang="en-US" b="1" dirty="0">
              <a:latin typeface="Myriad Pro" panose="020B0503030403020204" pitchFamily="34" charset="0"/>
            </a:endParaRPr>
          </a:p>
        </p:txBody>
      </p:sp>
    </p:spTree>
    <p:extLst>
      <p:ext uri="{BB962C8B-B14F-4D97-AF65-F5344CB8AC3E}">
        <p14:creationId xmlns:p14="http://schemas.microsoft.com/office/powerpoint/2010/main" val="1173954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6" name="Picture 5">
            <a:extLst>
              <a:ext uri="{FF2B5EF4-FFF2-40B4-BE49-F238E27FC236}">
                <a16:creationId xmlns:a16="http://schemas.microsoft.com/office/drawing/2014/main" id="{ADA0C6D4-EA73-4AFD-94F1-9C404FDCD8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400" y="274861"/>
            <a:ext cx="9601200" cy="6308278"/>
          </a:xfrm>
          <a:prstGeom prst="rect">
            <a:avLst/>
          </a:prstGeom>
        </p:spPr>
      </p:pic>
      <p:sp>
        <p:nvSpPr>
          <p:cNvPr id="10" name="Rectangle 9">
            <a:extLst>
              <a:ext uri="{FF2B5EF4-FFF2-40B4-BE49-F238E27FC236}">
                <a16:creationId xmlns:a16="http://schemas.microsoft.com/office/drawing/2014/main" id="{A93EA91B-2F22-426B-B0C2-824139BF40F5}"/>
              </a:ext>
            </a:extLst>
          </p:cNvPr>
          <p:cNvSpPr/>
          <p:nvPr/>
        </p:nvSpPr>
        <p:spPr>
          <a:xfrm>
            <a:off x="7803446" y="195839"/>
            <a:ext cx="4038600" cy="369332"/>
          </a:xfrm>
          <a:prstGeom prst="rect">
            <a:avLst/>
          </a:prstGeom>
        </p:spPr>
        <p:txBody>
          <a:bodyPr wrap="square">
            <a:spAutoFit/>
          </a:bodyPr>
          <a:lstStyle/>
          <a:p>
            <a:r>
              <a:rPr lang="en-US" b="1" dirty="0">
                <a:latin typeface="Myriad Pro" panose="020B0503030403020204" pitchFamily="34" charset="0"/>
                <a:ea typeface="Calibri" panose="020F0502020204030204" pitchFamily="34" charset="0"/>
                <a:cs typeface="Times New Roman" panose="02020603050405020304" pitchFamily="18" charset="0"/>
              </a:rPr>
              <a:t>Study Area: The Division St corridor</a:t>
            </a:r>
            <a:endParaRPr lang="en-US" b="1" dirty="0">
              <a:latin typeface="Myriad Pro" panose="020B0503030403020204" pitchFamily="34" charset="0"/>
            </a:endParaRPr>
          </a:p>
        </p:txBody>
      </p:sp>
    </p:spTree>
    <p:extLst>
      <p:ext uri="{BB962C8B-B14F-4D97-AF65-F5344CB8AC3E}">
        <p14:creationId xmlns:p14="http://schemas.microsoft.com/office/powerpoint/2010/main" val="27911677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234" name="Shape 234"/>
          <p:cNvPicPr preferRelativeResize="0"/>
          <p:nvPr/>
        </p:nvPicPr>
        <p:blipFill rotWithShape="1">
          <a:blip r:embed="rId3">
            <a:alphaModFix/>
          </a:blip>
          <a:srcRect l="66233" t="12309" r="25650" b="46658"/>
          <a:stretch/>
        </p:blipFill>
        <p:spPr>
          <a:xfrm>
            <a:off x="0" y="1"/>
            <a:ext cx="12192000" cy="723900"/>
          </a:xfrm>
          <a:prstGeom prst="rect">
            <a:avLst/>
          </a:prstGeom>
          <a:noFill/>
          <a:ln>
            <a:noFill/>
          </a:ln>
        </p:spPr>
      </p:pic>
      <p:sp>
        <p:nvSpPr>
          <p:cNvPr id="6" name="TextBox 5">
            <a:extLst>
              <a:ext uri="{FF2B5EF4-FFF2-40B4-BE49-F238E27FC236}">
                <a16:creationId xmlns:a16="http://schemas.microsoft.com/office/drawing/2014/main" id="{60F6B6E5-0466-449B-8362-A7F74E18DB90}"/>
              </a:ext>
            </a:extLst>
          </p:cNvPr>
          <p:cNvSpPr txBox="1"/>
          <p:nvPr/>
        </p:nvSpPr>
        <p:spPr>
          <a:xfrm>
            <a:off x="0" y="48110"/>
            <a:ext cx="12191999" cy="584775"/>
          </a:xfrm>
          <a:prstGeom prst="rect">
            <a:avLst/>
          </a:prstGeom>
          <a:noFill/>
        </p:spPr>
        <p:txBody>
          <a:bodyPr wrap="square" rtlCol="0">
            <a:spAutoFit/>
          </a:bodyPr>
          <a:lstStyle/>
          <a:p>
            <a:r>
              <a:rPr lang="en-US" sz="3200" dirty="0">
                <a:solidFill>
                  <a:schemeClr val="bg1"/>
                </a:solidFill>
                <a:latin typeface="Franklin Gothic Demi Cond" panose="020B0706030402020204" pitchFamily="34" charset="0"/>
              </a:rPr>
              <a:t>AUSTIN &amp; DIVISION BUS TERMINAL</a:t>
            </a:r>
          </a:p>
        </p:txBody>
      </p:sp>
      <p:pic>
        <p:nvPicPr>
          <p:cNvPr id="11" name="Picture 10">
            <a:extLst>
              <a:ext uri="{FF2B5EF4-FFF2-40B4-BE49-F238E27FC236}">
                <a16:creationId xmlns:a16="http://schemas.microsoft.com/office/drawing/2014/main" id="{0D2B3E79-A64D-4436-B956-5DD15BC006BB}"/>
              </a:ext>
            </a:extLst>
          </p:cNvPr>
          <p:cNvPicPr>
            <a:picLocks noChangeAspect="1"/>
          </p:cNvPicPr>
          <p:nvPr/>
        </p:nvPicPr>
        <p:blipFill rotWithShape="1">
          <a:blip r:embed="rId4"/>
          <a:srcRect l="16082" r="18663"/>
          <a:stretch/>
        </p:blipFill>
        <p:spPr>
          <a:xfrm>
            <a:off x="430073" y="1120053"/>
            <a:ext cx="7955862" cy="5303908"/>
          </a:xfrm>
          <a:prstGeom prst="rect">
            <a:avLst/>
          </a:prstGeom>
        </p:spPr>
      </p:pic>
      <p:sp>
        <p:nvSpPr>
          <p:cNvPr id="7" name="TextBox 6">
            <a:extLst>
              <a:ext uri="{FF2B5EF4-FFF2-40B4-BE49-F238E27FC236}">
                <a16:creationId xmlns:a16="http://schemas.microsoft.com/office/drawing/2014/main" id="{50A98196-2AA1-4487-ACAA-D53091A77AE9}"/>
              </a:ext>
            </a:extLst>
          </p:cNvPr>
          <p:cNvSpPr txBox="1"/>
          <p:nvPr/>
        </p:nvSpPr>
        <p:spPr>
          <a:xfrm>
            <a:off x="195353" y="6532564"/>
            <a:ext cx="5680722" cy="338554"/>
          </a:xfrm>
          <a:prstGeom prst="rect">
            <a:avLst/>
          </a:prstGeom>
          <a:noFill/>
        </p:spPr>
        <p:txBody>
          <a:bodyPr wrap="none" rtlCol="0">
            <a:spAutoFit/>
          </a:bodyPr>
          <a:lstStyle/>
          <a:p>
            <a:r>
              <a:rPr lang="en-US" sz="1600" i="1" dirty="0"/>
              <a:t>Image sources:  C. Scott Smith, 2019 (above); Google Maps (right) </a:t>
            </a:r>
          </a:p>
        </p:txBody>
      </p:sp>
      <p:sp>
        <p:nvSpPr>
          <p:cNvPr id="12" name="Rectangle 11">
            <a:extLst>
              <a:ext uri="{FF2B5EF4-FFF2-40B4-BE49-F238E27FC236}">
                <a16:creationId xmlns:a16="http://schemas.microsoft.com/office/drawing/2014/main" id="{49592203-5D27-4B49-80AA-56A23E4BBC13}"/>
              </a:ext>
            </a:extLst>
          </p:cNvPr>
          <p:cNvSpPr/>
          <p:nvPr/>
        </p:nvSpPr>
        <p:spPr>
          <a:xfrm>
            <a:off x="8674769" y="1032459"/>
            <a:ext cx="3356811" cy="3416320"/>
          </a:xfrm>
          <a:prstGeom prst="rect">
            <a:avLst/>
          </a:prstGeom>
        </p:spPr>
        <p:txBody>
          <a:bodyPr wrap="square">
            <a:spAutoFit/>
          </a:bodyPr>
          <a:lstStyle/>
          <a:p>
            <a:r>
              <a:rPr lang="en-US" b="1" u="sng" dirty="0">
                <a:latin typeface="Calibri" panose="020F0502020204030204" pitchFamily="34" charset="0"/>
                <a:ea typeface="Tahoma" panose="020B0604030504040204" pitchFamily="34" charset="0"/>
              </a:rPr>
              <a:t>Route/Terminal History</a:t>
            </a:r>
          </a:p>
          <a:p>
            <a:r>
              <a:rPr lang="en-US" dirty="0">
                <a:latin typeface="Calibri" panose="020F0502020204030204" pitchFamily="34" charset="0"/>
                <a:ea typeface="Tahoma" panose="020B0604030504040204" pitchFamily="34" charset="0"/>
              </a:rPr>
              <a:t>Segments of the Division St corridor have been serviced by public transit since 1886. The route was gradually converted to electric streetcar which, by 1915, was extended west to its present terminus at Austin Blvd. </a:t>
            </a:r>
            <a:endParaRPr lang="en-US" b="1" dirty="0">
              <a:latin typeface="Calibri" panose="020F0502020204030204" pitchFamily="34" charset="0"/>
              <a:ea typeface="Tahoma" panose="020B0604030504040204" pitchFamily="34" charset="0"/>
            </a:endParaRPr>
          </a:p>
          <a:p>
            <a:endParaRPr lang="en-US" b="1" dirty="0">
              <a:latin typeface="Calibri" panose="020F0502020204030204" pitchFamily="34" charset="0"/>
              <a:ea typeface="Tahoma" panose="020B0604030504040204" pitchFamily="34" charset="0"/>
            </a:endParaRPr>
          </a:p>
          <a:p>
            <a:r>
              <a:rPr lang="en-US" b="1" u="sng" dirty="0">
                <a:latin typeface="Calibri" panose="020F0502020204030204" pitchFamily="34" charset="0"/>
                <a:ea typeface="Tahoma" panose="020B0604030504040204" pitchFamily="34" charset="0"/>
              </a:rPr>
              <a:t>Current CTA Bus Routes</a:t>
            </a:r>
          </a:p>
          <a:p>
            <a:r>
              <a:rPr lang="en-US" b="1" dirty="0">
                <a:latin typeface="Calibri" panose="020F0502020204030204" pitchFamily="34" charset="0"/>
                <a:ea typeface="Tahoma" panose="020B0604030504040204" pitchFamily="34" charset="0"/>
              </a:rPr>
              <a:t>#70 Division St</a:t>
            </a:r>
          </a:p>
          <a:p>
            <a:r>
              <a:rPr lang="en-US" b="1" dirty="0">
                <a:latin typeface="Calibri" panose="020F0502020204030204" pitchFamily="34" charset="0"/>
                <a:ea typeface="Tahoma" panose="020B0604030504040204" pitchFamily="34" charset="0"/>
              </a:rPr>
              <a:t>#91 Austin Blvd</a:t>
            </a:r>
          </a:p>
        </p:txBody>
      </p:sp>
      <p:pic>
        <p:nvPicPr>
          <p:cNvPr id="2" name="Picture 1">
            <a:extLst>
              <a:ext uri="{FF2B5EF4-FFF2-40B4-BE49-F238E27FC236}">
                <a16:creationId xmlns:a16="http://schemas.microsoft.com/office/drawing/2014/main" id="{9FCA71B5-794B-4AE2-A7A1-F15268BD8206}"/>
              </a:ext>
            </a:extLst>
          </p:cNvPr>
          <p:cNvPicPr>
            <a:picLocks noChangeAspect="1"/>
          </p:cNvPicPr>
          <p:nvPr/>
        </p:nvPicPr>
        <p:blipFill rotWithShape="1">
          <a:blip r:embed="rId5"/>
          <a:srcRect t="13097" b="5649"/>
          <a:stretch/>
        </p:blipFill>
        <p:spPr>
          <a:xfrm>
            <a:off x="8981574" y="4584270"/>
            <a:ext cx="2743200" cy="1839691"/>
          </a:xfrm>
          <a:prstGeom prst="rect">
            <a:avLst/>
          </a:prstGeom>
        </p:spPr>
      </p:pic>
    </p:spTree>
    <p:extLst>
      <p:ext uri="{BB962C8B-B14F-4D97-AF65-F5344CB8AC3E}">
        <p14:creationId xmlns:p14="http://schemas.microsoft.com/office/powerpoint/2010/main" val="1034464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234" name="Shape 234"/>
          <p:cNvPicPr preferRelativeResize="0"/>
          <p:nvPr/>
        </p:nvPicPr>
        <p:blipFill rotWithShape="1">
          <a:blip r:embed="rId3">
            <a:alphaModFix/>
          </a:blip>
          <a:srcRect l="66233" t="12309" r="25650" b="46658"/>
          <a:stretch/>
        </p:blipFill>
        <p:spPr>
          <a:xfrm>
            <a:off x="0" y="1"/>
            <a:ext cx="12192000" cy="723900"/>
          </a:xfrm>
          <a:prstGeom prst="rect">
            <a:avLst/>
          </a:prstGeom>
          <a:noFill/>
          <a:ln>
            <a:noFill/>
          </a:ln>
        </p:spPr>
      </p:pic>
      <p:sp>
        <p:nvSpPr>
          <p:cNvPr id="6" name="TextBox 5">
            <a:extLst>
              <a:ext uri="{FF2B5EF4-FFF2-40B4-BE49-F238E27FC236}">
                <a16:creationId xmlns:a16="http://schemas.microsoft.com/office/drawing/2014/main" id="{60F6B6E5-0466-449B-8362-A7F74E18DB90}"/>
              </a:ext>
            </a:extLst>
          </p:cNvPr>
          <p:cNvSpPr txBox="1"/>
          <p:nvPr/>
        </p:nvSpPr>
        <p:spPr>
          <a:xfrm>
            <a:off x="0" y="48110"/>
            <a:ext cx="12191999" cy="584775"/>
          </a:xfrm>
          <a:prstGeom prst="rect">
            <a:avLst/>
          </a:prstGeom>
          <a:noFill/>
        </p:spPr>
        <p:txBody>
          <a:bodyPr wrap="square" rtlCol="0">
            <a:spAutoFit/>
          </a:bodyPr>
          <a:lstStyle/>
          <a:p>
            <a:r>
              <a:rPr lang="en-US" sz="3200" dirty="0">
                <a:solidFill>
                  <a:schemeClr val="bg1"/>
                </a:solidFill>
                <a:latin typeface="Franklin Gothic Demi Cond" panose="020B0706030402020204" pitchFamily="34" charset="0"/>
              </a:rPr>
              <a:t>AUSTIN &amp; DIVISION BUS TERMINAL</a:t>
            </a:r>
          </a:p>
        </p:txBody>
      </p:sp>
      <p:sp>
        <p:nvSpPr>
          <p:cNvPr id="8" name="Rectangle 7">
            <a:extLst>
              <a:ext uri="{FF2B5EF4-FFF2-40B4-BE49-F238E27FC236}">
                <a16:creationId xmlns:a16="http://schemas.microsoft.com/office/drawing/2014/main" id="{AE81B747-8CBE-4F27-B175-B85E24D7CFF0}"/>
              </a:ext>
            </a:extLst>
          </p:cNvPr>
          <p:cNvSpPr/>
          <p:nvPr/>
        </p:nvSpPr>
        <p:spPr>
          <a:xfrm>
            <a:off x="8674769" y="1020661"/>
            <a:ext cx="3356811" cy="1477328"/>
          </a:xfrm>
          <a:prstGeom prst="rect">
            <a:avLst/>
          </a:prstGeom>
        </p:spPr>
        <p:txBody>
          <a:bodyPr wrap="square">
            <a:spAutoFit/>
          </a:bodyPr>
          <a:lstStyle/>
          <a:p>
            <a:r>
              <a:rPr lang="en-US" i="1" dirty="0"/>
              <a:t>Looking southwest across large planter and eastern shelter. Multifamily residential building adjacent to south lot line in background</a:t>
            </a:r>
            <a:r>
              <a:rPr lang="en-US" i="1" dirty="0">
                <a:latin typeface="Calibri" panose="020F0502020204030204" pitchFamily="34" charset="0"/>
                <a:ea typeface="Tahoma" panose="020B0604030504040204" pitchFamily="34" charset="0"/>
              </a:rPr>
              <a:t>.</a:t>
            </a:r>
            <a:endParaRPr lang="en-US" b="1" i="1" dirty="0">
              <a:latin typeface="Calibri" panose="020F0502020204030204" pitchFamily="34" charset="0"/>
              <a:ea typeface="Tahoma" panose="020B0604030504040204" pitchFamily="34" charset="0"/>
            </a:endParaRPr>
          </a:p>
        </p:txBody>
      </p:sp>
      <p:pic>
        <p:nvPicPr>
          <p:cNvPr id="9" name="Picture 8">
            <a:extLst>
              <a:ext uri="{FF2B5EF4-FFF2-40B4-BE49-F238E27FC236}">
                <a16:creationId xmlns:a16="http://schemas.microsoft.com/office/drawing/2014/main" id="{F88B8129-5AF3-4055-A66D-29EBB157F6BB}"/>
              </a:ext>
            </a:extLst>
          </p:cNvPr>
          <p:cNvPicPr>
            <a:picLocks noChangeAspect="1"/>
          </p:cNvPicPr>
          <p:nvPr/>
        </p:nvPicPr>
        <p:blipFill rotWithShape="1">
          <a:blip r:embed="rId4">
            <a:extLst>
              <a:ext uri="{28A0092B-C50C-407E-A947-70E740481C1C}">
                <a14:useLocalDpi xmlns:a14="http://schemas.microsoft.com/office/drawing/2010/main" val="0"/>
              </a:ext>
            </a:extLst>
          </a:blip>
          <a:srcRect t="5556" b="5556"/>
          <a:stretch/>
        </p:blipFill>
        <p:spPr>
          <a:xfrm>
            <a:off x="370514" y="1020661"/>
            <a:ext cx="8229600" cy="5486400"/>
          </a:xfrm>
          <a:prstGeom prst="rect">
            <a:avLst/>
          </a:prstGeom>
        </p:spPr>
      </p:pic>
      <p:sp>
        <p:nvSpPr>
          <p:cNvPr id="7" name="TextBox 6">
            <a:extLst>
              <a:ext uri="{FF2B5EF4-FFF2-40B4-BE49-F238E27FC236}">
                <a16:creationId xmlns:a16="http://schemas.microsoft.com/office/drawing/2014/main" id="{468FD994-1BC0-4C50-BFEF-7CB5F64F0B30}"/>
              </a:ext>
            </a:extLst>
          </p:cNvPr>
          <p:cNvSpPr txBox="1"/>
          <p:nvPr/>
        </p:nvSpPr>
        <p:spPr>
          <a:xfrm>
            <a:off x="195353" y="6532564"/>
            <a:ext cx="3105402" cy="338554"/>
          </a:xfrm>
          <a:prstGeom prst="rect">
            <a:avLst/>
          </a:prstGeom>
          <a:noFill/>
        </p:spPr>
        <p:txBody>
          <a:bodyPr wrap="none" rtlCol="0">
            <a:spAutoFit/>
          </a:bodyPr>
          <a:lstStyle/>
          <a:p>
            <a:r>
              <a:rPr lang="en-US" sz="1600" i="1" dirty="0"/>
              <a:t>Image source:  C. Scott Smith, 2019</a:t>
            </a:r>
          </a:p>
        </p:txBody>
      </p:sp>
    </p:spTree>
    <p:extLst>
      <p:ext uri="{BB962C8B-B14F-4D97-AF65-F5344CB8AC3E}">
        <p14:creationId xmlns:p14="http://schemas.microsoft.com/office/powerpoint/2010/main" val="14450756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234" name="Shape 234"/>
          <p:cNvPicPr preferRelativeResize="0"/>
          <p:nvPr/>
        </p:nvPicPr>
        <p:blipFill rotWithShape="1">
          <a:blip r:embed="rId3">
            <a:alphaModFix/>
          </a:blip>
          <a:srcRect l="66233" t="12309" r="25650" b="46658"/>
          <a:stretch/>
        </p:blipFill>
        <p:spPr>
          <a:xfrm>
            <a:off x="0" y="1"/>
            <a:ext cx="12192000" cy="723900"/>
          </a:xfrm>
          <a:prstGeom prst="rect">
            <a:avLst/>
          </a:prstGeom>
          <a:noFill/>
          <a:ln>
            <a:noFill/>
          </a:ln>
        </p:spPr>
      </p:pic>
      <p:sp>
        <p:nvSpPr>
          <p:cNvPr id="6" name="TextBox 5">
            <a:extLst>
              <a:ext uri="{FF2B5EF4-FFF2-40B4-BE49-F238E27FC236}">
                <a16:creationId xmlns:a16="http://schemas.microsoft.com/office/drawing/2014/main" id="{60F6B6E5-0466-449B-8362-A7F74E18DB90}"/>
              </a:ext>
            </a:extLst>
          </p:cNvPr>
          <p:cNvSpPr txBox="1"/>
          <p:nvPr/>
        </p:nvSpPr>
        <p:spPr>
          <a:xfrm>
            <a:off x="0" y="48110"/>
            <a:ext cx="12191999" cy="584775"/>
          </a:xfrm>
          <a:prstGeom prst="rect">
            <a:avLst/>
          </a:prstGeom>
          <a:noFill/>
        </p:spPr>
        <p:txBody>
          <a:bodyPr wrap="square" rtlCol="0">
            <a:spAutoFit/>
          </a:bodyPr>
          <a:lstStyle/>
          <a:p>
            <a:r>
              <a:rPr lang="en-US" sz="3200" dirty="0">
                <a:solidFill>
                  <a:schemeClr val="bg1"/>
                </a:solidFill>
                <a:latin typeface="Franklin Gothic Demi Cond" panose="020B0706030402020204" pitchFamily="34" charset="0"/>
              </a:rPr>
              <a:t>AUSTIN &amp; DIVISION BUS TERMINAL</a:t>
            </a:r>
          </a:p>
        </p:txBody>
      </p:sp>
      <p:sp>
        <p:nvSpPr>
          <p:cNvPr id="8" name="Rectangle 7">
            <a:extLst>
              <a:ext uri="{FF2B5EF4-FFF2-40B4-BE49-F238E27FC236}">
                <a16:creationId xmlns:a16="http://schemas.microsoft.com/office/drawing/2014/main" id="{AE81B747-8CBE-4F27-B175-B85E24D7CFF0}"/>
              </a:ext>
            </a:extLst>
          </p:cNvPr>
          <p:cNvSpPr/>
          <p:nvPr/>
        </p:nvSpPr>
        <p:spPr>
          <a:xfrm>
            <a:off x="8674769" y="1020661"/>
            <a:ext cx="3356811" cy="1477328"/>
          </a:xfrm>
          <a:prstGeom prst="rect">
            <a:avLst/>
          </a:prstGeom>
        </p:spPr>
        <p:txBody>
          <a:bodyPr wrap="square">
            <a:spAutoFit/>
          </a:bodyPr>
          <a:lstStyle/>
          <a:p>
            <a:r>
              <a:rPr lang="en-US" i="1" dirty="0">
                <a:latin typeface="Calibri" panose="020F0502020204030204" pitchFamily="34" charset="0"/>
                <a:ea typeface="Tahoma" panose="020B0604030504040204" pitchFamily="34" charset="0"/>
              </a:rPr>
              <a:t>Looking east along Division at eastern shelter, dumpster and waffle-style bike rack against brick structure. Mixed use building in background.</a:t>
            </a:r>
            <a:endParaRPr lang="en-US" b="1" i="1" dirty="0">
              <a:latin typeface="Calibri" panose="020F0502020204030204" pitchFamily="34" charset="0"/>
              <a:ea typeface="Tahoma" panose="020B0604030504040204" pitchFamily="34" charset="0"/>
            </a:endParaRPr>
          </a:p>
        </p:txBody>
      </p:sp>
      <p:pic>
        <p:nvPicPr>
          <p:cNvPr id="7" name="Picture 6">
            <a:extLst>
              <a:ext uri="{FF2B5EF4-FFF2-40B4-BE49-F238E27FC236}">
                <a16:creationId xmlns:a16="http://schemas.microsoft.com/office/drawing/2014/main" id="{106373CD-3F08-4237-B4FA-5925B8049BB4}"/>
              </a:ext>
            </a:extLst>
          </p:cNvPr>
          <p:cNvPicPr>
            <a:picLocks noChangeAspect="1"/>
          </p:cNvPicPr>
          <p:nvPr/>
        </p:nvPicPr>
        <p:blipFill rotWithShape="1">
          <a:blip r:embed="rId4">
            <a:extLst>
              <a:ext uri="{28A0092B-C50C-407E-A947-70E740481C1C}">
                <a14:useLocalDpi xmlns:a14="http://schemas.microsoft.com/office/drawing/2010/main" val="0"/>
              </a:ext>
            </a:extLst>
          </a:blip>
          <a:srcRect t="5556" b="5556"/>
          <a:stretch/>
        </p:blipFill>
        <p:spPr>
          <a:xfrm>
            <a:off x="311791" y="1020661"/>
            <a:ext cx="8229600" cy="5486400"/>
          </a:xfrm>
          <a:prstGeom prst="rect">
            <a:avLst/>
          </a:prstGeom>
        </p:spPr>
      </p:pic>
      <p:sp>
        <p:nvSpPr>
          <p:cNvPr id="9" name="TextBox 8">
            <a:extLst>
              <a:ext uri="{FF2B5EF4-FFF2-40B4-BE49-F238E27FC236}">
                <a16:creationId xmlns:a16="http://schemas.microsoft.com/office/drawing/2014/main" id="{25C8ABFC-3269-480A-AE83-1D1DA0C7EF28}"/>
              </a:ext>
            </a:extLst>
          </p:cNvPr>
          <p:cNvSpPr txBox="1"/>
          <p:nvPr/>
        </p:nvSpPr>
        <p:spPr>
          <a:xfrm>
            <a:off x="195353" y="6532564"/>
            <a:ext cx="3105402" cy="338554"/>
          </a:xfrm>
          <a:prstGeom prst="rect">
            <a:avLst/>
          </a:prstGeom>
          <a:noFill/>
        </p:spPr>
        <p:txBody>
          <a:bodyPr wrap="none" rtlCol="0">
            <a:spAutoFit/>
          </a:bodyPr>
          <a:lstStyle/>
          <a:p>
            <a:r>
              <a:rPr lang="en-US" sz="1600" i="1" dirty="0"/>
              <a:t>Image source:  C. Scott Smith, 2019</a:t>
            </a:r>
          </a:p>
        </p:txBody>
      </p:sp>
    </p:spTree>
    <p:extLst>
      <p:ext uri="{BB962C8B-B14F-4D97-AF65-F5344CB8AC3E}">
        <p14:creationId xmlns:p14="http://schemas.microsoft.com/office/powerpoint/2010/main" val="26082548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234" name="Shape 234"/>
          <p:cNvPicPr preferRelativeResize="0"/>
          <p:nvPr/>
        </p:nvPicPr>
        <p:blipFill rotWithShape="1">
          <a:blip r:embed="rId3">
            <a:alphaModFix/>
          </a:blip>
          <a:srcRect l="66233" t="12309" r="25650" b="46658"/>
          <a:stretch/>
        </p:blipFill>
        <p:spPr>
          <a:xfrm>
            <a:off x="0" y="1"/>
            <a:ext cx="12192000" cy="723900"/>
          </a:xfrm>
          <a:prstGeom prst="rect">
            <a:avLst/>
          </a:prstGeom>
          <a:noFill/>
          <a:ln>
            <a:noFill/>
          </a:ln>
        </p:spPr>
      </p:pic>
      <p:sp>
        <p:nvSpPr>
          <p:cNvPr id="6" name="TextBox 5">
            <a:extLst>
              <a:ext uri="{FF2B5EF4-FFF2-40B4-BE49-F238E27FC236}">
                <a16:creationId xmlns:a16="http://schemas.microsoft.com/office/drawing/2014/main" id="{60F6B6E5-0466-449B-8362-A7F74E18DB90}"/>
              </a:ext>
            </a:extLst>
          </p:cNvPr>
          <p:cNvSpPr txBox="1"/>
          <p:nvPr/>
        </p:nvSpPr>
        <p:spPr>
          <a:xfrm>
            <a:off x="0" y="48110"/>
            <a:ext cx="12191999" cy="584775"/>
          </a:xfrm>
          <a:prstGeom prst="rect">
            <a:avLst/>
          </a:prstGeom>
          <a:noFill/>
        </p:spPr>
        <p:txBody>
          <a:bodyPr wrap="square" rtlCol="0">
            <a:spAutoFit/>
          </a:bodyPr>
          <a:lstStyle/>
          <a:p>
            <a:r>
              <a:rPr lang="en-US" sz="3200" dirty="0">
                <a:solidFill>
                  <a:schemeClr val="bg1"/>
                </a:solidFill>
                <a:latin typeface="Franklin Gothic Demi Cond" panose="020B0706030402020204" pitchFamily="34" charset="0"/>
              </a:rPr>
              <a:t>AUSTIN &amp; DIVISION BUS TERMINAL</a:t>
            </a:r>
          </a:p>
        </p:txBody>
      </p:sp>
      <p:sp>
        <p:nvSpPr>
          <p:cNvPr id="8" name="Rectangle 7">
            <a:extLst>
              <a:ext uri="{FF2B5EF4-FFF2-40B4-BE49-F238E27FC236}">
                <a16:creationId xmlns:a16="http://schemas.microsoft.com/office/drawing/2014/main" id="{AE81B747-8CBE-4F27-B175-B85E24D7CFF0}"/>
              </a:ext>
            </a:extLst>
          </p:cNvPr>
          <p:cNvSpPr/>
          <p:nvPr/>
        </p:nvSpPr>
        <p:spPr>
          <a:xfrm>
            <a:off x="9907398" y="1020661"/>
            <a:ext cx="2124182" cy="3139321"/>
          </a:xfrm>
          <a:prstGeom prst="rect">
            <a:avLst/>
          </a:prstGeom>
        </p:spPr>
        <p:txBody>
          <a:bodyPr wrap="square">
            <a:spAutoFit/>
          </a:bodyPr>
          <a:lstStyle/>
          <a:p>
            <a:r>
              <a:rPr lang="en-US" i="1" dirty="0"/>
              <a:t>Looking southwest across Austin Blvd at CTA #91 bus picking up passengers at bus stop traveling southbound.</a:t>
            </a:r>
            <a:endParaRPr lang="en-US" b="1" i="1" dirty="0">
              <a:latin typeface="Calibri" panose="020F0502020204030204" pitchFamily="34" charset="0"/>
              <a:ea typeface="Tahoma" panose="020B0604030504040204" pitchFamily="34" charset="0"/>
            </a:endParaRPr>
          </a:p>
          <a:p>
            <a:endParaRPr lang="en-US" b="1" i="1" dirty="0">
              <a:latin typeface="Calibri" panose="020F0502020204030204" pitchFamily="34" charset="0"/>
              <a:ea typeface="Tahoma" panose="020B0604030504040204" pitchFamily="34" charset="0"/>
            </a:endParaRPr>
          </a:p>
          <a:p>
            <a:r>
              <a:rPr lang="en-US" i="1" dirty="0"/>
              <a:t>Bus stop sign located on site showing CTA #70 Division route.</a:t>
            </a:r>
            <a:endParaRPr lang="en-US" b="1" i="1" dirty="0">
              <a:latin typeface="Calibri" panose="020F0502020204030204" pitchFamily="34" charset="0"/>
              <a:ea typeface="Tahoma" panose="020B0604030504040204" pitchFamily="34" charset="0"/>
            </a:endParaRPr>
          </a:p>
        </p:txBody>
      </p:sp>
      <p:pic>
        <p:nvPicPr>
          <p:cNvPr id="7" name="Picture 6">
            <a:extLst>
              <a:ext uri="{FF2B5EF4-FFF2-40B4-BE49-F238E27FC236}">
                <a16:creationId xmlns:a16="http://schemas.microsoft.com/office/drawing/2014/main" id="{6BFA08A9-F54F-4EB0-96F2-0559A2418CA0}"/>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13611"/>
          <a:stretch/>
        </p:blipFill>
        <p:spPr bwMode="auto">
          <a:xfrm rot="5400000">
            <a:off x="-70031" y="1432279"/>
            <a:ext cx="5265738" cy="4572000"/>
          </a:xfrm>
          <a:prstGeom prst="rect">
            <a:avLst/>
          </a:prstGeom>
          <a:ln>
            <a:noFill/>
          </a:ln>
          <a:extLst>
            <a:ext uri="{53640926-AAD7-44D8-BBD7-CCE9431645EC}">
              <a14:shadowObscured xmlns:a14="http://schemas.microsoft.com/office/drawing/2010/main"/>
            </a:ext>
          </a:extLst>
        </p:spPr>
      </p:pic>
      <p:pic>
        <p:nvPicPr>
          <p:cNvPr id="10" name="Picture 9">
            <a:extLst>
              <a:ext uri="{FF2B5EF4-FFF2-40B4-BE49-F238E27FC236}">
                <a16:creationId xmlns:a16="http://schemas.microsoft.com/office/drawing/2014/main" id="{E149B1DD-7CEC-4FDB-AC1A-E4BA89CE3468}"/>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r="14028"/>
          <a:stretch/>
        </p:blipFill>
        <p:spPr bwMode="auto">
          <a:xfrm rot="5400000">
            <a:off x="4722995" y="1419579"/>
            <a:ext cx="5240338" cy="4572000"/>
          </a:xfrm>
          <a:prstGeom prst="rect">
            <a:avLst/>
          </a:prstGeom>
          <a:ln>
            <a:noFill/>
          </a:ln>
          <a:extLst>
            <a:ext uri="{53640926-AAD7-44D8-BBD7-CCE9431645EC}">
              <a14:shadowObscured xmlns:a14="http://schemas.microsoft.com/office/drawing/2010/main"/>
            </a:ext>
          </a:extLst>
        </p:spPr>
      </p:pic>
      <p:sp>
        <p:nvSpPr>
          <p:cNvPr id="9" name="TextBox 8">
            <a:extLst>
              <a:ext uri="{FF2B5EF4-FFF2-40B4-BE49-F238E27FC236}">
                <a16:creationId xmlns:a16="http://schemas.microsoft.com/office/drawing/2014/main" id="{AE2ED312-2059-4261-A15D-A88777DA5899}"/>
              </a:ext>
            </a:extLst>
          </p:cNvPr>
          <p:cNvSpPr txBox="1"/>
          <p:nvPr/>
        </p:nvSpPr>
        <p:spPr>
          <a:xfrm>
            <a:off x="195353" y="6532564"/>
            <a:ext cx="3185552" cy="338554"/>
          </a:xfrm>
          <a:prstGeom prst="rect">
            <a:avLst/>
          </a:prstGeom>
          <a:noFill/>
        </p:spPr>
        <p:txBody>
          <a:bodyPr wrap="none" rtlCol="0">
            <a:spAutoFit/>
          </a:bodyPr>
          <a:lstStyle/>
          <a:p>
            <a:r>
              <a:rPr lang="en-US" sz="1600" i="1" dirty="0"/>
              <a:t>Image source:  C. Scott Smith, 2019</a:t>
            </a:r>
          </a:p>
        </p:txBody>
      </p:sp>
    </p:spTree>
    <p:extLst>
      <p:ext uri="{BB962C8B-B14F-4D97-AF65-F5344CB8AC3E}">
        <p14:creationId xmlns:p14="http://schemas.microsoft.com/office/powerpoint/2010/main" val="12288252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3" name="Picture 2">
            <a:extLst>
              <a:ext uri="{FF2B5EF4-FFF2-40B4-BE49-F238E27FC236}">
                <a16:creationId xmlns:a16="http://schemas.microsoft.com/office/drawing/2014/main" id="{69F0B249-A544-4651-B83F-3F9533FF5B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400" y="274861"/>
            <a:ext cx="9601200" cy="6308278"/>
          </a:xfrm>
          <a:prstGeom prst="rect">
            <a:avLst/>
          </a:prstGeom>
        </p:spPr>
      </p:pic>
      <p:sp>
        <p:nvSpPr>
          <p:cNvPr id="5" name="Rectangle 4">
            <a:extLst>
              <a:ext uri="{FF2B5EF4-FFF2-40B4-BE49-F238E27FC236}">
                <a16:creationId xmlns:a16="http://schemas.microsoft.com/office/drawing/2014/main" id="{6297391C-806D-4ED3-A16A-A4DE4C4D8428}"/>
              </a:ext>
            </a:extLst>
          </p:cNvPr>
          <p:cNvSpPr/>
          <p:nvPr/>
        </p:nvSpPr>
        <p:spPr>
          <a:xfrm>
            <a:off x="7803446" y="195839"/>
            <a:ext cx="4038600" cy="646331"/>
          </a:xfrm>
          <a:prstGeom prst="rect">
            <a:avLst/>
          </a:prstGeom>
        </p:spPr>
        <p:txBody>
          <a:bodyPr wrap="square">
            <a:spAutoFit/>
          </a:bodyPr>
          <a:lstStyle/>
          <a:p>
            <a:r>
              <a:rPr lang="en-US" b="1" dirty="0">
                <a:latin typeface="Myriad Pro" panose="020B0503030403020204" pitchFamily="34" charset="0"/>
                <a:ea typeface="Calibri" panose="020F0502020204030204" pitchFamily="34" charset="0"/>
                <a:cs typeface="Times New Roman" panose="02020603050405020304" pitchFamily="18" charset="0"/>
              </a:rPr>
              <a:t>Existing Land Use within ¼ mile of Austin &amp; Division Bus Terminal</a:t>
            </a:r>
            <a:endParaRPr lang="en-US" b="1" dirty="0">
              <a:latin typeface="Myriad Pro" panose="020B0503030403020204" pitchFamily="34" charset="0"/>
            </a:endParaRPr>
          </a:p>
        </p:txBody>
      </p:sp>
      <p:sp>
        <p:nvSpPr>
          <p:cNvPr id="7" name="TextBox 6">
            <a:extLst>
              <a:ext uri="{FF2B5EF4-FFF2-40B4-BE49-F238E27FC236}">
                <a16:creationId xmlns:a16="http://schemas.microsoft.com/office/drawing/2014/main" id="{D1FE6EB9-8F7E-4E3F-806A-1E9D1EBD8124}"/>
              </a:ext>
            </a:extLst>
          </p:cNvPr>
          <p:cNvSpPr txBox="1"/>
          <p:nvPr/>
        </p:nvSpPr>
        <p:spPr>
          <a:xfrm>
            <a:off x="1199207" y="6532564"/>
            <a:ext cx="2324675" cy="338554"/>
          </a:xfrm>
          <a:prstGeom prst="rect">
            <a:avLst/>
          </a:prstGeom>
          <a:noFill/>
        </p:spPr>
        <p:txBody>
          <a:bodyPr wrap="none" rtlCol="0">
            <a:spAutoFit/>
          </a:bodyPr>
          <a:lstStyle/>
          <a:p>
            <a:r>
              <a:rPr lang="en-US" sz="1600" i="1" dirty="0"/>
              <a:t>Data source:  CMAP, 2015</a:t>
            </a:r>
          </a:p>
        </p:txBody>
      </p:sp>
    </p:spTree>
    <p:extLst>
      <p:ext uri="{BB962C8B-B14F-4D97-AF65-F5344CB8AC3E}">
        <p14:creationId xmlns:p14="http://schemas.microsoft.com/office/powerpoint/2010/main" val="15661283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234" name="Shape 234"/>
          <p:cNvPicPr preferRelativeResize="0"/>
          <p:nvPr/>
        </p:nvPicPr>
        <p:blipFill rotWithShape="1">
          <a:blip r:embed="rId3">
            <a:alphaModFix/>
          </a:blip>
          <a:srcRect l="66233" t="12309" r="25650" b="46658"/>
          <a:stretch/>
        </p:blipFill>
        <p:spPr>
          <a:xfrm>
            <a:off x="0" y="1"/>
            <a:ext cx="12192000" cy="723900"/>
          </a:xfrm>
          <a:prstGeom prst="rect">
            <a:avLst/>
          </a:prstGeom>
          <a:noFill/>
          <a:ln>
            <a:noFill/>
          </a:ln>
        </p:spPr>
      </p:pic>
      <p:sp>
        <p:nvSpPr>
          <p:cNvPr id="6" name="TextBox 5">
            <a:extLst>
              <a:ext uri="{FF2B5EF4-FFF2-40B4-BE49-F238E27FC236}">
                <a16:creationId xmlns:a16="http://schemas.microsoft.com/office/drawing/2014/main" id="{60F6B6E5-0466-449B-8362-A7F74E18DB90}"/>
              </a:ext>
            </a:extLst>
          </p:cNvPr>
          <p:cNvSpPr txBox="1"/>
          <p:nvPr/>
        </p:nvSpPr>
        <p:spPr>
          <a:xfrm>
            <a:off x="0" y="48110"/>
            <a:ext cx="12191999" cy="584775"/>
          </a:xfrm>
          <a:prstGeom prst="rect">
            <a:avLst/>
          </a:prstGeom>
          <a:noFill/>
        </p:spPr>
        <p:txBody>
          <a:bodyPr wrap="square" rtlCol="0">
            <a:spAutoFit/>
          </a:bodyPr>
          <a:lstStyle/>
          <a:p>
            <a:r>
              <a:rPr lang="en-US" sz="3200" dirty="0">
                <a:solidFill>
                  <a:schemeClr val="bg1"/>
                </a:solidFill>
                <a:latin typeface="Franklin Gothic Demi Cond" panose="020B0706030402020204" pitchFamily="34" charset="0"/>
              </a:rPr>
              <a:t>DIVISION STREET STREETSCAPE</a:t>
            </a:r>
          </a:p>
        </p:txBody>
      </p:sp>
      <p:sp>
        <p:nvSpPr>
          <p:cNvPr id="8" name="Rectangle 7">
            <a:extLst>
              <a:ext uri="{FF2B5EF4-FFF2-40B4-BE49-F238E27FC236}">
                <a16:creationId xmlns:a16="http://schemas.microsoft.com/office/drawing/2014/main" id="{AE81B747-8CBE-4F27-B175-B85E24D7CFF0}"/>
              </a:ext>
            </a:extLst>
          </p:cNvPr>
          <p:cNvSpPr/>
          <p:nvPr/>
        </p:nvSpPr>
        <p:spPr>
          <a:xfrm>
            <a:off x="8674769" y="1020661"/>
            <a:ext cx="3356811" cy="2031325"/>
          </a:xfrm>
          <a:prstGeom prst="rect">
            <a:avLst/>
          </a:prstGeom>
        </p:spPr>
        <p:txBody>
          <a:bodyPr wrap="square">
            <a:spAutoFit/>
          </a:bodyPr>
          <a:lstStyle/>
          <a:p>
            <a:r>
              <a:rPr lang="en-US" i="1" dirty="0">
                <a:latin typeface="Calibri" panose="020F0502020204030204" pitchFamily="34" charset="0"/>
                <a:ea typeface="Tahoma" panose="020B0604030504040204" pitchFamily="34" charset="0"/>
              </a:rPr>
              <a:t>Looking east on Division  along neighborhood commercial strip occupied by independently-owned restaurant, retail food establishments, hair/nail salons and daycare, religious institutions.</a:t>
            </a:r>
            <a:endParaRPr lang="en-US" b="1" i="1" dirty="0">
              <a:latin typeface="Calibri" panose="020F0502020204030204" pitchFamily="34" charset="0"/>
              <a:ea typeface="Tahoma" panose="020B0604030504040204" pitchFamily="34" charset="0"/>
            </a:endParaRPr>
          </a:p>
        </p:txBody>
      </p:sp>
      <p:pic>
        <p:nvPicPr>
          <p:cNvPr id="2" name="Picture 1">
            <a:extLst>
              <a:ext uri="{FF2B5EF4-FFF2-40B4-BE49-F238E27FC236}">
                <a16:creationId xmlns:a16="http://schemas.microsoft.com/office/drawing/2014/main" id="{BDCC891C-FE13-4F1F-9B1D-D987C6C9EEE3}"/>
              </a:ext>
            </a:extLst>
          </p:cNvPr>
          <p:cNvPicPr>
            <a:picLocks noChangeAspect="1"/>
          </p:cNvPicPr>
          <p:nvPr/>
        </p:nvPicPr>
        <p:blipFill rotWithShape="1">
          <a:blip r:embed="rId4"/>
          <a:srcRect l="7579" r="7579"/>
          <a:stretch/>
        </p:blipFill>
        <p:spPr>
          <a:xfrm>
            <a:off x="312420" y="1089241"/>
            <a:ext cx="8229600" cy="5486400"/>
          </a:xfrm>
          <a:prstGeom prst="rect">
            <a:avLst/>
          </a:prstGeom>
        </p:spPr>
      </p:pic>
      <p:sp>
        <p:nvSpPr>
          <p:cNvPr id="7" name="TextBox 6">
            <a:extLst>
              <a:ext uri="{FF2B5EF4-FFF2-40B4-BE49-F238E27FC236}">
                <a16:creationId xmlns:a16="http://schemas.microsoft.com/office/drawing/2014/main" id="{E4F4CD7C-0D25-41F0-8525-AC253FF64E3C}"/>
              </a:ext>
            </a:extLst>
          </p:cNvPr>
          <p:cNvSpPr txBox="1"/>
          <p:nvPr/>
        </p:nvSpPr>
        <p:spPr>
          <a:xfrm>
            <a:off x="195353" y="6532564"/>
            <a:ext cx="4047262" cy="338554"/>
          </a:xfrm>
          <a:prstGeom prst="rect">
            <a:avLst/>
          </a:prstGeom>
          <a:noFill/>
        </p:spPr>
        <p:txBody>
          <a:bodyPr wrap="none" rtlCol="0">
            <a:spAutoFit/>
          </a:bodyPr>
          <a:lstStyle/>
          <a:p>
            <a:r>
              <a:rPr lang="en-US" sz="1600" i="1" dirty="0"/>
              <a:t>Image source:  Google Maps Street View, 2019</a:t>
            </a:r>
          </a:p>
        </p:txBody>
      </p:sp>
    </p:spTree>
    <p:extLst>
      <p:ext uri="{BB962C8B-B14F-4D97-AF65-F5344CB8AC3E}">
        <p14:creationId xmlns:p14="http://schemas.microsoft.com/office/powerpoint/2010/main" val="1106744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4" name="Picture 3">
            <a:extLst>
              <a:ext uri="{FF2B5EF4-FFF2-40B4-BE49-F238E27FC236}">
                <a16:creationId xmlns:a16="http://schemas.microsoft.com/office/drawing/2014/main" id="{812E3DD9-25DA-4136-9B90-5F65676308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400" y="274861"/>
            <a:ext cx="9601200" cy="6308278"/>
          </a:xfrm>
          <a:prstGeom prst="rect">
            <a:avLst/>
          </a:prstGeom>
        </p:spPr>
      </p:pic>
      <p:sp>
        <p:nvSpPr>
          <p:cNvPr id="5" name="Rectangle 4">
            <a:extLst>
              <a:ext uri="{FF2B5EF4-FFF2-40B4-BE49-F238E27FC236}">
                <a16:creationId xmlns:a16="http://schemas.microsoft.com/office/drawing/2014/main" id="{E096CF34-5D2E-4548-AE3D-09F7B58D68C9}"/>
              </a:ext>
            </a:extLst>
          </p:cNvPr>
          <p:cNvSpPr/>
          <p:nvPr/>
        </p:nvSpPr>
        <p:spPr>
          <a:xfrm>
            <a:off x="7803446" y="195839"/>
            <a:ext cx="4038600" cy="646331"/>
          </a:xfrm>
          <a:prstGeom prst="rect">
            <a:avLst/>
          </a:prstGeom>
        </p:spPr>
        <p:txBody>
          <a:bodyPr wrap="square">
            <a:spAutoFit/>
          </a:bodyPr>
          <a:lstStyle/>
          <a:p>
            <a:r>
              <a:rPr lang="en-US" b="1" dirty="0">
                <a:latin typeface="Myriad Pro" panose="020B0503030403020204" pitchFamily="34" charset="0"/>
                <a:ea typeface="Calibri" panose="020F0502020204030204" pitchFamily="34" charset="0"/>
                <a:cs typeface="Times New Roman" panose="02020603050405020304" pitchFamily="18" charset="0"/>
              </a:rPr>
              <a:t>Census Block Groups within ¼ mile of Austin &amp; Division Bus Terminal</a:t>
            </a:r>
            <a:endParaRPr lang="en-US" b="1" dirty="0">
              <a:latin typeface="Myriad Pro" panose="020B0503030403020204" pitchFamily="34" charset="0"/>
            </a:endParaRPr>
          </a:p>
        </p:txBody>
      </p:sp>
    </p:spTree>
    <p:extLst>
      <p:ext uri="{BB962C8B-B14F-4D97-AF65-F5344CB8AC3E}">
        <p14:creationId xmlns:p14="http://schemas.microsoft.com/office/powerpoint/2010/main" val="6384386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7" name="Shape 234">
            <a:extLst>
              <a:ext uri="{FF2B5EF4-FFF2-40B4-BE49-F238E27FC236}">
                <a16:creationId xmlns:a16="http://schemas.microsoft.com/office/drawing/2014/main" id="{DA73B5E3-EA2D-45DE-9C77-659F8D522878}"/>
              </a:ext>
            </a:extLst>
          </p:cNvPr>
          <p:cNvPicPr preferRelativeResize="0"/>
          <p:nvPr/>
        </p:nvPicPr>
        <p:blipFill rotWithShape="1">
          <a:blip r:embed="rId3">
            <a:alphaModFix/>
          </a:blip>
          <a:srcRect l="66233" t="12309" r="25650" b="46658"/>
          <a:stretch/>
        </p:blipFill>
        <p:spPr>
          <a:xfrm>
            <a:off x="0" y="1"/>
            <a:ext cx="12192000" cy="723900"/>
          </a:xfrm>
          <a:prstGeom prst="rect">
            <a:avLst/>
          </a:prstGeom>
          <a:noFill/>
          <a:ln>
            <a:noFill/>
          </a:ln>
        </p:spPr>
      </p:pic>
      <p:sp>
        <p:nvSpPr>
          <p:cNvPr id="8" name="TextBox 7">
            <a:extLst>
              <a:ext uri="{FF2B5EF4-FFF2-40B4-BE49-F238E27FC236}">
                <a16:creationId xmlns:a16="http://schemas.microsoft.com/office/drawing/2014/main" id="{071723E8-3066-4335-B7ED-0223B2FDE845}"/>
              </a:ext>
            </a:extLst>
          </p:cNvPr>
          <p:cNvSpPr txBox="1"/>
          <p:nvPr/>
        </p:nvSpPr>
        <p:spPr>
          <a:xfrm>
            <a:off x="0" y="48110"/>
            <a:ext cx="12191999" cy="1077218"/>
          </a:xfrm>
          <a:prstGeom prst="rect">
            <a:avLst/>
          </a:prstGeom>
          <a:noFill/>
        </p:spPr>
        <p:txBody>
          <a:bodyPr wrap="square" rtlCol="0">
            <a:spAutoFit/>
          </a:bodyPr>
          <a:lstStyle/>
          <a:p>
            <a:r>
              <a:rPr lang="en-US" sz="3200" dirty="0">
                <a:solidFill>
                  <a:schemeClr val="bg1"/>
                </a:solidFill>
                <a:latin typeface="Franklin Gothic Demi Cond" panose="020B0706030402020204" pitchFamily="34" charset="0"/>
              </a:rPr>
              <a:t>RACE, ETHNICITY AND INCOME CHARACTERISTICS</a:t>
            </a:r>
          </a:p>
          <a:p>
            <a:endParaRPr lang="en-US" sz="3200" dirty="0">
              <a:solidFill>
                <a:schemeClr val="bg1"/>
              </a:solidFill>
              <a:latin typeface="Franklin Gothic Demi Cond" panose="020B0706030402020204" pitchFamily="34" charset="0"/>
            </a:endParaRPr>
          </a:p>
        </p:txBody>
      </p:sp>
      <p:sp>
        <p:nvSpPr>
          <p:cNvPr id="9" name="TextBox 8">
            <a:extLst>
              <a:ext uri="{FF2B5EF4-FFF2-40B4-BE49-F238E27FC236}">
                <a16:creationId xmlns:a16="http://schemas.microsoft.com/office/drawing/2014/main" id="{4089BB57-7B67-4448-9EBC-E150CCFACF5E}"/>
              </a:ext>
            </a:extLst>
          </p:cNvPr>
          <p:cNvSpPr txBox="1"/>
          <p:nvPr/>
        </p:nvSpPr>
        <p:spPr>
          <a:xfrm>
            <a:off x="1833066" y="6303940"/>
            <a:ext cx="3069495" cy="338554"/>
          </a:xfrm>
          <a:prstGeom prst="rect">
            <a:avLst/>
          </a:prstGeom>
          <a:noFill/>
        </p:spPr>
        <p:txBody>
          <a:bodyPr wrap="none" rtlCol="0">
            <a:spAutoFit/>
          </a:bodyPr>
          <a:lstStyle/>
          <a:p>
            <a:r>
              <a:rPr lang="en-US" sz="1600" i="1" dirty="0"/>
              <a:t>Data source:  ACS 5-year estimates</a:t>
            </a:r>
          </a:p>
        </p:txBody>
      </p:sp>
      <p:pic>
        <p:nvPicPr>
          <p:cNvPr id="2" name="Picture 1">
            <a:extLst>
              <a:ext uri="{FF2B5EF4-FFF2-40B4-BE49-F238E27FC236}">
                <a16:creationId xmlns:a16="http://schemas.microsoft.com/office/drawing/2014/main" id="{425A2D0F-A243-498C-A44B-642329BD376B}"/>
              </a:ext>
            </a:extLst>
          </p:cNvPr>
          <p:cNvPicPr>
            <a:picLocks noChangeAspect="1"/>
          </p:cNvPicPr>
          <p:nvPr/>
        </p:nvPicPr>
        <p:blipFill>
          <a:blip r:embed="rId4"/>
          <a:stretch>
            <a:fillRect/>
          </a:stretch>
        </p:blipFill>
        <p:spPr>
          <a:xfrm>
            <a:off x="1833066" y="1520041"/>
            <a:ext cx="8588484" cy="1714649"/>
          </a:xfrm>
          <a:prstGeom prst="rect">
            <a:avLst/>
          </a:prstGeom>
        </p:spPr>
      </p:pic>
      <p:sp>
        <p:nvSpPr>
          <p:cNvPr id="3" name="Rectangle 2">
            <a:extLst>
              <a:ext uri="{FF2B5EF4-FFF2-40B4-BE49-F238E27FC236}">
                <a16:creationId xmlns:a16="http://schemas.microsoft.com/office/drawing/2014/main" id="{094584A4-220D-4AA8-8809-1FE779481497}"/>
              </a:ext>
            </a:extLst>
          </p:cNvPr>
          <p:cNvSpPr/>
          <p:nvPr/>
        </p:nvSpPr>
        <p:spPr>
          <a:xfrm>
            <a:off x="1833066" y="1142063"/>
            <a:ext cx="8475304" cy="369332"/>
          </a:xfrm>
          <a:prstGeom prst="rect">
            <a:avLst/>
          </a:prstGeom>
        </p:spPr>
        <p:txBody>
          <a:bodyPr wrap="square">
            <a:spAutoFit/>
          </a:bodyPr>
          <a:lstStyle/>
          <a:p>
            <a:r>
              <a:rPr lang="en-US" b="1" dirty="0"/>
              <a:t>Block Groups within ¼ mile of Austin &amp; Division Bus Terminal</a:t>
            </a:r>
          </a:p>
        </p:txBody>
      </p:sp>
      <p:sp>
        <p:nvSpPr>
          <p:cNvPr id="4" name="Rectangle 3">
            <a:extLst>
              <a:ext uri="{FF2B5EF4-FFF2-40B4-BE49-F238E27FC236}">
                <a16:creationId xmlns:a16="http://schemas.microsoft.com/office/drawing/2014/main" id="{C73FE3EF-2885-4B01-A323-CB29444BC335}"/>
              </a:ext>
            </a:extLst>
          </p:cNvPr>
          <p:cNvSpPr/>
          <p:nvPr/>
        </p:nvSpPr>
        <p:spPr>
          <a:xfrm>
            <a:off x="1949560" y="1958264"/>
            <a:ext cx="8358810" cy="518495"/>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340F914D-49A4-46C7-82AE-782BC9F2FBCA}"/>
              </a:ext>
            </a:extLst>
          </p:cNvPr>
          <p:cNvSpPr/>
          <p:nvPr/>
        </p:nvSpPr>
        <p:spPr>
          <a:xfrm>
            <a:off x="1947903" y="2504974"/>
            <a:ext cx="8358810" cy="518495"/>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A9B4B001-27DE-41B8-AECB-55B71FC5D220}"/>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r="33849"/>
          <a:stretch/>
        </p:blipFill>
        <p:spPr>
          <a:xfrm>
            <a:off x="1906986" y="3463645"/>
            <a:ext cx="2707723" cy="2689394"/>
          </a:xfrm>
          <a:prstGeom prst="rect">
            <a:avLst/>
          </a:prstGeom>
        </p:spPr>
      </p:pic>
      <p:pic>
        <p:nvPicPr>
          <p:cNvPr id="13" name="Picture 12">
            <a:extLst>
              <a:ext uri="{FF2B5EF4-FFF2-40B4-BE49-F238E27FC236}">
                <a16:creationId xmlns:a16="http://schemas.microsoft.com/office/drawing/2014/main" id="{B6852285-568E-47F0-92D9-E6886F5ED971}"/>
              </a:ext>
            </a:extLst>
          </p:cNvPr>
          <p:cNvPicPr>
            <a:picLocks noChangeAspect="1"/>
          </p:cNvPicPr>
          <p:nvPr/>
        </p:nvPicPr>
        <p:blipFill rotWithShape="1">
          <a:blip r:embed="rId6">
            <a:extLst>
              <a:ext uri="{28A0092B-C50C-407E-A947-70E740481C1C}">
                <a14:useLocalDpi xmlns:a14="http://schemas.microsoft.com/office/drawing/2010/main" val="0"/>
              </a:ext>
            </a:extLst>
          </a:blip>
          <a:srcRect l="66508" t="9231" b="65197"/>
          <a:stretch/>
        </p:blipFill>
        <p:spPr>
          <a:xfrm>
            <a:off x="4614709" y="3336260"/>
            <a:ext cx="3215640" cy="1613079"/>
          </a:xfrm>
          <a:prstGeom prst="rect">
            <a:avLst/>
          </a:prstGeom>
        </p:spPr>
      </p:pic>
    </p:spTree>
    <p:extLst>
      <p:ext uri="{BB962C8B-B14F-4D97-AF65-F5344CB8AC3E}">
        <p14:creationId xmlns:p14="http://schemas.microsoft.com/office/powerpoint/2010/main" val="17795550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6" name="Picture 5">
            <a:extLst>
              <a:ext uri="{FF2B5EF4-FFF2-40B4-BE49-F238E27FC236}">
                <a16:creationId xmlns:a16="http://schemas.microsoft.com/office/drawing/2014/main" id="{6DF5BAA9-8145-4B59-9980-066B6FD6F69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6595" y="1407265"/>
            <a:ext cx="8292420" cy="4563852"/>
          </a:xfrm>
          <a:prstGeom prst="rect">
            <a:avLst/>
          </a:prstGeom>
          <a:noFill/>
        </p:spPr>
      </p:pic>
      <p:pic>
        <p:nvPicPr>
          <p:cNvPr id="7" name="Shape 234">
            <a:extLst>
              <a:ext uri="{FF2B5EF4-FFF2-40B4-BE49-F238E27FC236}">
                <a16:creationId xmlns:a16="http://schemas.microsoft.com/office/drawing/2014/main" id="{DA73B5E3-EA2D-45DE-9C77-659F8D522878}"/>
              </a:ext>
            </a:extLst>
          </p:cNvPr>
          <p:cNvPicPr preferRelativeResize="0"/>
          <p:nvPr/>
        </p:nvPicPr>
        <p:blipFill rotWithShape="1">
          <a:blip r:embed="rId4">
            <a:alphaModFix/>
          </a:blip>
          <a:srcRect l="66233" t="12309" r="25650" b="46658"/>
          <a:stretch/>
        </p:blipFill>
        <p:spPr>
          <a:xfrm>
            <a:off x="0" y="1"/>
            <a:ext cx="12192000" cy="723900"/>
          </a:xfrm>
          <a:prstGeom prst="rect">
            <a:avLst/>
          </a:prstGeom>
          <a:noFill/>
          <a:ln>
            <a:noFill/>
          </a:ln>
        </p:spPr>
      </p:pic>
      <p:sp>
        <p:nvSpPr>
          <p:cNvPr id="8" name="TextBox 7">
            <a:extLst>
              <a:ext uri="{FF2B5EF4-FFF2-40B4-BE49-F238E27FC236}">
                <a16:creationId xmlns:a16="http://schemas.microsoft.com/office/drawing/2014/main" id="{071723E8-3066-4335-B7ED-0223B2FDE845}"/>
              </a:ext>
            </a:extLst>
          </p:cNvPr>
          <p:cNvSpPr txBox="1"/>
          <p:nvPr/>
        </p:nvSpPr>
        <p:spPr>
          <a:xfrm>
            <a:off x="0" y="48110"/>
            <a:ext cx="12191999" cy="1077218"/>
          </a:xfrm>
          <a:prstGeom prst="rect">
            <a:avLst/>
          </a:prstGeom>
          <a:noFill/>
        </p:spPr>
        <p:txBody>
          <a:bodyPr wrap="square" rtlCol="0">
            <a:spAutoFit/>
          </a:bodyPr>
          <a:lstStyle/>
          <a:p>
            <a:r>
              <a:rPr lang="en-US" sz="3200" dirty="0">
                <a:solidFill>
                  <a:schemeClr val="bg1"/>
                </a:solidFill>
                <a:latin typeface="Franklin Gothic Demi Cond" panose="020B0706030402020204" pitchFamily="34" charset="0"/>
              </a:rPr>
              <a:t>PERCENT CHANGE IN POPULATION, 2013-2018 (2013 base year)</a:t>
            </a:r>
          </a:p>
          <a:p>
            <a:endParaRPr lang="en-US" sz="3200" dirty="0">
              <a:solidFill>
                <a:schemeClr val="bg1"/>
              </a:solidFill>
              <a:latin typeface="Franklin Gothic Demi Cond" panose="020B0706030402020204" pitchFamily="34" charset="0"/>
            </a:endParaRPr>
          </a:p>
        </p:txBody>
      </p:sp>
      <p:sp>
        <p:nvSpPr>
          <p:cNvPr id="9" name="TextBox 8">
            <a:extLst>
              <a:ext uri="{FF2B5EF4-FFF2-40B4-BE49-F238E27FC236}">
                <a16:creationId xmlns:a16="http://schemas.microsoft.com/office/drawing/2014/main" id="{4089BB57-7B67-4448-9EBC-E150CCFACF5E}"/>
              </a:ext>
            </a:extLst>
          </p:cNvPr>
          <p:cNvSpPr txBox="1"/>
          <p:nvPr/>
        </p:nvSpPr>
        <p:spPr>
          <a:xfrm>
            <a:off x="483587" y="6532564"/>
            <a:ext cx="3069495" cy="338554"/>
          </a:xfrm>
          <a:prstGeom prst="rect">
            <a:avLst/>
          </a:prstGeom>
          <a:noFill/>
        </p:spPr>
        <p:txBody>
          <a:bodyPr wrap="none" rtlCol="0">
            <a:spAutoFit/>
          </a:bodyPr>
          <a:lstStyle/>
          <a:p>
            <a:r>
              <a:rPr lang="en-US" sz="1600" i="1" dirty="0"/>
              <a:t>Data source:  ACS 5-year estimates</a:t>
            </a:r>
          </a:p>
        </p:txBody>
      </p:sp>
      <p:sp>
        <p:nvSpPr>
          <p:cNvPr id="10" name="Rectangle 9">
            <a:extLst>
              <a:ext uri="{FF2B5EF4-FFF2-40B4-BE49-F238E27FC236}">
                <a16:creationId xmlns:a16="http://schemas.microsoft.com/office/drawing/2014/main" id="{12DE42D7-E82A-4B3C-8E6E-6996B9DE18E8}"/>
              </a:ext>
            </a:extLst>
          </p:cNvPr>
          <p:cNvSpPr/>
          <p:nvPr/>
        </p:nvSpPr>
        <p:spPr>
          <a:xfrm>
            <a:off x="8515714" y="1512150"/>
            <a:ext cx="3356811" cy="2031325"/>
          </a:xfrm>
          <a:prstGeom prst="rect">
            <a:avLst/>
          </a:prstGeom>
        </p:spPr>
        <p:txBody>
          <a:bodyPr wrap="square">
            <a:spAutoFit/>
          </a:bodyPr>
          <a:lstStyle/>
          <a:p>
            <a:r>
              <a:rPr lang="en-US" i="1" dirty="0">
                <a:latin typeface="Calibri" panose="020F0502020204030204" pitchFamily="34" charset="0"/>
                <a:ea typeface="Tahoma" panose="020B0604030504040204" pitchFamily="34" charset="0"/>
              </a:rPr>
              <a:t>While population has grown along the Division Street corridor, growth has largely been confined to neighborhoods on the city’s east side while areas immediately adjacent to the terminal have lost population in recent years.</a:t>
            </a:r>
            <a:endParaRPr lang="en-US" b="1" i="1" dirty="0">
              <a:latin typeface="Calibri" panose="020F0502020204030204" pitchFamily="34" charset="0"/>
              <a:ea typeface="Tahoma" panose="020B0604030504040204" pitchFamily="34" charset="0"/>
            </a:endParaRPr>
          </a:p>
        </p:txBody>
      </p:sp>
    </p:spTree>
    <p:extLst>
      <p:ext uri="{BB962C8B-B14F-4D97-AF65-F5344CB8AC3E}">
        <p14:creationId xmlns:p14="http://schemas.microsoft.com/office/powerpoint/2010/main" val="32483567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hape 234">
            <a:extLst>
              <a:ext uri="{FF2B5EF4-FFF2-40B4-BE49-F238E27FC236}">
                <a16:creationId xmlns:a16="http://schemas.microsoft.com/office/drawing/2014/main" id="{B978C577-EA70-4070-BF69-63D62FA6EDB9}"/>
              </a:ext>
            </a:extLst>
          </p:cNvPr>
          <p:cNvPicPr preferRelativeResize="0"/>
          <p:nvPr/>
        </p:nvPicPr>
        <p:blipFill rotWithShape="1">
          <a:blip r:embed="rId3">
            <a:alphaModFix/>
          </a:blip>
          <a:srcRect l="66233" t="12309" r="25650" b="46658"/>
          <a:stretch/>
        </p:blipFill>
        <p:spPr>
          <a:xfrm>
            <a:off x="0" y="1"/>
            <a:ext cx="12192000" cy="723900"/>
          </a:xfrm>
          <a:prstGeom prst="rect">
            <a:avLst/>
          </a:prstGeom>
          <a:noFill/>
          <a:ln>
            <a:noFill/>
          </a:ln>
        </p:spPr>
      </p:pic>
      <p:sp>
        <p:nvSpPr>
          <p:cNvPr id="6" name="TextBox 5">
            <a:extLst>
              <a:ext uri="{FF2B5EF4-FFF2-40B4-BE49-F238E27FC236}">
                <a16:creationId xmlns:a16="http://schemas.microsoft.com/office/drawing/2014/main" id="{52D15B65-D7CB-4D7B-9A23-E730B5255DE2}"/>
              </a:ext>
            </a:extLst>
          </p:cNvPr>
          <p:cNvSpPr txBox="1"/>
          <p:nvPr/>
        </p:nvSpPr>
        <p:spPr>
          <a:xfrm>
            <a:off x="0" y="48110"/>
            <a:ext cx="12191999" cy="584775"/>
          </a:xfrm>
          <a:prstGeom prst="rect">
            <a:avLst/>
          </a:prstGeom>
          <a:noFill/>
        </p:spPr>
        <p:txBody>
          <a:bodyPr wrap="square" rtlCol="0">
            <a:spAutoFit/>
          </a:bodyPr>
          <a:lstStyle/>
          <a:p>
            <a:r>
              <a:rPr lang="en-US" sz="3200" dirty="0">
                <a:solidFill>
                  <a:schemeClr val="bg1"/>
                </a:solidFill>
                <a:latin typeface="Franklin Gothic Demi Cond" panose="020B0706030402020204" pitchFamily="34" charset="0"/>
              </a:rPr>
              <a:t>AGE-POPULATION DISTRIBUTIONS FOR COOK COUNTY 2017 AND 2022</a:t>
            </a:r>
          </a:p>
        </p:txBody>
      </p:sp>
      <p:pic>
        <p:nvPicPr>
          <p:cNvPr id="2" name="Picture 1">
            <a:extLst>
              <a:ext uri="{FF2B5EF4-FFF2-40B4-BE49-F238E27FC236}">
                <a16:creationId xmlns:a16="http://schemas.microsoft.com/office/drawing/2014/main" id="{CCC9AAD8-78BB-418B-AB14-00FB0D598AD0}"/>
              </a:ext>
            </a:extLst>
          </p:cNvPr>
          <p:cNvPicPr>
            <a:picLocks noChangeAspect="1"/>
          </p:cNvPicPr>
          <p:nvPr/>
        </p:nvPicPr>
        <p:blipFill rotWithShape="1">
          <a:blip r:embed="rId4"/>
          <a:srcRect l="1480" r="575"/>
          <a:stretch/>
        </p:blipFill>
        <p:spPr>
          <a:xfrm>
            <a:off x="108282" y="933330"/>
            <a:ext cx="11941342" cy="4356074"/>
          </a:xfrm>
          <a:prstGeom prst="rect">
            <a:avLst/>
          </a:prstGeom>
        </p:spPr>
      </p:pic>
      <p:sp>
        <p:nvSpPr>
          <p:cNvPr id="7" name="TextBox 6">
            <a:extLst>
              <a:ext uri="{FF2B5EF4-FFF2-40B4-BE49-F238E27FC236}">
                <a16:creationId xmlns:a16="http://schemas.microsoft.com/office/drawing/2014/main" id="{DB01C7D0-9909-42B8-943C-4B01D5957332}"/>
              </a:ext>
            </a:extLst>
          </p:cNvPr>
          <p:cNvSpPr txBox="1"/>
          <p:nvPr/>
        </p:nvSpPr>
        <p:spPr>
          <a:xfrm>
            <a:off x="609317" y="6463984"/>
            <a:ext cx="8376460" cy="338554"/>
          </a:xfrm>
          <a:prstGeom prst="rect">
            <a:avLst/>
          </a:prstGeom>
          <a:noFill/>
        </p:spPr>
        <p:txBody>
          <a:bodyPr wrap="none" rtlCol="0">
            <a:spAutoFit/>
          </a:bodyPr>
          <a:lstStyle/>
          <a:p>
            <a:r>
              <a:rPr lang="en-US" sz="1600" i="1" dirty="0"/>
              <a:t>Data sources:  Adapted from ACS 5-Year Estimates 2017; Center for Disease Control &amp; Prevention</a:t>
            </a:r>
          </a:p>
        </p:txBody>
      </p:sp>
      <p:grpSp>
        <p:nvGrpSpPr>
          <p:cNvPr id="11" name="Group 10">
            <a:extLst>
              <a:ext uri="{FF2B5EF4-FFF2-40B4-BE49-F238E27FC236}">
                <a16:creationId xmlns:a16="http://schemas.microsoft.com/office/drawing/2014/main" id="{CA30EADD-0B78-4AEA-BC40-EFE851ACC386}"/>
              </a:ext>
            </a:extLst>
          </p:cNvPr>
          <p:cNvGrpSpPr/>
          <p:nvPr/>
        </p:nvGrpSpPr>
        <p:grpSpPr>
          <a:xfrm>
            <a:off x="85422" y="1428750"/>
            <a:ext cx="10799748" cy="4880610"/>
            <a:chOff x="85422" y="1428750"/>
            <a:chExt cx="10799748" cy="4880610"/>
          </a:xfrm>
          <a:solidFill>
            <a:srgbClr val="C00000">
              <a:alpha val="30000"/>
            </a:srgbClr>
          </a:solidFill>
        </p:grpSpPr>
        <p:sp>
          <p:nvSpPr>
            <p:cNvPr id="3" name="Rectangle 2">
              <a:extLst>
                <a:ext uri="{FF2B5EF4-FFF2-40B4-BE49-F238E27FC236}">
                  <a16:creationId xmlns:a16="http://schemas.microsoft.com/office/drawing/2014/main" id="{DF3BEA15-3862-4121-8675-501462AD1FCC}"/>
                </a:ext>
              </a:extLst>
            </p:cNvPr>
            <p:cNvSpPr/>
            <p:nvPr/>
          </p:nvSpPr>
          <p:spPr>
            <a:xfrm>
              <a:off x="85422" y="1428750"/>
              <a:ext cx="4703748" cy="1371600"/>
            </a:xfrm>
            <a:prstGeom prst="rect">
              <a:avLst/>
            </a:prstGeom>
            <a:grp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62F29FC-A573-4029-8DD3-83B82A82B6B7}"/>
                </a:ext>
              </a:extLst>
            </p:cNvPr>
            <p:cNvSpPr/>
            <p:nvPr/>
          </p:nvSpPr>
          <p:spPr>
            <a:xfrm>
              <a:off x="6181422" y="1428750"/>
              <a:ext cx="4703748" cy="1371600"/>
            </a:xfrm>
            <a:prstGeom prst="rect">
              <a:avLst/>
            </a:prstGeom>
            <a:grp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5327CFD-43F3-47DD-87C2-09E355C92782}"/>
                </a:ext>
              </a:extLst>
            </p:cNvPr>
            <p:cNvSpPr/>
            <p:nvPr/>
          </p:nvSpPr>
          <p:spPr>
            <a:xfrm>
              <a:off x="4103370" y="5480560"/>
              <a:ext cx="3097950" cy="828800"/>
            </a:xfrm>
            <a:prstGeom prst="rect">
              <a:avLst/>
            </a:prstGeom>
            <a:grp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a:solidFill>
                    <a:schemeClr val="tx1"/>
                  </a:solidFill>
                </a:rPr>
                <a:t>55+ grows by 17.3%</a:t>
              </a:r>
            </a:p>
            <a:p>
              <a:pPr algn="ctr"/>
              <a:r>
                <a:rPr lang="en-US" b="1" dirty="0">
                  <a:solidFill>
                    <a:schemeClr val="tx1"/>
                  </a:solidFill>
                </a:rPr>
                <a:t>65+ grows by 30.9%</a:t>
              </a:r>
            </a:p>
            <a:p>
              <a:pPr algn="ctr"/>
              <a:r>
                <a:rPr lang="en-US" b="1" dirty="0">
                  <a:solidFill>
                    <a:schemeClr val="tx1"/>
                  </a:solidFill>
                </a:rPr>
                <a:t>75+ grows by 38.9%</a:t>
              </a:r>
            </a:p>
          </p:txBody>
        </p:sp>
      </p:grpSp>
      <p:sp>
        <p:nvSpPr>
          <p:cNvPr id="12" name="Rectangle 11">
            <a:extLst>
              <a:ext uri="{FF2B5EF4-FFF2-40B4-BE49-F238E27FC236}">
                <a16:creationId xmlns:a16="http://schemas.microsoft.com/office/drawing/2014/main" id="{9A2006C8-95CB-45EE-92BD-BC43089A10DC}"/>
              </a:ext>
            </a:extLst>
          </p:cNvPr>
          <p:cNvSpPr/>
          <p:nvPr/>
        </p:nvSpPr>
        <p:spPr>
          <a:xfrm>
            <a:off x="7775927" y="5638717"/>
            <a:ext cx="3356811" cy="646331"/>
          </a:xfrm>
          <a:prstGeom prst="rect">
            <a:avLst/>
          </a:prstGeom>
        </p:spPr>
        <p:txBody>
          <a:bodyPr wrap="square">
            <a:spAutoFit/>
          </a:bodyPr>
          <a:lstStyle/>
          <a:p>
            <a:r>
              <a:rPr lang="en-US" i="1" dirty="0">
                <a:latin typeface="Calibri" panose="020F0502020204030204" pitchFamily="34" charset="0"/>
                <a:ea typeface="Tahoma" panose="020B0604030504040204" pitchFamily="34" charset="0"/>
              </a:rPr>
              <a:t>Total county population anticipated to grow by just 0.7%.</a:t>
            </a:r>
            <a:endParaRPr lang="en-US" b="1" i="1" dirty="0">
              <a:latin typeface="Calibri" panose="020F0502020204030204" pitchFamily="34" charset="0"/>
              <a:ea typeface="Tahoma" panose="020B0604030504040204" pitchFamily="34" charset="0"/>
            </a:endParaRPr>
          </a:p>
        </p:txBody>
      </p:sp>
      <p:sp>
        <p:nvSpPr>
          <p:cNvPr id="13" name="Rectangle 12">
            <a:extLst>
              <a:ext uri="{FF2B5EF4-FFF2-40B4-BE49-F238E27FC236}">
                <a16:creationId xmlns:a16="http://schemas.microsoft.com/office/drawing/2014/main" id="{8E9EB872-5F6E-4190-86A8-183D598ACED8}"/>
              </a:ext>
            </a:extLst>
          </p:cNvPr>
          <p:cNvSpPr/>
          <p:nvPr/>
        </p:nvSpPr>
        <p:spPr>
          <a:xfrm>
            <a:off x="635987" y="5638717"/>
            <a:ext cx="3356811" cy="646331"/>
          </a:xfrm>
          <a:prstGeom prst="rect">
            <a:avLst/>
          </a:prstGeom>
        </p:spPr>
        <p:txBody>
          <a:bodyPr wrap="square">
            <a:spAutoFit/>
          </a:bodyPr>
          <a:lstStyle/>
          <a:p>
            <a:r>
              <a:rPr lang="en-US" i="1" dirty="0">
                <a:latin typeface="Calibri" panose="020F0502020204030204" pitchFamily="34" charset="0"/>
                <a:ea typeface="Tahoma" panose="020B0604030504040204" pitchFamily="34" charset="0"/>
              </a:rPr>
              <a:t>Net out migration rate of more than 8 per 1,000 residents.</a:t>
            </a:r>
            <a:endParaRPr lang="en-US" b="1" i="1" dirty="0">
              <a:latin typeface="Calibri" panose="020F0502020204030204" pitchFamily="34" charset="0"/>
              <a:ea typeface="Tahoma" panose="020B0604030504040204" pitchFamily="34" charset="0"/>
            </a:endParaRPr>
          </a:p>
        </p:txBody>
      </p:sp>
    </p:spTree>
    <p:extLst>
      <p:ext uri="{BB962C8B-B14F-4D97-AF65-F5344CB8AC3E}">
        <p14:creationId xmlns:p14="http://schemas.microsoft.com/office/powerpoint/2010/main" val="276440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hape 234">
            <a:extLst>
              <a:ext uri="{FF2B5EF4-FFF2-40B4-BE49-F238E27FC236}">
                <a16:creationId xmlns:a16="http://schemas.microsoft.com/office/drawing/2014/main" id="{B978C577-EA70-4070-BF69-63D62FA6EDB9}"/>
              </a:ext>
            </a:extLst>
          </p:cNvPr>
          <p:cNvPicPr preferRelativeResize="0"/>
          <p:nvPr/>
        </p:nvPicPr>
        <p:blipFill rotWithShape="1">
          <a:blip r:embed="rId3">
            <a:alphaModFix/>
          </a:blip>
          <a:srcRect l="66233" t="12309" r="25650" b="46658"/>
          <a:stretch/>
        </p:blipFill>
        <p:spPr>
          <a:xfrm>
            <a:off x="0" y="1"/>
            <a:ext cx="12192000" cy="723900"/>
          </a:xfrm>
          <a:prstGeom prst="rect">
            <a:avLst/>
          </a:prstGeom>
          <a:noFill/>
          <a:ln>
            <a:noFill/>
          </a:ln>
        </p:spPr>
      </p:pic>
      <p:sp>
        <p:nvSpPr>
          <p:cNvPr id="6" name="TextBox 5">
            <a:extLst>
              <a:ext uri="{FF2B5EF4-FFF2-40B4-BE49-F238E27FC236}">
                <a16:creationId xmlns:a16="http://schemas.microsoft.com/office/drawing/2014/main" id="{52D15B65-D7CB-4D7B-9A23-E730B5255DE2}"/>
              </a:ext>
            </a:extLst>
          </p:cNvPr>
          <p:cNvSpPr txBox="1"/>
          <p:nvPr/>
        </p:nvSpPr>
        <p:spPr>
          <a:xfrm>
            <a:off x="0" y="48110"/>
            <a:ext cx="12191999" cy="584775"/>
          </a:xfrm>
          <a:prstGeom prst="rect">
            <a:avLst/>
          </a:prstGeom>
          <a:noFill/>
        </p:spPr>
        <p:txBody>
          <a:bodyPr wrap="square" rtlCol="0">
            <a:spAutoFit/>
          </a:bodyPr>
          <a:lstStyle/>
          <a:p>
            <a:r>
              <a:rPr lang="en-US" sz="3200" dirty="0">
                <a:solidFill>
                  <a:schemeClr val="bg1"/>
                </a:solidFill>
                <a:latin typeface="Franklin Gothic Demi Cond" panose="020B0706030402020204" pitchFamily="34" charset="0"/>
              </a:rPr>
              <a:t>RESIDENTIAL SALES, 2005-2018</a:t>
            </a:r>
          </a:p>
        </p:txBody>
      </p:sp>
      <p:pic>
        <p:nvPicPr>
          <p:cNvPr id="7" name="Picture 6">
            <a:extLst>
              <a:ext uri="{FF2B5EF4-FFF2-40B4-BE49-F238E27FC236}">
                <a16:creationId xmlns:a16="http://schemas.microsoft.com/office/drawing/2014/main" id="{3686D928-129B-46C6-8594-AF76165AA1E6}"/>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278413" y="1251284"/>
            <a:ext cx="11430000" cy="5305926"/>
          </a:xfrm>
          <a:prstGeom prst="rect">
            <a:avLst/>
          </a:prstGeom>
          <a:noFill/>
        </p:spPr>
      </p:pic>
      <p:sp>
        <p:nvSpPr>
          <p:cNvPr id="3" name="TextBox 2">
            <a:extLst>
              <a:ext uri="{FF2B5EF4-FFF2-40B4-BE49-F238E27FC236}">
                <a16:creationId xmlns:a16="http://schemas.microsoft.com/office/drawing/2014/main" id="{246D9A3E-A082-4A1C-BE97-88876D1BB493}"/>
              </a:ext>
            </a:extLst>
          </p:cNvPr>
          <p:cNvSpPr txBox="1"/>
          <p:nvPr/>
        </p:nvSpPr>
        <p:spPr>
          <a:xfrm>
            <a:off x="483587" y="6463984"/>
            <a:ext cx="5227328" cy="338554"/>
          </a:xfrm>
          <a:prstGeom prst="rect">
            <a:avLst/>
          </a:prstGeom>
          <a:noFill/>
        </p:spPr>
        <p:txBody>
          <a:bodyPr wrap="none" rtlCol="0">
            <a:spAutoFit/>
          </a:bodyPr>
          <a:lstStyle/>
          <a:p>
            <a:r>
              <a:rPr lang="en-US" sz="1600" i="1" dirty="0"/>
              <a:t>Data source:  DePaul University Institute for Housing Studies</a:t>
            </a:r>
          </a:p>
        </p:txBody>
      </p:sp>
    </p:spTree>
    <p:extLst>
      <p:ext uri="{BB962C8B-B14F-4D97-AF65-F5344CB8AC3E}">
        <p14:creationId xmlns:p14="http://schemas.microsoft.com/office/powerpoint/2010/main" val="3118809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234" name="Shape 234"/>
          <p:cNvPicPr preferRelativeResize="0"/>
          <p:nvPr/>
        </p:nvPicPr>
        <p:blipFill rotWithShape="1">
          <a:blip r:embed="rId3">
            <a:alphaModFix/>
          </a:blip>
          <a:srcRect l="66233" t="12309" r="25650" b="46658"/>
          <a:stretch/>
        </p:blipFill>
        <p:spPr>
          <a:xfrm>
            <a:off x="0" y="1"/>
            <a:ext cx="12192000" cy="723900"/>
          </a:xfrm>
          <a:prstGeom prst="rect">
            <a:avLst/>
          </a:prstGeom>
          <a:noFill/>
          <a:ln>
            <a:noFill/>
          </a:ln>
        </p:spPr>
      </p:pic>
      <p:sp>
        <p:nvSpPr>
          <p:cNvPr id="6" name="TextBox 5">
            <a:extLst>
              <a:ext uri="{FF2B5EF4-FFF2-40B4-BE49-F238E27FC236}">
                <a16:creationId xmlns:a16="http://schemas.microsoft.com/office/drawing/2014/main" id="{60F6B6E5-0466-449B-8362-A7F74E18DB90}"/>
              </a:ext>
            </a:extLst>
          </p:cNvPr>
          <p:cNvSpPr txBox="1"/>
          <p:nvPr/>
        </p:nvSpPr>
        <p:spPr>
          <a:xfrm>
            <a:off x="0" y="48110"/>
            <a:ext cx="12191999" cy="584775"/>
          </a:xfrm>
          <a:prstGeom prst="rect">
            <a:avLst/>
          </a:prstGeom>
          <a:noFill/>
        </p:spPr>
        <p:txBody>
          <a:bodyPr wrap="square" rtlCol="0">
            <a:spAutoFit/>
          </a:bodyPr>
          <a:lstStyle/>
          <a:p>
            <a:r>
              <a:rPr lang="en-US" sz="3200" dirty="0">
                <a:solidFill>
                  <a:schemeClr val="bg1"/>
                </a:solidFill>
                <a:latin typeface="Franklin Gothic Demi Cond" panose="020B0706030402020204" pitchFamily="34" charset="0"/>
              </a:rPr>
              <a:t>RELEVANT PLANS AND PROGRAMS</a:t>
            </a:r>
          </a:p>
        </p:txBody>
      </p:sp>
      <p:grpSp>
        <p:nvGrpSpPr>
          <p:cNvPr id="5" name="Group 4">
            <a:extLst>
              <a:ext uri="{FF2B5EF4-FFF2-40B4-BE49-F238E27FC236}">
                <a16:creationId xmlns:a16="http://schemas.microsoft.com/office/drawing/2014/main" id="{0F7CF8AB-DA98-47F2-9F30-51589453A6A3}"/>
              </a:ext>
            </a:extLst>
          </p:cNvPr>
          <p:cNvGrpSpPr/>
          <p:nvPr/>
        </p:nvGrpSpPr>
        <p:grpSpPr>
          <a:xfrm>
            <a:off x="196692" y="853101"/>
            <a:ext cx="3356811" cy="5956789"/>
            <a:chOff x="286143" y="853101"/>
            <a:chExt cx="3356811" cy="5956789"/>
          </a:xfrm>
        </p:grpSpPr>
        <p:sp>
          <p:nvSpPr>
            <p:cNvPr id="8" name="Rectangle 7">
              <a:extLst>
                <a:ext uri="{FF2B5EF4-FFF2-40B4-BE49-F238E27FC236}">
                  <a16:creationId xmlns:a16="http://schemas.microsoft.com/office/drawing/2014/main" id="{AE81B747-8CBE-4F27-B175-B85E24D7CFF0}"/>
                </a:ext>
              </a:extLst>
            </p:cNvPr>
            <p:cNvSpPr/>
            <p:nvPr/>
          </p:nvSpPr>
          <p:spPr>
            <a:xfrm>
              <a:off x="286143" y="4778565"/>
              <a:ext cx="3356811" cy="2031325"/>
            </a:xfrm>
            <a:prstGeom prst="rect">
              <a:avLst/>
            </a:prstGeom>
          </p:spPr>
          <p:txBody>
            <a:bodyPr wrap="square">
              <a:spAutoFit/>
            </a:bodyPr>
            <a:lstStyle/>
            <a:p>
              <a:r>
                <a:rPr lang="en-US" i="1" dirty="0">
                  <a:latin typeface="Calibri" panose="020F0502020204030204" pitchFamily="34" charset="0"/>
                  <a:ea typeface="Tahoma" panose="020B0604030504040204" pitchFamily="34" charset="0"/>
                </a:rPr>
                <a:t>UCI in partnership with CMAP recently engaged in an effort to identify </a:t>
              </a:r>
              <a:r>
                <a:rPr lang="en-US" b="1" i="1" dirty="0">
                  <a:latin typeface="Calibri" panose="020F0502020204030204" pitchFamily="34" charset="0"/>
                  <a:ea typeface="Tahoma" panose="020B0604030504040204" pitchFamily="34" charset="0"/>
                </a:rPr>
                <a:t>strategies for revitalizing</a:t>
              </a:r>
              <a:r>
                <a:rPr lang="en-US" i="1" dirty="0">
                  <a:latin typeface="Calibri" panose="020F0502020204030204" pitchFamily="34" charset="0"/>
                  <a:ea typeface="Tahoma" panose="020B0604030504040204" pitchFamily="34" charset="0"/>
                </a:rPr>
                <a:t> a section of North Avenue which has striking similarities to the environs surrounding the Division and Austin terminal site.</a:t>
              </a:r>
              <a:endParaRPr lang="en-US" b="1" i="1" dirty="0">
                <a:latin typeface="Calibri" panose="020F0502020204030204" pitchFamily="34" charset="0"/>
                <a:ea typeface="Tahoma" panose="020B0604030504040204" pitchFamily="34" charset="0"/>
              </a:endParaRPr>
            </a:p>
          </p:txBody>
        </p:sp>
        <p:pic>
          <p:nvPicPr>
            <p:cNvPr id="9" name="Picture 8">
              <a:extLst>
                <a:ext uri="{FF2B5EF4-FFF2-40B4-BE49-F238E27FC236}">
                  <a16:creationId xmlns:a16="http://schemas.microsoft.com/office/drawing/2014/main" id="{D9F7FEC4-F963-4627-A8FD-6FF4EF148ADA}"/>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395473" y="853101"/>
              <a:ext cx="2904318" cy="3796264"/>
            </a:xfrm>
            <a:prstGeom prst="rect">
              <a:avLst/>
            </a:prstGeom>
            <a:ln>
              <a:solidFill>
                <a:schemeClr val="tx1"/>
              </a:solidFill>
            </a:ln>
          </p:spPr>
        </p:pic>
      </p:grpSp>
      <p:grpSp>
        <p:nvGrpSpPr>
          <p:cNvPr id="14" name="Group 13">
            <a:extLst>
              <a:ext uri="{FF2B5EF4-FFF2-40B4-BE49-F238E27FC236}">
                <a16:creationId xmlns:a16="http://schemas.microsoft.com/office/drawing/2014/main" id="{6E41039B-E420-4194-99BA-890A11A08C81}"/>
              </a:ext>
            </a:extLst>
          </p:cNvPr>
          <p:cNvGrpSpPr/>
          <p:nvPr/>
        </p:nvGrpSpPr>
        <p:grpSpPr>
          <a:xfrm>
            <a:off x="3607469" y="853101"/>
            <a:ext cx="4930606" cy="5956789"/>
            <a:chOff x="3696920" y="853101"/>
            <a:chExt cx="4930606" cy="5956789"/>
          </a:xfrm>
        </p:grpSpPr>
        <p:sp>
          <p:nvSpPr>
            <p:cNvPr id="10" name="Rectangle 9">
              <a:extLst>
                <a:ext uri="{FF2B5EF4-FFF2-40B4-BE49-F238E27FC236}">
                  <a16:creationId xmlns:a16="http://schemas.microsoft.com/office/drawing/2014/main" id="{1F2CECFE-CC78-4852-AD0E-A634075A5EB3}"/>
                </a:ext>
              </a:extLst>
            </p:cNvPr>
            <p:cNvSpPr/>
            <p:nvPr/>
          </p:nvSpPr>
          <p:spPr>
            <a:xfrm>
              <a:off x="3696920" y="4778565"/>
              <a:ext cx="4930605" cy="2031325"/>
            </a:xfrm>
            <a:prstGeom prst="rect">
              <a:avLst/>
            </a:prstGeom>
          </p:spPr>
          <p:txBody>
            <a:bodyPr wrap="square">
              <a:spAutoFit/>
            </a:bodyPr>
            <a:lstStyle/>
            <a:p>
              <a:r>
                <a:rPr lang="en-US" i="1" dirty="0">
                  <a:latin typeface="Calibri" panose="020F0502020204030204" pitchFamily="34" charset="0"/>
                  <a:ea typeface="Tahoma" panose="020B0604030504040204" pitchFamily="34" charset="0"/>
                </a:rPr>
                <a:t>Initially driven by a small group of community leaders, the award-winning Austin Quality-of-Life Plan gathered over 400 residents and community stakeholders  to coordinate efforts that foster systemic improvements throughout Austin. Importantly, </a:t>
              </a:r>
              <a:r>
                <a:rPr lang="en-US" b="1" i="1" dirty="0">
                  <a:latin typeface="Calibri" panose="020F0502020204030204" pitchFamily="34" charset="0"/>
                  <a:ea typeface="Tahoma" panose="020B0604030504040204" pitchFamily="34" charset="0"/>
                </a:rPr>
                <a:t>the plan clearly outlines strategies, community assets and </a:t>
              </a:r>
              <a:r>
                <a:rPr lang="en-US" b="1" i="1" u="sng" dirty="0">
                  <a:latin typeface="Calibri" panose="020F0502020204030204" pitchFamily="34" charset="0"/>
                  <a:ea typeface="Tahoma" panose="020B0604030504040204" pitchFamily="34" charset="0"/>
                </a:rPr>
                <a:t>project leads</a:t>
              </a:r>
              <a:r>
                <a:rPr lang="en-US" i="1" dirty="0">
                  <a:latin typeface="Calibri" panose="020F0502020204030204" pitchFamily="34" charset="0"/>
                  <a:ea typeface="Tahoma" panose="020B0604030504040204" pitchFamily="34" charset="0"/>
                </a:rPr>
                <a:t>.</a:t>
              </a:r>
              <a:endParaRPr lang="en-US" b="1" i="1" dirty="0">
                <a:latin typeface="Calibri" panose="020F0502020204030204" pitchFamily="34" charset="0"/>
                <a:ea typeface="Tahoma" panose="020B0604030504040204" pitchFamily="34" charset="0"/>
              </a:endParaRPr>
            </a:p>
          </p:txBody>
        </p:sp>
        <p:pic>
          <p:nvPicPr>
            <p:cNvPr id="3" name="Picture 2">
              <a:extLst>
                <a:ext uri="{FF2B5EF4-FFF2-40B4-BE49-F238E27FC236}">
                  <a16:creationId xmlns:a16="http://schemas.microsoft.com/office/drawing/2014/main" id="{8F94FB02-76B2-4822-950C-C5D9955CD8AA}"/>
                </a:ext>
              </a:extLst>
            </p:cNvPr>
            <p:cNvPicPr>
              <a:picLocks noChangeAspect="1"/>
            </p:cNvPicPr>
            <p:nvPr/>
          </p:nvPicPr>
          <p:blipFill>
            <a:blip r:embed="rId5"/>
            <a:stretch>
              <a:fillRect/>
            </a:stretch>
          </p:blipFill>
          <p:spPr>
            <a:xfrm>
              <a:off x="3778964" y="853101"/>
              <a:ext cx="4848562" cy="3796264"/>
            </a:xfrm>
            <a:prstGeom prst="rect">
              <a:avLst/>
            </a:prstGeom>
            <a:ln>
              <a:solidFill>
                <a:schemeClr val="tx1"/>
              </a:solidFill>
            </a:ln>
          </p:spPr>
        </p:pic>
      </p:grpSp>
      <p:grpSp>
        <p:nvGrpSpPr>
          <p:cNvPr id="15" name="Group 14">
            <a:extLst>
              <a:ext uri="{FF2B5EF4-FFF2-40B4-BE49-F238E27FC236}">
                <a16:creationId xmlns:a16="http://schemas.microsoft.com/office/drawing/2014/main" id="{EF77ABC2-0F0F-4718-AF71-0D10733F96DA}"/>
              </a:ext>
            </a:extLst>
          </p:cNvPr>
          <p:cNvGrpSpPr/>
          <p:nvPr/>
        </p:nvGrpSpPr>
        <p:grpSpPr>
          <a:xfrm>
            <a:off x="8876867" y="854605"/>
            <a:ext cx="2981387" cy="5955285"/>
            <a:chOff x="8966318" y="854605"/>
            <a:chExt cx="2981387" cy="5955285"/>
          </a:xfrm>
        </p:grpSpPr>
        <p:sp>
          <p:nvSpPr>
            <p:cNvPr id="12" name="Rectangle 11">
              <a:extLst>
                <a:ext uri="{FF2B5EF4-FFF2-40B4-BE49-F238E27FC236}">
                  <a16:creationId xmlns:a16="http://schemas.microsoft.com/office/drawing/2014/main" id="{AF565030-A86D-4088-B4BC-897E018FA346}"/>
                </a:ext>
              </a:extLst>
            </p:cNvPr>
            <p:cNvSpPr/>
            <p:nvPr/>
          </p:nvSpPr>
          <p:spPr>
            <a:xfrm>
              <a:off x="8966318" y="4778565"/>
              <a:ext cx="2981387" cy="2031325"/>
            </a:xfrm>
            <a:prstGeom prst="rect">
              <a:avLst/>
            </a:prstGeom>
          </p:spPr>
          <p:txBody>
            <a:bodyPr wrap="square">
              <a:spAutoFit/>
            </a:bodyPr>
            <a:lstStyle/>
            <a:p>
              <a:r>
                <a:rPr lang="en-US" i="1" dirty="0">
                  <a:latin typeface="Calibri" panose="020F0502020204030204" pitchFamily="34" charset="0"/>
                  <a:ea typeface="Tahoma" panose="020B0604030504040204" pitchFamily="34" charset="0"/>
                </a:rPr>
                <a:t>The CTA has a variety of plans and programs underway that will have direct and indirect implications on the terminal site such as investments in nearby </a:t>
              </a:r>
              <a:r>
                <a:rPr lang="en-US" b="1" i="1" dirty="0">
                  <a:latin typeface="Calibri" panose="020F0502020204030204" pitchFamily="34" charset="0"/>
                  <a:ea typeface="Tahoma" panose="020B0604030504040204" pitchFamily="34" charset="0"/>
                </a:rPr>
                <a:t>L stations and bus routes (e.g., electrification)</a:t>
              </a:r>
              <a:r>
                <a:rPr lang="en-US" i="1" dirty="0">
                  <a:latin typeface="Calibri" panose="020F0502020204030204" pitchFamily="34" charset="0"/>
                  <a:ea typeface="Tahoma" panose="020B0604030504040204" pitchFamily="34" charset="0"/>
                </a:rPr>
                <a:t>.</a:t>
              </a:r>
              <a:endParaRPr lang="en-US" b="1" i="1" dirty="0">
                <a:latin typeface="Calibri" panose="020F0502020204030204" pitchFamily="34" charset="0"/>
                <a:ea typeface="Tahoma" panose="020B0604030504040204" pitchFamily="34" charset="0"/>
              </a:endParaRPr>
            </a:p>
          </p:txBody>
        </p:sp>
        <p:pic>
          <p:nvPicPr>
            <p:cNvPr id="4" name="Picture 3">
              <a:extLst>
                <a:ext uri="{FF2B5EF4-FFF2-40B4-BE49-F238E27FC236}">
                  <a16:creationId xmlns:a16="http://schemas.microsoft.com/office/drawing/2014/main" id="{6B77079A-4E7F-4986-9CC5-78DA780ABBB3}"/>
                </a:ext>
              </a:extLst>
            </p:cNvPr>
            <p:cNvPicPr>
              <a:picLocks noChangeAspect="1"/>
            </p:cNvPicPr>
            <p:nvPr/>
          </p:nvPicPr>
          <p:blipFill>
            <a:blip r:embed="rId6"/>
            <a:stretch>
              <a:fillRect/>
            </a:stretch>
          </p:blipFill>
          <p:spPr>
            <a:xfrm>
              <a:off x="9045830" y="854605"/>
              <a:ext cx="2901875" cy="3794760"/>
            </a:xfrm>
            <a:prstGeom prst="rect">
              <a:avLst/>
            </a:prstGeom>
            <a:ln>
              <a:solidFill>
                <a:schemeClr val="tx1"/>
              </a:solidFill>
            </a:ln>
          </p:spPr>
        </p:pic>
      </p:grpSp>
    </p:spTree>
    <p:extLst>
      <p:ext uri="{BB962C8B-B14F-4D97-AF65-F5344CB8AC3E}">
        <p14:creationId xmlns:p14="http://schemas.microsoft.com/office/powerpoint/2010/main" val="237076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2" name="Picture 1">
            <a:extLst>
              <a:ext uri="{FF2B5EF4-FFF2-40B4-BE49-F238E27FC236}">
                <a16:creationId xmlns:a16="http://schemas.microsoft.com/office/drawing/2014/main" id="{2234826D-D00A-4AE1-B19F-D95F270C220B}"/>
              </a:ext>
            </a:extLst>
          </p:cNvPr>
          <p:cNvPicPr>
            <a:picLocks noChangeAspect="1"/>
          </p:cNvPicPr>
          <p:nvPr/>
        </p:nvPicPr>
        <p:blipFill>
          <a:blip r:embed="rId3"/>
          <a:stretch>
            <a:fillRect/>
          </a:stretch>
        </p:blipFill>
        <p:spPr>
          <a:xfrm>
            <a:off x="1913068" y="1285660"/>
            <a:ext cx="8582890" cy="2006180"/>
          </a:xfrm>
          <a:prstGeom prst="rect">
            <a:avLst/>
          </a:prstGeom>
        </p:spPr>
      </p:pic>
      <p:pic>
        <p:nvPicPr>
          <p:cNvPr id="7" name="Shape 234">
            <a:extLst>
              <a:ext uri="{FF2B5EF4-FFF2-40B4-BE49-F238E27FC236}">
                <a16:creationId xmlns:a16="http://schemas.microsoft.com/office/drawing/2014/main" id="{DA73B5E3-EA2D-45DE-9C77-659F8D522878}"/>
              </a:ext>
            </a:extLst>
          </p:cNvPr>
          <p:cNvPicPr preferRelativeResize="0"/>
          <p:nvPr/>
        </p:nvPicPr>
        <p:blipFill rotWithShape="1">
          <a:blip r:embed="rId4">
            <a:alphaModFix/>
          </a:blip>
          <a:srcRect l="66233" t="12309" r="25650" b="46658"/>
          <a:stretch/>
        </p:blipFill>
        <p:spPr>
          <a:xfrm>
            <a:off x="0" y="1"/>
            <a:ext cx="12192000" cy="723900"/>
          </a:xfrm>
          <a:prstGeom prst="rect">
            <a:avLst/>
          </a:prstGeom>
          <a:noFill/>
          <a:ln>
            <a:noFill/>
          </a:ln>
        </p:spPr>
      </p:pic>
      <p:sp>
        <p:nvSpPr>
          <p:cNvPr id="8" name="TextBox 7">
            <a:extLst>
              <a:ext uri="{FF2B5EF4-FFF2-40B4-BE49-F238E27FC236}">
                <a16:creationId xmlns:a16="http://schemas.microsoft.com/office/drawing/2014/main" id="{071723E8-3066-4335-B7ED-0223B2FDE845}"/>
              </a:ext>
            </a:extLst>
          </p:cNvPr>
          <p:cNvSpPr txBox="1"/>
          <p:nvPr/>
        </p:nvSpPr>
        <p:spPr>
          <a:xfrm>
            <a:off x="0" y="48110"/>
            <a:ext cx="12191999" cy="1077218"/>
          </a:xfrm>
          <a:prstGeom prst="rect">
            <a:avLst/>
          </a:prstGeom>
          <a:noFill/>
        </p:spPr>
        <p:txBody>
          <a:bodyPr wrap="square" rtlCol="0">
            <a:spAutoFit/>
          </a:bodyPr>
          <a:lstStyle/>
          <a:p>
            <a:r>
              <a:rPr lang="en-US" sz="3200" dirty="0">
                <a:solidFill>
                  <a:schemeClr val="bg1"/>
                </a:solidFill>
                <a:latin typeface="Franklin Gothic Demi Cond" panose="020B0706030402020204" pitchFamily="34" charset="0"/>
              </a:rPr>
              <a:t>TRANSPORTATION MODE SHARE</a:t>
            </a:r>
          </a:p>
          <a:p>
            <a:endParaRPr lang="en-US" sz="3200" dirty="0">
              <a:solidFill>
                <a:schemeClr val="bg1"/>
              </a:solidFill>
              <a:latin typeface="Franklin Gothic Demi Cond" panose="020B0706030402020204" pitchFamily="34" charset="0"/>
            </a:endParaRPr>
          </a:p>
        </p:txBody>
      </p:sp>
      <p:pic>
        <p:nvPicPr>
          <p:cNvPr id="5" name="Picture 4">
            <a:extLst>
              <a:ext uri="{FF2B5EF4-FFF2-40B4-BE49-F238E27FC236}">
                <a16:creationId xmlns:a16="http://schemas.microsoft.com/office/drawing/2014/main" id="{1D7EDA8F-C663-4C0C-B85D-14B16B32C2E8}"/>
              </a:ext>
            </a:extLst>
          </p:cNvPr>
          <p:cNvPicPr/>
          <p:nvPr/>
        </p:nvPicPr>
        <p:blipFill rotWithShape="1">
          <a:blip r:embed="rId5">
            <a:extLst>
              <a:ext uri="{28A0092B-C50C-407E-A947-70E740481C1C}">
                <a14:useLocalDpi xmlns:a14="http://schemas.microsoft.com/office/drawing/2010/main" val="0"/>
              </a:ext>
            </a:extLst>
          </a:blip>
          <a:srcRect t="4496"/>
          <a:stretch/>
        </p:blipFill>
        <p:spPr bwMode="auto">
          <a:xfrm>
            <a:off x="7610284" y="3489303"/>
            <a:ext cx="3682798" cy="3380890"/>
          </a:xfrm>
          <a:prstGeom prst="rect">
            <a:avLst/>
          </a:prstGeom>
          <a:noFill/>
          <a:ln>
            <a:noFill/>
          </a:ln>
          <a:extLst>
            <a:ext uri="{53640926-AAD7-44D8-BBD7-CCE9431645EC}">
              <a14:shadowObscured xmlns:a14="http://schemas.microsoft.com/office/drawing/2010/main"/>
            </a:ext>
          </a:extLst>
        </p:spPr>
      </p:pic>
      <p:sp>
        <p:nvSpPr>
          <p:cNvPr id="6" name="TextBox 5">
            <a:extLst>
              <a:ext uri="{FF2B5EF4-FFF2-40B4-BE49-F238E27FC236}">
                <a16:creationId xmlns:a16="http://schemas.microsoft.com/office/drawing/2014/main" id="{43BEBFF1-B8EC-4FA8-BD13-F1075D1F5349}"/>
              </a:ext>
            </a:extLst>
          </p:cNvPr>
          <p:cNvSpPr txBox="1"/>
          <p:nvPr/>
        </p:nvSpPr>
        <p:spPr>
          <a:xfrm>
            <a:off x="1833066" y="6303940"/>
            <a:ext cx="3069495" cy="338554"/>
          </a:xfrm>
          <a:prstGeom prst="rect">
            <a:avLst/>
          </a:prstGeom>
          <a:noFill/>
        </p:spPr>
        <p:txBody>
          <a:bodyPr wrap="none" rtlCol="0">
            <a:spAutoFit/>
          </a:bodyPr>
          <a:lstStyle/>
          <a:p>
            <a:r>
              <a:rPr lang="en-US" sz="1600" i="1" dirty="0"/>
              <a:t>Data source:  ACS 5-year estimates</a:t>
            </a:r>
          </a:p>
        </p:txBody>
      </p:sp>
      <p:sp>
        <p:nvSpPr>
          <p:cNvPr id="11" name="Rectangle 10">
            <a:extLst>
              <a:ext uri="{FF2B5EF4-FFF2-40B4-BE49-F238E27FC236}">
                <a16:creationId xmlns:a16="http://schemas.microsoft.com/office/drawing/2014/main" id="{C6C8991A-3C4A-4A35-B42F-0386B0B27E6D}"/>
              </a:ext>
            </a:extLst>
          </p:cNvPr>
          <p:cNvSpPr/>
          <p:nvPr/>
        </p:nvSpPr>
        <p:spPr>
          <a:xfrm>
            <a:off x="1833066" y="993473"/>
            <a:ext cx="8475304" cy="369332"/>
          </a:xfrm>
          <a:prstGeom prst="rect">
            <a:avLst/>
          </a:prstGeom>
        </p:spPr>
        <p:txBody>
          <a:bodyPr wrap="square">
            <a:spAutoFit/>
          </a:bodyPr>
          <a:lstStyle/>
          <a:p>
            <a:r>
              <a:rPr lang="en-US" b="1" dirty="0"/>
              <a:t>Block Groups within ¼ mile of Austin &amp; Division Bus Terminal</a:t>
            </a:r>
          </a:p>
        </p:txBody>
      </p:sp>
      <p:sp>
        <p:nvSpPr>
          <p:cNvPr id="12" name="Rectangle 11">
            <a:extLst>
              <a:ext uri="{FF2B5EF4-FFF2-40B4-BE49-F238E27FC236}">
                <a16:creationId xmlns:a16="http://schemas.microsoft.com/office/drawing/2014/main" id="{F8626E09-6760-43E6-9D7E-CBDEEA20B4E0}"/>
              </a:ext>
            </a:extLst>
          </p:cNvPr>
          <p:cNvSpPr/>
          <p:nvPr/>
        </p:nvSpPr>
        <p:spPr>
          <a:xfrm>
            <a:off x="1949560" y="1809674"/>
            <a:ext cx="8358810" cy="611236"/>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E90EAF35-5E16-4C63-9EE6-9C87012C9E71}"/>
              </a:ext>
            </a:extLst>
          </p:cNvPr>
          <p:cNvSpPr/>
          <p:nvPr/>
        </p:nvSpPr>
        <p:spPr>
          <a:xfrm>
            <a:off x="1947903" y="2420910"/>
            <a:ext cx="8358810" cy="591130"/>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a:extLst>
              <a:ext uri="{FF2B5EF4-FFF2-40B4-BE49-F238E27FC236}">
                <a16:creationId xmlns:a16="http://schemas.microsoft.com/office/drawing/2014/main" id="{1E898141-270A-4BAE-9AAF-DE3790CDC155}"/>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r="33849"/>
          <a:stretch/>
        </p:blipFill>
        <p:spPr>
          <a:xfrm>
            <a:off x="1906986" y="3463645"/>
            <a:ext cx="2707723" cy="2689394"/>
          </a:xfrm>
          <a:prstGeom prst="rect">
            <a:avLst/>
          </a:prstGeom>
        </p:spPr>
      </p:pic>
      <p:pic>
        <p:nvPicPr>
          <p:cNvPr id="15" name="Picture 14">
            <a:extLst>
              <a:ext uri="{FF2B5EF4-FFF2-40B4-BE49-F238E27FC236}">
                <a16:creationId xmlns:a16="http://schemas.microsoft.com/office/drawing/2014/main" id="{3836CE8E-83CD-461F-89A3-BFA04E604F9C}"/>
              </a:ext>
            </a:extLst>
          </p:cNvPr>
          <p:cNvPicPr>
            <a:picLocks noChangeAspect="1"/>
          </p:cNvPicPr>
          <p:nvPr/>
        </p:nvPicPr>
        <p:blipFill rotWithShape="1">
          <a:blip r:embed="rId7">
            <a:extLst>
              <a:ext uri="{28A0092B-C50C-407E-A947-70E740481C1C}">
                <a14:useLocalDpi xmlns:a14="http://schemas.microsoft.com/office/drawing/2010/main" val="0"/>
              </a:ext>
            </a:extLst>
          </a:blip>
          <a:srcRect l="66508" t="9231" b="65197"/>
          <a:stretch/>
        </p:blipFill>
        <p:spPr>
          <a:xfrm>
            <a:off x="4614709" y="3336260"/>
            <a:ext cx="3215640" cy="1613079"/>
          </a:xfrm>
          <a:prstGeom prst="rect">
            <a:avLst/>
          </a:prstGeom>
        </p:spPr>
      </p:pic>
      <p:grpSp>
        <p:nvGrpSpPr>
          <p:cNvPr id="10" name="Group 9">
            <a:extLst>
              <a:ext uri="{FF2B5EF4-FFF2-40B4-BE49-F238E27FC236}">
                <a16:creationId xmlns:a16="http://schemas.microsoft.com/office/drawing/2014/main" id="{7A80C2AF-A3F1-47D2-8C46-EC9B42F22B4A}"/>
              </a:ext>
            </a:extLst>
          </p:cNvPr>
          <p:cNvGrpSpPr/>
          <p:nvPr/>
        </p:nvGrpSpPr>
        <p:grpSpPr>
          <a:xfrm>
            <a:off x="1947903" y="2183432"/>
            <a:ext cx="8358810" cy="3481604"/>
            <a:chOff x="1947903" y="2183432"/>
            <a:chExt cx="8358810" cy="3481604"/>
          </a:xfrm>
        </p:grpSpPr>
        <p:sp>
          <p:nvSpPr>
            <p:cNvPr id="4" name="Oval 3">
              <a:extLst>
                <a:ext uri="{FF2B5EF4-FFF2-40B4-BE49-F238E27FC236}">
                  <a16:creationId xmlns:a16="http://schemas.microsoft.com/office/drawing/2014/main" id="{F67987AD-19AD-4EEE-ABE3-4D4766EDC9DB}"/>
                </a:ext>
              </a:extLst>
            </p:cNvPr>
            <p:cNvSpPr/>
            <p:nvPr/>
          </p:nvSpPr>
          <p:spPr>
            <a:xfrm>
              <a:off x="3316483" y="5392680"/>
              <a:ext cx="272356" cy="27235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D523888-A743-4663-A15B-FCFF2129C9A5}"/>
                </a:ext>
              </a:extLst>
            </p:cNvPr>
            <p:cNvSpPr/>
            <p:nvPr/>
          </p:nvSpPr>
          <p:spPr>
            <a:xfrm>
              <a:off x="2504788" y="4798403"/>
              <a:ext cx="272356" cy="27235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9FBADAE-C733-4C07-9E3E-2464C7C6A60C}"/>
                </a:ext>
              </a:extLst>
            </p:cNvPr>
            <p:cNvSpPr/>
            <p:nvPr/>
          </p:nvSpPr>
          <p:spPr>
            <a:xfrm>
              <a:off x="1947903" y="2183432"/>
              <a:ext cx="8358810" cy="223591"/>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5A17A8D-470E-4A1C-9EF5-50BC401AAC28}"/>
                </a:ext>
              </a:extLst>
            </p:cNvPr>
            <p:cNvSpPr/>
            <p:nvPr/>
          </p:nvSpPr>
          <p:spPr>
            <a:xfrm>
              <a:off x="1947903" y="2614128"/>
              <a:ext cx="8358810" cy="223591"/>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48539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7" name="Shape 234">
            <a:extLst>
              <a:ext uri="{FF2B5EF4-FFF2-40B4-BE49-F238E27FC236}">
                <a16:creationId xmlns:a16="http://schemas.microsoft.com/office/drawing/2014/main" id="{DA73B5E3-EA2D-45DE-9C77-659F8D522878}"/>
              </a:ext>
            </a:extLst>
          </p:cNvPr>
          <p:cNvPicPr preferRelativeResize="0"/>
          <p:nvPr/>
        </p:nvPicPr>
        <p:blipFill rotWithShape="1">
          <a:blip r:embed="rId3">
            <a:alphaModFix/>
          </a:blip>
          <a:srcRect l="66233" t="12309" r="25650" b="46658"/>
          <a:stretch/>
        </p:blipFill>
        <p:spPr>
          <a:xfrm>
            <a:off x="0" y="1"/>
            <a:ext cx="12192000" cy="723900"/>
          </a:xfrm>
          <a:prstGeom prst="rect">
            <a:avLst/>
          </a:prstGeom>
          <a:noFill/>
          <a:ln>
            <a:noFill/>
          </a:ln>
        </p:spPr>
      </p:pic>
      <p:sp>
        <p:nvSpPr>
          <p:cNvPr id="8" name="TextBox 7">
            <a:extLst>
              <a:ext uri="{FF2B5EF4-FFF2-40B4-BE49-F238E27FC236}">
                <a16:creationId xmlns:a16="http://schemas.microsoft.com/office/drawing/2014/main" id="{071723E8-3066-4335-B7ED-0223B2FDE845}"/>
              </a:ext>
            </a:extLst>
          </p:cNvPr>
          <p:cNvSpPr txBox="1"/>
          <p:nvPr/>
        </p:nvSpPr>
        <p:spPr>
          <a:xfrm>
            <a:off x="0" y="48110"/>
            <a:ext cx="12191999" cy="584775"/>
          </a:xfrm>
          <a:prstGeom prst="rect">
            <a:avLst/>
          </a:prstGeom>
          <a:noFill/>
        </p:spPr>
        <p:txBody>
          <a:bodyPr wrap="square" rtlCol="0">
            <a:spAutoFit/>
          </a:bodyPr>
          <a:lstStyle/>
          <a:p>
            <a:r>
              <a:rPr lang="en-US" sz="3200" dirty="0">
                <a:solidFill>
                  <a:schemeClr val="bg1"/>
                </a:solidFill>
                <a:latin typeface="Franklin Gothic Demi Cond" panose="020B0706030402020204" pitchFamily="34" charset="0"/>
              </a:rPr>
              <a:t>PERCENT CHANGE IN PUBLIC TRANSIT COMMUTERS</a:t>
            </a:r>
          </a:p>
        </p:txBody>
      </p:sp>
      <p:pic>
        <p:nvPicPr>
          <p:cNvPr id="16" name="Picture 15">
            <a:extLst>
              <a:ext uri="{FF2B5EF4-FFF2-40B4-BE49-F238E27FC236}">
                <a16:creationId xmlns:a16="http://schemas.microsoft.com/office/drawing/2014/main" id="{DED8ED11-9149-4D80-ADD4-14C2736CA96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95399" y="978363"/>
            <a:ext cx="9601200" cy="5169325"/>
          </a:xfrm>
          <a:prstGeom prst="rect">
            <a:avLst/>
          </a:prstGeom>
          <a:noFill/>
        </p:spPr>
      </p:pic>
      <p:sp>
        <p:nvSpPr>
          <p:cNvPr id="17" name="TextBox 16">
            <a:extLst>
              <a:ext uri="{FF2B5EF4-FFF2-40B4-BE49-F238E27FC236}">
                <a16:creationId xmlns:a16="http://schemas.microsoft.com/office/drawing/2014/main" id="{0B206BB1-0A28-4074-B602-988E7AD7D098}"/>
              </a:ext>
            </a:extLst>
          </p:cNvPr>
          <p:cNvSpPr txBox="1"/>
          <p:nvPr/>
        </p:nvSpPr>
        <p:spPr>
          <a:xfrm>
            <a:off x="1833066" y="6303940"/>
            <a:ext cx="3069495" cy="338554"/>
          </a:xfrm>
          <a:prstGeom prst="rect">
            <a:avLst/>
          </a:prstGeom>
          <a:noFill/>
        </p:spPr>
        <p:txBody>
          <a:bodyPr wrap="none" rtlCol="0">
            <a:spAutoFit/>
          </a:bodyPr>
          <a:lstStyle/>
          <a:p>
            <a:r>
              <a:rPr lang="en-US" sz="1600" i="1" dirty="0"/>
              <a:t>Data source:  ACS 5-year estimates</a:t>
            </a:r>
          </a:p>
        </p:txBody>
      </p:sp>
    </p:spTree>
    <p:extLst>
      <p:ext uri="{BB962C8B-B14F-4D97-AF65-F5344CB8AC3E}">
        <p14:creationId xmlns:p14="http://schemas.microsoft.com/office/powerpoint/2010/main" val="29329915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extBox 55">
            <a:extLst>
              <a:ext uri="{FF2B5EF4-FFF2-40B4-BE49-F238E27FC236}">
                <a16:creationId xmlns:a16="http://schemas.microsoft.com/office/drawing/2014/main" id="{96A26AE6-E88F-42C9-902C-E5D1BE160445}"/>
              </a:ext>
            </a:extLst>
          </p:cNvPr>
          <p:cNvSpPr txBox="1"/>
          <p:nvPr/>
        </p:nvSpPr>
        <p:spPr>
          <a:xfrm>
            <a:off x="621792" y="715844"/>
            <a:ext cx="10450286" cy="5170646"/>
          </a:xfrm>
          <a:prstGeom prst="rect">
            <a:avLst/>
          </a:prstGeom>
          <a:noFill/>
        </p:spPr>
        <p:txBody>
          <a:bodyPr wrap="square" rtlCol="0">
            <a:spAutoFit/>
          </a:bodyPr>
          <a:lstStyle/>
          <a:p>
            <a:r>
              <a:rPr lang="en-US" sz="3000" i="1" dirty="0">
                <a:solidFill>
                  <a:schemeClr val="bg2">
                    <a:lumMod val="50000"/>
                  </a:schemeClr>
                </a:solidFill>
              </a:rPr>
              <a:t>Transportation touches every aspect of where we live, work, play, and go to school, as well as the physical and natural world. Transportation also plays a pivotal role in shaping human interaction, economic mobility, and sustainability. (Bullard, 2003)</a:t>
            </a:r>
          </a:p>
          <a:p>
            <a:pPr algn="r"/>
            <a:endParaRPr lang="en-US" sz="3000" i="1" dirty="0">
              <a:solidFill>
                <a:schemeClr val="bg2">
                  <a:lumMod val="50000"/>
                </a:schemeClr>
              </a:solidFill>
            </a:endParaRPr>
          </a:p>
          <a:p>
            <a:r>
              <a:rPr lang="en-US" sz="3000" i="1" dirty="0">
                <a:solidFill>
                  <a:schemeClr val="bg2">
                    <a:lumMod val="50000"/>
                  </a:schemeClr>
                </a:solidFill>
              </a:rPr>
              <a:t>Adequate transportation is a precondition for participating in life-enhancing opportunities such as employment, education, health care, and social networks. (Martens and Golub, 2018)</a:t>
            </a:r>
          </a:p>
          <a:p>
            <a:endParaRPr lang="en-US" sz="3000" i="1" dirty="0">
              <a:solidFill>
                <a:schemeClr val="bg2">
                  <a:lumMod val="50000"/>
                </a:schemeClr>
              </a:solidFill>
            </a:endParaRPr>
          </a:p>
          <a:p>
            <a:r>
              <a:rPr lang="en-US" sz="3000" i="1" dirty="0">
                <a:solidFill>
                  <a:schemeClr val="bg2">
                    <a:lumMod val="50000"/>
                  </a:schemeClr>
                </a:solidFill>
              </a:rPr>
              <a:t>Transportation, it can be argued, is a basic right, a primary good/service that should be distributed fairly, equitably.</a:t>
            </a:r>
          </a:p>
        </p:txBody>
      </p:sp>
    </p:spTree>
    <p:extLst>
      <p:ext uri="{BB962C8B-B14F-4D97-AF65-F5344CB8AC3E}">
        <p14:creationId xmlns:p14="http://schemas.microsoft.com/office/powerpoint/2010/main" val="36089482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CBB1110-DA0A-4BE3-8D3C-E8B535C262B3}"/>
              </a:ext>
            </a:extLst>
          </p:cNvPr>
          <p:cNvPicPr>
            <a:picLocks noChangeAspect="1"/>
          </p:cNvPicPr>
          <p:nvPr/>
        </p:nvPicPr>
        <p:blipFill>
          <a:blip r:embed="rId3"/>
          <a:stretch>
            <a:fillRect/>
          </a:stretch>
        </p:blipFill>
        <p:spPr>
          <a:xfrm>
            <a:off x="3552031" y="0"/>
            <a:ext cx="5087938" cy="6858000"/>
          </a:xfrm>
          <a:prstGeom prst="rect">
            <a:avLst/>
          </a:prstGeom>
        </p:spPr>
      </p:pic>
    </p:spTree>
    <p:extLst>
      <p:ext uri="{BB962C8B-B14F-4D97-AF65-F5344CB8AC3E}">
        <p14:creationId xmlns:p14="http://schemas.microsoft.com/office/powerpoint/2010/main" val="5432958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1724229" y="1035605"/>
            <a:ext cx="8877097" cy="5623048"/>
            <a:chOff x="200228" y="1172195"/>
            <a:chExt cx="8877097" cy="5623048"/>
          </a:xfrm>
        </p:grpSpPr>
        <p:pic>
          <p:nvPicPr>
            <p:cNvPr id="9" name="Picture 8"/>
            <p:cNvPicPr>
              <a:picLocks noChangeAspect="1"/>
            </p:cNvPicPr>
            <p:nvPr/>
          </p:nvPicPr>
          <p:blipFill>
            <a:blip r:embed="rId3"/>
            <a:stretch>
              <a:fillRect/>
            </a:stretch>
          </p:blipFill>
          <p:spPr>
            <a:xfrm>
              <a:off x="200228" y="1172195"/>
              <a:ext cx="8877097" cy="5014291"/>
            </a:xfrm>
            <a:prstGeom prst="rect">
              <a:avLst/>
            </a:prstGeom>
          </p:spPr>
        </p:pic>
        <p:sp>
          <p:nvSpPr>
            <p:cNvPr id="10" name="TextBox 9"/>
            <p:cNvSpPr txBox="1"/>
            <p:nvPr/>
          </p:nvSpPr>
          <p:spPr>
            <a:xfrm>
              <a:off x="239754" y="6425911"/>
              <a:ext cx="2062359" cy="369332"/>
            </a:xfrm>
            <a:prstGeom prst="rect">
              <a:avLst/>
            </a:prstGeom>
            <a:noFill/>
          </p:spPr>
          <p:txBody>
            <a:bodyPr wrap="none" rtlCol="0">
              <a:spAutoFit/>
            </a:bodyPr>
            <a:lstStyle/>
            <a:p>
              <a:r>
                <a:rPr lang="en-US" dirty="0"/>
                <a:t>Source: Reed, 2013</a:t>
              </a:r>
            </a:p>
          </p:txBody>
        </p:sp>
      </p:grpSp>
      <p:sp>
        <p:nvSpPr>
          <p:cNvPr id="5" name="Rectangle 4"/>
          <p:cNvSpPr/>
          <p:nvPr/>
        </p:nvSpPr>
        <p:spPr>
          <a:xfrm>
            <a:off x="3951661" y="5841626"/>
            <a:ext cx="6648450" cy="923330"/>
          </a:xfrm>
          <a:prstGeom prst="rect">
            <a:avLst/>
          </a:prstGeom>
        </p:spPr>
        <p:txBody>
          <a:bodyPr wrap="square">
            <a:spAutoFit/>
          </a:bodyPr>
          <a:lstStyle/>
          <a:p>
            <a:r>
              <a:rPr lang="en-US" i="1" dirty="0"/>
              <a:t>The General Transit Feed Specification (GTFS) defines </a:t>
            </a:r>
            <a:r>
              <a:rPr lang="en-US" b="1" i="1" dirty="0"/>
              <a:t>a common format </a:t>
            </a:r>
            <a:r>
              <a:rPr lang="en-US" i="1" dirty="0"/>
              <a:t>for public transportation schedules and associated geographic information. </a:t>
            </a:r>
            <a:r>
              <a:rPr lang="en-US" dirty="0"/>
              <a:t>Source: Transit Developers Google Group website</a:t>
            </a:r>
          </a:p>
        </p:txBody>
      </p:sp>
      <p:sp>
        <p:nvSpPr>
          <p:cNvPr id="11" name="Title 1"/>
          <p:cNvSpPr>
            <a:spLocks noGrp="1"/>
          </p:cNvSpPr>
          <p:nvPr>
            <p:ph type="title"/>
          </p:nvPr>
        </p:nvSpPr>
        <p:spPr>
          <a:xfrm>
            <a:off x="1631540" y="-72034"/>
            <a:ext cx="8928305" cy="1325563"/>
          </a:xfrm>
        </p:spPr>
        <p:txBody>
          <a:bodyPr/>
          <a:lstStyle/>
          <a:p>
            <a:r>
              <a:rPr lang="en-US" dirty="0"/>
              <a:t>General transit feed specification (GTFS)</a:t>
            </a:r>
          </a:p>
        </p:txBody>
      </p:sp>
      <p:sp>
        <p:nvSpPr>
          <p:cNvPr id="2" name="Rectangle 1"/>
          <p:cNvSpPr/>
          <p:nvPr/>
        </p:nvSpPr>
        <p:spPr>
          <a:xfrm>
            <a:off x="4991101" y="3722094"/>
            <a:ext cx="1083733" cy="131234"/>
          </a:xfrm>
          <a:prstGeom prst="rect">
            <a:avLst/>
          </a:prstGeom>
          <a:solidFill>
            <a:schemeClr val="accent2">
              <a:alpha val="50000"/>
            </a:schemeClr>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en-US" dirty="0"/>
          </a:p>
        </p:txBody>
      </p:sp>
      <p:sp>
        <p:nvSpPr>
          <p:cNvPr id="8" name="Rectangle 7"/>
          <p:cNvSpPr/>
          <p:nvPr/>
        </p:nvSpPr>
        <p:spPr>
          <a:xfrm>
            <a:off x="8001001" y="4115794"/>
            <a:ext cx="1083733" cy="131234"/>
          </a:xfrm>
          <a:prstGeom prst="rect">
            <a:avLst/>
          </a:prstGeom>
          <a:solidFill>
            <a:schemeClr val="accent2">
              <a:alpha val="50000"/>
            </a:schemeClr>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07539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the history of GTFS?</a:t>
            </a:r>
          </a:p>
        </p:txBody>
      </p:sp>
      <p:sp>
        <p:nvSpPr>
          <p:cNvPr id="5" name="Rectangle 4"/>
          <p:cNvSpPr/>
          <p:nvPr/>
        </p:nvSpPr>
        <p:spPr>
          <a:xfrm>
            <a:off x="2313713" y="1521206"/>
            <a:ext cx="2234045" cy="11637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call for Open-Source Public Transit Mapping (</a:t>
            </a:r>
            <a:r>
              <a:rPr lang="en-US" dirty="0" err="1"/>
              <a:t>Faludi</a:t>
            </a:r>
            <a:r>
              <a:rPr lang="en-US" dirty="0"/>
              <a:t>, 2005)</a:t>
            </a:r>
          </a:p>
        </p:txBody>
      </p:sp>
      <p:sp>
        <p:nvSpPr>
          <p:cNvPr id="6" name="Rectangle 5"/>
          <p:cNvSpPr/>
          <p:nvPr/>
        </p:nvSpPr>
        <p:spPr>
          <a:xfrm>
            <a:off x="2344885" y="2940427"/>
            <a:ext cx="2234045" cy="1215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Chris Harrelson (software engineer, Google)</a:t>
            </a:r>
          </a:p>
        </p:txBody>
      </p:sp>
      <p:sp>
        <p:nvSpPr>
          <p:cNvPr id="7" name="Rectangle 6"/>
          <p:cNvSpPr/>
          <p:nvPr/>
        </p:nvSpPr>
        <p:spPr>
          <a:xfrm>
            <a:off x="2344885" y="4413343"/>
            <a:ext cx="2234045" cy="10875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Bibiana</a:t>
            </a:r>
            <a:r>
              <a:rPr lang="en-US" dirty="0"/>
              <a:t> McHugh (IT Manager, </a:t>
            </a:r>
            <a:r>
              <a:rPr lang="en-US" dirty="0" err="1"/>
              <a:t>TriMET</a:t>
            </a:r>
            <a:r>
              <a:rPr lang="en-US" dirty="0"/>
              <a:t>)</a:t>
            </a:r>
          </a:p>
        </p:txBody>
      </p:sp>
      <p:grpSp>
        <p:nvGrpSpPr>
          <p:cNvPr id="18" name="Group 17"/>
          <p:cNvGrpSpPr/>
          <p:nvPr/>
        </p:nvGrpSpPr>
        <p:grpSpPr>
          <a:xfrm>
            <a:off x="5482942" y="1524395"/>
            <a:ext cx="4556409" cy="2610987"/>
            <a:chOff x="3958941" y="1780033"/>
            <a:chExt cx="4556409" cy="2610987"/>
          </a:xfrm>
        </p:grpSpPr>
        <p:sp>
          <p:nvSpPr>
            <p:cNvPr id="8" name="Right Arrow 7"/>
            <p:cNvSpPr/>
            <p:nvPr/>
          </p:nvSpPr>
          <p:spPr>
            <a:xfrm>
              <a:off x="3958941" y="3175283"/>
              <a:ext cx="1704109" cy="12157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281305" y="1780033"/>
              <a:ext cx="2234045" cy="13154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Google Transit Feed System (GTFS)</a:t>
              </a:r>
            </a:p>
            <a:p>
              <a:pPr algn="ctr"/>
              <a:r>
                <a:rPr lang="en-US" dirty="0"/>
                <a:t>First iteration 9/25/2006</a:t>
              </a:r>
            </a:p>
          </p:txBody>
        </p:sp>
      </p:grpSp>
      <p:sp>
        <p:nvSpPr>
          <p:cNvPr id="3" name="Striped Right Arrow 2"/>
          <p:cNvSpPr/>
          <p:nvPr/>
        </p:nvSpPr>
        <p:spPr>
          <a:xfrm rot="5400000">
            <a:off x="8024604" y="2980200"/>
            <a:ext cx="1795445" cy="1781447"/>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30+ revisions since</a:t>
            </a:r>
          </a:p>
        </p:txBody>
      </p:sp>
      <p:sp>
        <p:nvSpPr>
          <p:cNvPr id="4" name="TextBox 3"/>
          <p:cNvSpPr txBox="1"/>
          <p:nvPr/>
        </p:nvSpPr>
        <p:spPr>
          <a:xfrm>
            <a:off x="7197950" y="4808828"/>
            <a:ext cx="3234860" cy="2031325"/>
          </a:xfrm>
          <a:prstGeom prst="rect">
            <a:avLst/>
          </a:prstGeom>
          <a:noFill/>
        </p:spPr>
        <p:txBody>
          <a:bodyPr wrap="none" rtlCol="0">
            <a:spAutoFit/>
          </a:bodyPr>
          <a:lstStyle/>
          <a:p>
            <a:r>
              <a:rPr lang="en-US" dirty="0"/>
              <a:t>Notable revisions</a:t>
            </a:r>
          </a:p>
          <a:p>
            <a:pPr marL="285750" indent="-285750">
              <a:buFont typeface="Arial" panose="020B0604020202020204" pitchFamily="34" charset="0"/>
              <a:buChar char="•"/>
            </a:pPr>
            <a:r>
              <a:rPr lang="en-US" dirty="0"/>
              <a:t>GTFS Real-Time (8/2011)</a:t>
            </a:r>
          </a:p>
          <a:p>
            <a:pPr marL="285750" indent="-285750">
              <a:buFont typeface="Arial" panose="020B0604020202020204" pitchFamily="34" charset="0"/>
              <a:buChar char="•"/>
            </a:pPr>
            <a:r>
              <a:rPr lang="en-US" dirty="0"/>
              <a:t>Wheelchair access (10/2012)</a:t>
            </a:r>
          </a:p>
          <a:p>
            <a:pPr marL="285750" indent="-285750">
              <a:buFont typeface="Arial" panose="020B0604020202020204" pitchFamily="34" charset="0"/>
              <a:buChar char="•"/>
            </a:pPr>
            <a:r>
              <a:rPr lang="en-US" dirty="0"/>
              <a:t>Bikes allowed (2/2014)</a:t>
            </a:r>
          </a:p>
          <a:p>
            <a:pPr marL="285750" indent="-285750">
              <a:buFont typeface="Arial" panose="020B0604020202020204" pitchFamily="34" charset="0"/>
              <a:buChar char="•"/>
            </a:pPr>
            <a:r>
              <a:rPr lang="en-US" dirty="0" err="1"/>
              <a:t>Timepoint</a:t>
            </a:r>
            <a:r>
              <a:rPr lang="en-US" dirty="0"/>
              <a:t> field (2/2015)</a:t>
            </a:r>
          </a:p>
          <a:p>
            <a:pPr marL="285750" indent="-285750">
              <a:buFont typeface="Arial" panose="020B0604020202020204" pitchFamily="34" charset="0"/>
              <a:buChar char="•"/>
            </a:pPr>
            <a:r>
              <a:rPr lang="en-US" dirty="0"/>
              <a:t>Agency email added (2/2016)</a:t>
            </a:r>
          </a:p>
          <a:p>
            <a:pPr marL="285750" indent="-285750">
              <a:buFont typeface="Arial" panose="020B0604020202020204" pitchFamily="34" charset="0"/>
              <a:buChar char="•"/>
            </a:pPr>
            <a:r>
              <a:rPr lang="en-US" dirty="0"/>
              <a:t>More…</a:t>
            </a:r>
          </a:p>
        </p:txBody>
      </p:sp>
      <p:sp>
        <p:nvSpPr>
          <p:cNvPr id="10" name="Rectangle 9"/>
          <p:cNvSpPr/>
          <p:nvPr/>
        </p:nvSpPr>
        <p:spPr>
          <a:xfrm>
            <a:off x="2271314" y="5585252"/>
            <a:ext cx="4179325" cy="1200329"/>
          </a:xfrm>
          <a:prstGeom prst="rect">
            <a:avLst/>
          </a:prstGeom>
        </p:spPr>
        <p:txBody>
          <a:bodyPr wrap="square">
            <a:spAutoFit/>
          </a:bodyPr>
          <a:lstStyle/>
          <a:p>
            <a:r>
              <a:rPr lang="en-US" dirty="0"/>
              <a:t>In 1998, Bay Area Rapid Transit released schedule data in the comma-separated values (.csv) format; this was the first known release of transit data to the public.</a:t>
            </a:r>
          </a:p>
        </p:txBody>
      </p:sp>
    </p:spTree>
    <p:extLst>
      <p:ext uri="{BB962C8B-B14F-4D97-AF65-F5344CB8AC3E}">
        <p14:creationId xmlns:p14="http://schemas.microsoft.com/office/powerpoint/2010/main" val="4235598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605335" y="146748"/>
            <a:ext cx="8397690" cy="4023014"/>
          </a:xfrm>
          <a:prstGeom prst="rect">
            <a:avLst/>
          </a:prstGeom>
        </p:spPr>
      </p:pic>
      <p:sp>
        <p:nvSpPr>
          <p:cNvPr id="5" name="TextBox 4"/>
          <p:cNvSpPr txBox="1"/>
          <p:nvPr/>
        </p:nvSpPr>
        <p:spPr>
          <a:xfrm>
            <a:off x="1878054" y="6244936"/>
            <a:ext cx="1455142" cy="369332"/>
          </a:xfrm>
          <a:prstGeom prst="rect">
            <a:avLst/>
          </a:prstGeom>
          <a:noFill/>
        </p:spPr>
        <p:txBody>
          <a:bodyPr wrap="none" rtlCol="0">
            <a:spAutoFit/>
          </a:bodyPr>
          <a:lstStyle/>
          <a:p>
            <a:r>
              <a:rPr lang="en-US" dirty="0"/>
              <a:t>(Wong, 2013)</a:t>
            </a:r>
          </a:p>
        </p:txBody>
      </p:sp>
      <p:pic>
        <p:nvPicPr>
          <p:cNvPr id="6" name="Picture 5"/>
          <p:cNvPicPr>
            <a:picLocks noChangeAspect="1"/>
          </p:cNvPicPr>
          <p:nvPr/>
        </p:nvPicPr>
        <p:blipFill>
          <a:blip r:embed="rId4"/>
          <a:stretch>
            <a:fillRect/>
          </a:stretch>
        </p:blipFill>
        <p:spPr>
          <a:xfrm>
            <a:off x="1657782" y="4499265"/>
            <a:ext cx="7826712" cy="1700212"/>
          </a:xfrm>
          <a:prstGeom prst="rect">
            <a:avLst/>
          </a:prstGeom>
        </p:spPr>
      </p:pic>
      <p:sp>
        <p:nvSpPr>
          <p:cNvPr id="2" name="Oval 1"/>
          <p:cNvSpPr/>
          <p:nvPr/>
        </p:nvSpPr>
        <p:spPr>
          <a:xfrm>
            <a:off x="7539039" y="3781425"/>
            <a:ext cx="547687" cy="514350"/>
          </a:xfrm>
          <a:prstGeom prst="ellipse">
            <a:avLst/>
          </a:prstGeom>
          <a:solidFill>
            <a:srgbClr val="FFFF00">
              <a:alpha val="40000"/>
            </a:srgb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2605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818968" y="172432"/>
            <a:ext cx="8455743" cy="1200329"/>
          </a:xfrm>
          <a:prstGeom prst="rect">
            <a:avLst/>
          </a:prstGeom>
        </p:spPr>
        <p:txBody>
          <a:bodyPr wrap="square">
            <a:spAutoFit/>
          </a:bodyPr>
          <a:lstStyle/>
          <a:p>
            <a:r>
              <a:rPr lang="en-US" sz="2400" dirty="0"/>
              <a:t>In March 2016 the Secretary of the US DOT wrote a letter advocating broad GTFS contribution and a national registry of GTFS, coming one step shy of requiring it from all agencies.</a:t>
            </a:r>
          </a:p>
        </p:txBody>
      </p:sp>
      <p:pic>
        <p:nvPicPr>
          <p:cNvPr id="5" name="Picture 4"/>
          <p:cNvPicPr>
            <a:picLocks noChangeAspect="1"/>
          </p:cNvPicPr>
          <p:nvPr/>
        </p:nvPicPr>
        <p:blipFill>
          <a:blip r:embed="rId3"/>
          <a:stretch>
            <a:fillRect/>
          </a:stretch>
        </p:blipFill>
        <p:spPr>
          <a:xfrm>
            <a:off x="1632154" y="1478362"/>
            <a:ext cx="8839201" cy="5118364"/>
          </a:xfrm>
          <a:prstGeom prst="rect">
            <a:avLst/>
          </a:prstGeom>
        </p:spPr>
      </p:pic>
    </p:spTree>
    <p:extLst>
      <p:ext uri="{BB962C8B-B14F-4D97-AF65-F5344CB8AC3E}">
        <p14:creationId xmlns:p14="http://schemas.microsoft.com/office/powerpoint/2010/main" val="42243167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1346" y="331997"/>
            <a:ext cx="8515350" cy="1325563"/>
          </a:xfrm>
        </p:spPr>
        <p:txBody>
          <a:bodyPr>
            <a:normAutofit fontScale="90000"/>
          </a:bodyPr>
          <a:lstStyle/>
          <a:p>
            <a:r>
              <a:rPr lang="en-US" dirty="0"/>
              <a:t>GTFS implications for </a:t>
            </a:r>
            <a:r>
              <a:rPr lang="en-US" i="1" dirty="0"/>
              <a:t>livable communities/sustainable development</a:t>
            </a:r>
            <a:endParaRPr lang="en-US" dirty="0"/>
          </a:p>
        </p:txBody>
      </p:sp>
      <p:sp>
        <p:nvSpPr>
          <p:cNvPr id="3" name="Content Placeholder 2"/>
          <p:cNvSpPr txBox="1">
            <a:spLocks/>
          </p:cNvSpPr>
          <p:nvPr/>
        </p:nvSpPr>
        <p:spPr>
          <a:xfrm>
            <a:off x="2152650" y="1945520"/>
            <a:ext cx="7886700" cy="31750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Enhances usability of transit system by existing transit riders (trip planning)</a:t>
            </a:r>
          </a:p>
          <a:p>
            <a:r>
              <a:rPr lang="en-US" dirty="0"/>
              <a:t>Makes visible transit as viable option for potential riders (makes transit systems less confusing; approachable)</a:t>
            </a:r>
          </a:p>
          <a:p>
            <a:r>
              <a:rPr lang="en-US" dirty="0"/>
              <a:t>Cascading positive effects of increased transit use (public health; environmental health; urban design)</a:t>
            </a:r>
          </a:p>
          <a:p>
            <a:r>
              <a:rPr lang="en-US" dirty="0"/>
              <a:t>Allows for regular performance-based assessments of existing, modified and planned transit systems (transparency; equity; collaborative governance)</a:t>
            </a:r>
          </a:p>
        </p:txBody>
      </p:sp>
    </p:spTree>
    <p:extLst>
      <p:ext uri="{BB962C8B-B14F-4D97-AF65-F5344CB8AC3E}">
        <p14:creationId xmlns:p14="http://schemas.microsoft.com/office/powerpoint/2010/main" val="38139617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hape 234">
            <a:extLst>
              <a:ext uri="{FF2B5EF4-FFF2-40B4-BE49-F238E27FC236}">
                <a16:creationId xmlns:a16="http://schemas.microsoft.com/office/drawing/2014/main" id="{B978C577-EA70-4070-BF69-63D62FA6EDB9}"/>
              </a:ext>
            </a:extLst>
          </p:cNvPr>
          <p:cNvPicPr preferRelativeResize="0"/>
          <p:nvPr/>
        </p:nvPicPr>
        <p:blipFill rotWithShape="1">
          <a:blip r:embed="rId3">
            <a:alphaModFix/>
          </a:blip>
          <a:srcRect l="66233" t="12309" r="25650" b="46658"/>
          <a:stretch/>
        </p:blipFill>
        <p:spPr>
          <a:xfrm>
            <a:off x="0" y="1"/>
            <a:ext cx="12192000" cy="723900"/>
          </a:xfrm>
          <a:prstGeom prst="rect">
            <a:avLst/>
          </a:prstGeom>
          <a:noFill/>
          <a:ln>
            <a:noFill/>
          </a:ln>
        </p:spPr>
      </p:pic>
      <p:sp>
        <p:nvSpPr>
          <p:cNvPr id="6" name="TextBox 5">
            <a:extLst>
              <a:ext uri="{FF2B5EF4-FFF2-40B4-BE49-F238E27FC236}">
                <a16:creationId xmlns:a16="http://schemas.microsoft.com/office/drawing/2014/main" id="{52D15B65-D7CB-4D7B-9A23-E730B5255DE2}"/>
              </a:ext>
            </a:extLst>
          </p:cNvPr>
          <p:cNvSpPr txBox="1"/>
          <p:nvPr/>
        </p:nvSpPr>
        <p:spPr>
          <a:xfrm>
            <a:off x="0" y="48110"/>
            <a:ext cx="12191999" cy="584775"/>
          </a:xfrm>
          <a:prstGeom prst="rect">
            <a:avLst/>
          </a:prstGeom>
          <a:noFill/>
        </p:spPr>
        <p:txBody>
          <a:bodyPr wrap="square" rtlCol="0">
            <a:spAutoFit/>
          </a:bodyPr>
          <a:lstStyle/>
          <a:p>
            <a:r>
              <a:rPr lang="en-US" sz="3200" dirty="0">
                <a:solidFill>
                  <a:schemeClr val="bg1"/>
                </a:solidFill>
                <a:latin typeface="Franklin Gothic Demi Cond" panose="020B0706030402020204" pitchFamily="34" charset="0"/>
              </a:rPr>
              <a:t>INACCESSIBLE TRAIN STATIONS IN CHICAGO AREA</a:t>
            </a:r>
          </a:p>
        </p:txBody>
      </p:sp>
      <p:pic>
        <p:nvPicPr>
          <p:cNvPr id="8" name="Picture 7">
            <a:extLst>
              <a:ext uri="{FF2B5EF4-FFF2-40B4-BE49-F238E27FC236}">
                <a16:creationId xmlns:a16="http://schemas.microsoft.com/office/drawing/2014/main" id="{BB22C2F4-6D36-4401-A0D3-82E15830C3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41909" y="1034994"/>
            <a:ext cx="4187527" cy="5589581"/>
          </a:xfrm>
          <a:prstGeom prst="rect">
            <a:avLst/>
          </a:prstGeom>
          <a:ln>
            <a:solidFill>
              <a:schemeClr val="tx1"/>
            </a:solidFill>
          </a:ln>
        </p:spPr>
      </p:pic>
      <p:pic>
        <p:nvPicPr>
          <p:cNvPr id="14" name="Picture 13">
            <a:extLst>
              <a:ext uri="{FF2B5EF4-FFF2-40B4-BE49-F238E27FC236}">
                <a16:creationId xmlns:a16="http://schemas.microsoft.com/office/drawing/2014/main" id="{9116B277-F5C7-44F7-BFD7-8E4DC193F088}"/>
              </a:ext>
            </a:extLst>
          </p:cNvPr>
          <p:cNvPicPr>
            <a:picLocks noChangeAspect="1"/>
          </p:cNvPicPr>
          <p:nvPr/>
        </p:nvPicPr>
        <p:blipFill>
          <a:blip r:embed="rId5"/>
          <a:stretch>
            <a:fillRect/>
          </a:stretch>
        </p:blipFill>
        <p:spPr>
          <a:xfrm>
            <a:off x="6200132" y="1034993"/>
            <a:ext cx="4147436" cy="5589581"/>
          </a:xfrm>
          <a:prstGeom prst="rect">
            <a:avLst/>
          </a:prstGeom>
          <a:ln>
            <a:solidFill>
              <a:schemeClr val="tx1"/>
            </a:solidFill>
          </a:ln>
        </p:spPr>
      </p:pic>
    </p:spTree>
    <p:extLst>
      <p:ext uri="{BB962C8B-B14F-4D97-AF65-F5344CB8AC3E}">
        <p14:creationId xmlns:p14="http://schemas.microsoft.com/office/powerpoint/2010/main" val="33590032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B3CB4BE5-7E14-4F69-9440-CF60B233F7F2}"/>
              </a:ext>
            </a:extLst>
          </p:cNvPr>
          <p:cNvSpPr/>
          <p:nvPr/>
        </p:nvSpPr>
        <p:spPr>
          <a:xfrm>
            <a:off x="0" y="2"/>
            <a:ext cx="12192000" cy="679692"/>
          </a:xfrm>
          <a:prstGeom prst="rect">
            <a:avLst/>
          </a:prstGeom>
          <a:solidFill>
            <a:srgbClr val="1948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16F687B1-CEB1-4207-BA81-ED7FA94AAD2C}"/>
              </a:ext>
            </a:extLst>
          </p:cNvPr>
          <p:cNvSpPr txBox="1"/>
          <p:nvPr/>
        </p:nvSpPr>
        <p:spPr>
          <a:xfrm>
            <a:off x="260293" y="48110"/>
            <a:ext cx="11331941" cy="584775"/>
          </a:xfrm>
          <a:prstGeom prst="rect">
            <a:avLst/>
          </a:prstGeom>
          <a:solidFill>
            <a:srgbClr val="194852"/>
          </a:solidFill>
        </p:spPr>
        <p:txBody>
          <a:bodyPr wrap="square" rtlCol="0">
            <a:spAutoFit/>
          </a:bodyPr>
          <a:lstStyle/>
          <a:p>
            <a:r>
              <a:rPr lang="en-US" sz="3200" dirty="0">
                <a:solidFill>
                  <a:schemeClr val="bg1"/>
                </a:solidFill>
                <a:latin typeface="Franklin Gothic Demi Cond" panose="020B0706030402020204" pitchFamily="34" charset="0"/>
              </a:rPr>
              <a:t>EQUITABLE PUBLIC TRANSIT</a:t>
            </a:r>
          </a:p>
        </p:txBody>
      </p:sp>
      <p:pic>
        <p:nvPicPr>
          <p:cNvPr id="11" name="Picture 10">
            <a:extLst>
              <a:ext uri="{FF2B5EF4-FFF2-40B4-BE49-F238E27FC236}">
                <a16:creationId xmlns:a16="http://schemas.microsoft.com/office/drawing/2014/main" id="{AFD8679E-A383-4B23-9CA3-C64B2C5D03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19650" y="1155331"/>
            <a:ext cx="4572000" cy="2791208"/>
          </a:xfrm>
          <a:prstGeom prst="rect">
            <a:avLst/>
          </a:prstGeom>
        </p:spPr>
      </p:pic>
      <p:pic>
        <p:nvPicPr>
          <p:cNvPr id="12" name="Gaps_ForestPark_HigherRes">
            <a:hlinkClick r:id="" action="ppaction://media"/>
            <a:extLst>
              <a:ext uri="{FF2B5EF4-FFF2-40B4-BE49-F238E27FC236}">
                <a16:creationId xmlns:a16="http://schemas.microsoft.com/office/drawing/2014/main" id="{326155CF-103A-4FE4-B668-C48AE46ECB8E}"/>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60292" y="819149"/>
            <a:ext cx="4368857" cy="5825143"/>
          </a:xfrm>
          <a:prstGeom prst="rect">
            <a:avLst/>
          </a:prstGeom>
          <a:ln>
            <a:solidFill>
              <a:schemeClr val="tx1"/>
            </a:solidFill>
          </a:ln>
        </p:spPr>
      </p:pic>
      <p:sp>
        <p:nvSpPr>
          <p:cNvPr id="15" name="Rectangle 14">
            <a:extLst>
              <a:ext uri="{FF2B5EF4-FFF2-40B4-BE49-F238E27FC236}">
                <a16:creationId xmlns:a16="http://schemas.microsoft.com/office/drawing/2014/main" id="{F8431CCC-3A29-4A2F-8424-6F17B8BAF119}"/>
              </a:ext>
            </a:extLst>
          </p:cNvPr>
          <p:cNvSpPr/>
          <p:nvPr/>
        </p:nvSpPr>
        <p:spPr>
          <a:xfrm>
            <a:off x="5813610" y="4422176"/>
            <a:ext cx="5401235" cy="1938992"/>
          </a:xfrm>
          <a:prstGeom prst="rect">
            <a:avLst/>
          </a:prstGeom>
        </p:spPr>
        <p:txBody>
          <a:bodyPr wrap="square">
            <a:spAutoFit/>
          </a:bodyPr>
          <a:lstStyle/>
          <a:p>
            <a:pPr algn="ctr"/>
            <a:r>
              <a:rPr lang="en-US" sz="4000" b="1" dirty="0">
                <a:solidFill>
                  <a:srgbClr val="466C74"/>
                </a:solidFill>
              </a:rPr>
              <a:t>As mobility becomes more constrained, job opportunities dwindle. </a:t>
            </a:r>
          </a:p>
        </p:txBody>
      </p:sp>
      <p:sp>
        <p:nvSpPr>
          <p:cNvPr id="35" name="Rectangle 34">
            <a:extLst>
              <a:ext uri="{FF2B5EF4-FFF2-40B4-BE49-F238E27FC236}">
                <a16:creationId xmlns:a16="http://schemas.microsoft.com/office/drawing/2014/main" id="{3FF2BAA5-1D13-42AD-BF37-DE16C2491870}"/>
              </a:ext>
            </a:extLst>
          </p:cNvPr>
          <p:cNvSpPr/>
          <p:nvPr/>
        </p:nvSpPr>
        <p:spPr>
          <a:xfrm>
            <a:off x="9582151" y="1155331"/>
            <a:ext cx="2257425" cy="1754326"/>
          </a:xfrm>
          <a:prstGeom prst="rect">
            <a:avLst/>
          </a:prstGeom>
        </p:spPr>
        <p:txBody>
          <a:bodyPr wrap="square">
            <a:spAutoFit/>
          </a:bodyPr>
          <a:lstStyle/>
          <a:p>
            <a:r>
              <a:rPr lang="en-US" b="1" dirty="0">
                <a:solidFill>
                  <a:srgbClr val="466C74"/>
                </a:solidFill>
              </a:rPr>
              <a:t>Presently, 33 percent of all ‘L’ stations are not fully accessible, or do not support wheelchair </a:t>
            </a:r>
            <a:r>
              <a:rPr lang="en-US" b="1" dirty="0" err="1">
                <a:solidFill>
                  <a:srgbClr val="466C74"/>
                </a:solidFill>
              </a:rPr>
              <a:t>boardings</a:t>
            </a:r>
            <a:r>
              <a:rPr lang="en-US" b="1" dirty="0">
                <a:solidFill>
                  <a:srgbClr val="466C74"/>
                </a:solidFill>
              </a:rPr>
              <a:t>.</a:t>
            </a:r>
          </a:p>
        </p:txBody>
      </p:sp>
    </p:spTree>
    <p:extLst>
      <p:ext uri="{BB962C8B-B14F-4D97-AF65-F5344CB8AC3E}">
        <p14:creationId xmlns:p14="http://schemas.microsoft.com/office/powerpoint/2010/main" val="2229296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2"/>
                </p:tgtEl>
              </p:cMediaNode>
            </p:video>
          </p:childTnLst>
        </p:cTn>
      </p:par>
    </p:tnLst>
    <p:bldLst>
      <p:bldP spid="1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3" name="Picture 2">
            <a:extLst>
              <a:ext uri="{FF2B5EF4-FFF2-40B4-BE49-F238E27FC236}">
                <a16:creationId xmlns:a16="http://schemas.microsoft.com/office/drawing/2014/main" id="{F548CD04-1D7C-4760-B276-19E36429AA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7423" y="274861"/>
            <a:ext cx="9601200" cy="6308278"/>
          </a:xfrm>
          <a:prstGeom prst="rect">
            <a:avLst/>
          </a:prstGeom>
        </p:spPr>
      </p:pic>
      <p:sp>
        <p:nvSpPr>
          <p:cNvPr id="5" name="Rectangle 4">
            <a:extLst>
              <a:ext uri="{FF2B5EF4-FFF2-40B4-BE49-F238E27FC236}">
                <a16:creationId xmlns:a16="http://schemas.microsoft.com/office/drawing/2014/main" id="{E096CF34-5D2E-4548-AE3D-09F7B58D68C9}"/>
              </a:ext>
            </a:extLst>
          </p:cNvPr>
          <p:cNvSpPr/>
          <p:nvPr/>
        </p:nvSpPr>
        <p:spPr>
          <a:xfrm>
            <a:off x="7803446" y="195839"/>
            <a:ext cx="4038600" cy="646331"/>
          </a:xfrm>
          <a:prstGeom prst="rect">
            <a:avLst/>
          </a:prstGeom>
        </p:spPr>
        <p:txBody>
          <a:bodyPr wrap="square">
            <a:spAutoFit/>
          </a:bodyPr>
          <a:lstStyle/>
          <a:p>
            <a:r>
              <a:rPr lang="en-US" b="1" dirty="0">
                <a:latin typeface="Myriad Pro" panose="020B0503030403020204" pitchFamily="34" charset="0"/>
                <a:ea typeface="Calibri" panose="020F0502020204030204" pitchFamily="34" charset="0"/>
                <a:cs typeface="Times New Roman" panose="02020603050405020304" pitchFamily="18" charset="0"/>
              </a:rPr>
              <a:t>Assessor Parcels within ¼ mile of Austin &amp; Division Bus Terminal</a:t>
            </a:r>
            <a:endParaRPr lang="en-US" b="1" dirty="0">
              <a:latin typeface="Myriad Pro" panose="020B0503030403020204" pitchFamily="34" charset="0"/>
            </a:endParaRPr>
          </a:p>
        </p:txBody>
      </p:sp>
    </p:spTree>
    <p:extLst>
      <p:ext uri="{BB962C8B-B14F-4D97-AF65-F5344CB8AC3E}">
        <p14:creationId xmlns:p14="http://schemas.microsoft.com/office/powerpoint/2010/main" val="38985073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7" name="Shape 234">
            <a:extLst>
              <a:ext uri="{FF2B5EF4-FFF2-40B4-BE49-F238E27FC236}">
                <a16:creationId xmlns:a16="http://schemas.microsoft.com/office/drawing/2014/main" id="{DA73B5E3-EA2D-45DE-9C77-659F8D522878}"/>
              </a:ext>
            </a:extLst>
          </p:cNvPr>
          <p:cNvPicPr preferRelativeResize="0"/>
          <p:nvPr/>
        </p:nvPicPr>
        <p:blipFill rotWithShape="1">
          <a:blip r:embed="rId3">
            <a:alphaModFix/>
          </a:blip>
          <a:srcRect l="66233" t="12309" r="25650" b="46658"/>
          <a:stretch/>
        </p:blipFill>
        <p:spPr>
          <a:xfrm>
            <a:off x="0" y="1"/>
            <a:ext cx="12192000" cy="723900"/>
          </a:xfrm>
          <a:prstGeom prst="rect">
            <a:avLst/>
          </a:prstGeom>
          <a:noFill/>
          <a:ln>
            <a:noFill/>
          </a:ln>
        </p:spPr>
      </p:pic>
      <p:sp>
        <p:nvSpPr>
          <p:cNvPr id="8" name="TextBox 7">
            <a:extLst>
              <a:ext uri="{FF2B5EF4-FFF2-40B4-BE49-F238E27FC236}">
                <a16:creationId xmlns:a16="http://schemas.microsoft.com/office/drawing/2014/main" id="{071723E8-3066-4335-B7ED-0223B2FDE845}"/>
              </a:ext>
            </a:extLst>
          </p:cNvPr>
          <p:cNvSpPr txBox="1"/>
          <p:nvPr/>
        </p:nvSpPr>
        <p:spPr>
          <a:xfrm>
            <a:off x="0" y="48110"/>
            <a:ext cx="12191999" cy="584775"/>
          </a:xfrm>
          <a:prstGeom prst="rect">
            <a:avLst/>
          </a:prstGeom>
          <a:noFill/>
        </p:spPr>
        <p:txBody>
          <a:bodyPr wrap="square" rtlCol="0">
            <a:spAutoFit/>
          </a:bodyPr>
          <a:lstStyle/>
          <a:p>
            <a:r>
              <a:rPr lang="en-US" sz="3200" dirty="0">
                <a:solidFill>
                  <a:schemeClr val="bg1"/>
                </a:solidFill>
                <a:latin typeface="Franklin Gothic Demi Cond" panose="020B0706030402020204" pitchFamily="34" charset="0"/>
              </a:rPr>
              <a:t>PERCENT CHANGE IN ACTIVE TRANSPORTATION COMMUTERS</a:t>
            </a:r>
          </a:p>
        </p:txBody>
      </p:sp>
      <p:sp>
        <p:nvSpPr>
          <p:cNvPr id="17" name="TextBox 16">
            <a:extLst>
              <a:ext uri="{FF2B5EF4-FFF2-40B4-BE49-F238E27FC236}">
                <a16:creationId xmlns:a16="http://schemas.microsoft.com/office/drawing/2014/main" id="{0B206BB1-0A28-4074-B602-988E7AD7D098}"/>
              </a:ext>
            </a:extLst>
          </p:cNvPr>
          <p:cNvSpPr txBox="1"/>
          <p:nvPr/>
        </p:nvSpPr>
        <p:spPr>
          <a:xfrm>
            <a:off x="1833066" y="6303940"/>
            <a:ext cx="3069495" cy="338554"/>
          </a:xfrm>
          <a:prstGeom prst="rect">
            <a:avLst/>
          </a:prstGeom>
          <a:noFill/>
        </p:spPr>
        <p:txBody>
          <a:bodyPr wrap="none" rtlCol="0">
            <a:spAutoFit/>
          </a:bodyPr>
          <a:lstStyle/>
          <a:p>
            <a:r>
              <a:rPr lang="en-US" sz="1600" i="1" dirty="0"/>
              <a:t>Data source:  ACS 5-year estimates</a:t>
            </a:r>
          </a:p>
        </p:txBody>
      </p:sp>
      <p:pic>
        <p:nvPicPr>
          <p:cNvPr id="6" name="Picture 5">
            <a:extLst>
              <a:ext uri="{FF2B5EF4-FFF2-40B4-BE49-F238E27FC236}">
                <a16:creationId xmlns:a16="http://schemas.microsoft.com/office/drawing/2014/main" id="{19CF2752-85EF-4351-89D8-58D1F8029E1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500821" y="929258"/>
            <a:ext cx="9601200" cy="5169325"/>
          </a:xfrm>
          <a:prstGeom prst="rect">
            <a:avLst/>
          </a:prstGeom>
          <a:noFill/>
        </p:spPr>
      </p:pic>
    </p:spTree>
    <p:extLst>
      <p:ext uri="{BB962C8B-B14F-4D97-AF65-F5344CB8AC3E}">
        <p14:creationId xmlns:p14="http://schemas.microsoft.com/office/powerpoint/2010/main" val="29119701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4A80E-3C80-4CB0-A682-6D83BEC2E6DE}"/>
              </a:ext>
            </a:extLst>
          </p:cNvPr>
          <p:cNvSpPr>
            <a:spLocks noGrp="1"/>
          </p:cNvSpPr>
          <p:nvPr>
            <p:ph type="title"/>
          </p:nvPr>
        </p:nvSpPr>
        <p:spPr>
          <a:xfrm>
            <a:off x="838200" y="365125"/>
            <a:ext cx="10515600" cy="1325563"/>
          </a:xfrm>
        </p:spPr>
        <p:txBody>
          <a:bodyPr>
            <a:normAutofit/>
          </a:bodyPr>
          <a:lstStyle/>
          <a:p>
            <a:r>
              <a:rPr lang="en-US" dirty="0"/>
              <a:t>Potential Benefits</a:t>
            </a:r>
          </a:p>
        </p:txBody>
      </p:sp>
      <p:graphicFrame>
        <p:nvGraphicFramePr>
          <p:cNvPr id="5" name="Content Placeholder 2">
            <a:extLst>
              <a:ext uri="{FF2B5EF4-FFF2-40B4-BE49-F238E27FC236}">
                <a16:creationId xmlns:a16="http://schemas.microsoft.com/office/drawing/2014/main" id="{124770AB-84AE-4BC6-9C48-9A08C9891F94}"/>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65515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25B8C-BB9E-4C0D-AE44-29BEB5F3541F}"/>
              </a:ext>
            </a:extLst>
          </p:cNvPr>
          <p:cNvSpPr>
            <a:spLocks noGrp="1"/>
          </p:cNvSpPr>
          <p:nvPr>
            <p:ph type="title"/>
          </p:nvPr>
        </p:nvSpPr>
        <p:spPr/>
        <p:txBody>
          <a:bodyPr/>
          <a:lstStyle/>
          <a:p>
            <a:r>
              <a:rPr lang="en-US" dirty="0"/>
              <a:t>Possible ideas for intervention</a:t>
            </a:r>
          </a:p>
        </p:txBody>
      </p:sp>
      <p:graphicFrame>
        <p:nvGraphicFramePr>
          <p:cNvPr id="4" name="Content Placeholder 3">
            <a:extLst>
              <a:ext uri="{FF2B5EF4-FFF2-40B4-BE49-F238E27FC236}">
                <a16:creationId xmlns:a16="http://schemas.microsoft.com/office/drawing/2014/main" id="{4E681128-6E13-4FA0-B33F-0D7C664CB299}"/>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701804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8" name="Shape 234">
            <a:extLst>
              <a:ext uri="{FF2B5EF4-FFF2-40B4-BE49-F238E27FC236}">
                <a16:creationId xmlns:a16="http://schemas.microsoft.com/office/drawing/2014/main" id="{6CB1D81F-3B5C-4579-AEF6-D8AF322491C7}"/>
              </a:ext>
            </a:extLst>
          </p:cNvPr>
          <p:cNvPicPr preferRelativeResize="0"/>
          <p:nvPr/>
        </p:nvPicPr>
        <p:blipFill rotWithShape="1">
          <a:blip r:embed="rId3">
            <a:alphaModFix/>
          </a:blip>
          <a:srcRect l="66233" t="12309" r="25650" b="46658"/>
          <a:stretch/>
        </p:blipFill>
        <p:spPr>
          <a:xfrm>
            <a:off x="0" y="1"/>
            <a:ext cx="12192000" cy="723900"/>
          </a:xfrm>
          <a:prstGeom prst="rect">
            <a:avLst/>
          </a:prstGeom>
          <a:noFill/>
          <a:ln>
            <a:noFill/>
          </a:ln>
        </p:spPr>
      </p:pic>
      <p:sp>
        <p:nvSpPr>
          <p:cNvPr id="9" name="TextBox 8">
            <a:extLst>
              <a:ext uri="{FF2B5EF4-FFF2-40B4-BE49-F238E27FC236}">
                <a16:creationId xmlns:a16="http://schemas.microsoft.com/office/drawing/2014/main" id="{24B8690F-ED69-4EE5-B276-077E79E21CD5}"/>
              </a:ext>
            </a:extLst>
          </p:cNvPr>
          <p:cNvSpPr txBox="1"/>
          <p:nvPr/>
        </p:nvSpPr>
        <p:spPr>
          <a:xfrm>
            <a:off x="0" y="48110"/>
            <a:ext cx="12191999" cy="584775"/>
          </a:xfrm>
          <a:prstGeom prst="rect">
            <a:avLst/>
          </a:prstGeom>
          <a:noFill/>
        </p:spPr>
        <p:txBody>
          <a:bodyPr wrap="square" rtlCol="0">
            <a:spAutoFit/>
          </a:bodyPr>
          <a:lstStyle/>
          <a:p>
            <a:r>
              <a:rPr lang="en-US" sz="3200" dirty="0">
                <a:solidFill>
                  <a:schemeClr val="bg1"/>
                </a:solidFill>
                <a:latin typeface="Franklin Gothic Demi Cond" panose="020B0706030402020204" pitchFamily="34" charset="0"/>
              </a:rPr>
              <a:t>THREE ROADMAPS</a:t>
            </a:r>
          </a:p>
        </p:txBody>
      </p:sp>
      <p:sp>
        <p:nvSpPr>
          <p:cNvPr id="4" name="Rectangle: Rounded Corners 3">
            <a:extLst>
              <a:ext uri="{FF2B5EF4-FFF2-40B4-BE49-F238E27FC236}">
                <a16:creationId xmlns:a16="http://schemas.microsoft.com/office/drawing/2014/main" id="{9E84D6F3-170E-41A8-B5D2-04547D347B6F}"/>
              </a:ext>
            </a:extLst>
          </p:cNvPr>
          <p:cNvSpPr/>
          <p:nvPr/>
        </p:nvSpPr>
        <p:spPr>
          <a:xfrm>
            <a:off x="1106905" y="994611"/>
            <a:ext cx="2983831" cy="1395663"/>
          </a:xfrm>
          <a:prstGeom prst="roundRect">
            <a:avLst/>
          </a:prstGeom>
          <a:solidFill>
            <a:srgbClr val="466C7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t>Equity-Focused Planning &amp; Design</a:t>
            </a:r>
          </a:p>
        </p:txBody>
      </p:sp>
      <p:grpSp>
        <p:nvGrpSpPr>
          <p:cNvPr id="2" name="Group 1">
            <a:extLst>
              <a:ext uri="{FF2B5EF4-FFF2-40B4-BE49-F238E27FC236}">
                <a16:creationId xmlns:a16="http://schemas.microsoft.com/office/drawing/2014/main" id="{4E775827-E6D4-441F-BD82-3C4FFE39680A}"/>
              </a:ext>
            </a:extLst>
          </p:cNvPr>
          <p:cNvGrpSpPr/>
          <p:nvPr/>
        </p:nvGrpSpPr>
        <p:grpSpPr>
          <a:xfrm>
            <a:off x="1106905" y="2191554"/>
            <a:ext cx="2983831" cy="2288207"/>
            <a:chOff x="1106905" y="2191554"/>
            <a:chExt cx="2983831" cy="2288207"/>
          </a:xfrm>
        </p:grpSpPr>
        <p:sp>
          <p:nvSpPr>
            <p:cNvPr id="41" name="Arrow: Down 40">
              <a:extLst>
                <a:ext uri="{FF2B5EF4-FFF2-40B4-BE49-F238E27FC236}">
                  <a16:creationId xmlns:a16="http://schemas.microsoft.com/office/drawing/2014/main" id="{6E816677-3960-49D4-B334-903F0C56612B}"/>
                </a:ext>
              </a:extLst>
            </p:cNvPr>
            <p:cNvSpPr/>
            <p:nvPr/>
          </p:nvSpPr>
          <p:spPr>
            <a:xfrm>
              <a:off x="1756608" y="2191554"/>
              <a:ext cx="1684423" cy="1395663"/>
            </a:xfrm>
            <a:prstGeom prst="downArrow">
              <a:avLst/>
            </a:prstGeom>
            <a:solidFill>
              <a:srgbClr val="466C74">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200" b="1"/>
            </a:p>
          </p:txBody>
        </p:sp>
        <p:sp>
          <p:nvSpPr>
            <p:cNvPr id="12" name="Rectangle: Rounded Corners 11">
              <a:extLst>
                <a:ext uri="{FF2B5EF4-FFF2-40B4-BE49-F238E27FC236}">
                  <a16:creationId xmlns:a16="http://schemas.microsoft.com/office/drawing/2014/main" id="{EB3139D1-3155-4AD9-B37E-151ED838AFB6}"/>
                </a:ext>
              </a:extLst>
            </p:cNvPr>
            <p:cNvSpPr/>
            <p:nvPr/>
          </p:nvSpPr>
          <p:spPr>
            <a:xfrm>
              <a:off x="1106905" y="2691064"/>
              <a:ext cx="2983831" cy="1788697"/>
            </a:xfrm>
            <a:prstGeom prst="roundRect">
              <a:avLst/>
            </a:prstGeom>
            <a:solidFill>
              <a:srgbClr val="466C74">
                <a:alpha val="75000"/>
              </a:srgbClr>
            </a:solidFill>
          </p:spPr>
          <p:style>
            <a:lnRef idx="2">
              <a:schemeClr val="accent1">
                <a:shade val="50000"/>
              </a:schemeClr>
            </a:lnRef>
            <a:fillRef idx="1">
              <a:schemeClr val="accent1"/>
            </a:fillRef>
            <a:effectRef idx="0">
              <a:schemeClr val="accent1"/>
            </a:effectRef>
            <a:fontRef idx="minor">
              <a:schemeClr val="lt1"/>
            </a:fontRef>
          </p:style>
          <p:txBody>
            <a:bodyPr lIns="0" rtlCol="0" anchor="t"/>
            <a:lstStyle/>
            <a:p>
              <a:r>
                <a:rPr lang="en-US" b="1" i="1" dirty="0"/>
                <a:t>Informed by:</a:t>
              </a:r>
            </a:p>
            <a:p>
              <a:endParaRPr lang="en-US" dirty="0"/>
            </a:p>
            <a:p>
              <a:pPr marL="285750" indent="-285750">
                <a:buFont typeface="Arial" panose="020B0604020202020204" pitchFamily="34" charset="0"/>
                <a:buChar char="•"/>
              </a:pPr>
              <a:r>
                <a:rPr lang="en-US" dirty="0"/>
                <a:t>Collaborative planning</a:t>
              </a:r>
            </a:p>
            <a:p>
              <a:pPr marL="285750" indent="-285750">
                <a:buFont typeface="Arial" panose="020B0604020202020204" pitchFamily="34" charset="0"/>
                <a:buChar char="•"/>
              </a:pPr>
              <a:r>
                <a:rPr lang="en-US" dirty="0"/>
                <a:t>Environmental justice</a:t>
              </a:r>
            </a:p>
            <a:p>
              <a:pPr marL="285750" indent="-285750">
                <a:buFont typeface="Arial" panose="020B0604020202020204" pitchFamily="34" charset="0"/>
                <a:buChar char="•"/>
              </a:pPr>
              <a:r>
                <a:rPr lang="en-US" dirty="0"/>
                <a:t>Universal design</a:t>
              </a:r>
            </a:p>
          </p:txBody>
        </p:sp>
      </p:grpSp>
      <p:grpSp>
        <p:nvGrpSpPr>
          <p:cNvPr id="3" name="Group 2">
            <a:extLst>
              <a:ext uri="{FF2B5EF4-FFF2-40B4-BE49-F238E27FC236}">
                <a16:creationId xmlns:a16="http://schemas.microsoft.com/office/drawing/2014/main" id="{5823515A-85B4-4EB6-ACB6-6013B3A37897}"/>
              </a:ext>
            </a:extLst>
          </p:cNvPr>
          <p:cNvGrpSpPr/>
          <p:nvPr/>
        </p:nvGrpSpPr>
        <p:grpSpPr>
          <a:xfrm>
            <a:off x="1106903" y="4287054"/>
            <a:ext cx="2983834" cy="2282193"/>
            <a:chOff x="1106903" y="4287054"/>
            <a:chExt cx="2983834" cy="2282193"/>
          </a:xfrm>
        </p:grpSpPr>
        <p:sp>
          <p:nvSpPr>
            <p:cNvPr id="42" name="Arrow: Down 41">
              <a:extLst>
                <a:ext uri="{FF2B5EF4-FFF2-40B4-BE49-F238E27FC236}">
                  <a16:creationId xmlns:a16="http://schemas.microsoft.com/office/drawing/2014/main" id="{C5C2B857-22F8-46E9-8626-00A27972FC8A}"/>
                </a:ext>
              </a:extLst>
            </p:cNvPr>
            <p:cNvSpPr/>
            <p:nvPr/>
          </p:nvSpPr>
          <p:spPr>
            <a:xfrm>
              <a:off x="1748988" y="4287054"/>
              <a:ext cx="1684423" cy="1395663"/>
            </a:xfrm>
            <a:prstGeom prst="downArrow">
              <a:avLst/>
            </a:prstGeom>
            <a:solidFill>
              <a:srgbClr val="466C74">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200" b="1"/>
            </a:p>
          </p:txBody>
        </p:sp>
        <p:sp>
          <p:nvSpPr>
            <p:cNvPr id="14" name="Rectangle: Rounded Corners 13">
              <a:extLst>
                <a:ext uri="{FF2B5EF4-FFF2-40B4-BE49-F238E27FC236}">
                  <a16:creationId xmlns:a16="http://schemas.microsoft.com/office/drawing/2014/main" id="{97280459-F814-45AB-AC14-F7C5E00FFF5C}"/>
                </a:ext>
              </a:extLst>
            </p:cNvPr>
            <p:cNvSpPr/>
            <p:nvPr/>
          </p:nvSpPr>
          <p:spPr>
            <a:xfrm>
              <a:off x="1106903" y="4780550"/>
              <a:ext cx="2983834" cy="1788697"/>
            </a:xfrm>
            <a:prstGeom prst="roundRect">
              <a:avLst/>
            </a:prstGeom>
            <a:solidFill>
              <a:srgbClr val="466C74">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lIns="0" rtlCol="0" anchor="t"/>
            <a:lstStyle/>
            <a:p>
              <a:r>
                <a:rPr lang="en-US" b="1" i="1" dirty="0">
                  <a:solidFill>
                    <a:schemeClr val="tx1"/>
                  </a:solidFill>
                </a:rPr>
                <a:t>In partnership with:</a:t>
              </a:r>
            </a:p>
            <a:p>
              <a:endParaRPr lang="en-US" b="1" i="1" dirty="0">
                <a:solidFill>
                  <a:schemeClr val="tx1"/>
                </a:solidFill>
              </a:endParaRPr>
            </a:p>
            <a:p>
              <a:pPr marL="285750" indent="-285750">
                <a:buFont typeface="Arial" panose="020B0604020202020204" pitchFamily="34" charset="0"/>
                <a:buChar char="•"/>
              </a:pPr>
              <a:r>
                <a:rPr lang="en-US" dirty="0">
                  <a:solidFill>
                    <a:schemeClr val="tx1"/>
                  </a:solidFill>
                </a:rPr>
                <a:t>APA-IL DEI; MPC</a:t>
              </a:r>
            </a:p>
            <a:p>
              <a:pPr marL="285750" indent="-285750">
                <a:buFont typeface="Arial" panose="020B0604020202020204" pitchFamily="34" charset="0"/>
                <a:buChar char="•"/>
              </a:pPr>
              <a:r>
                <a:rPr lang="en-US" dirty="0" err="1">
                  <a:solidFill>
                    <a:schemeClr val="tx1"/>
                  </a:solidFill>
                </a:rPr>
                <a:t>EquitiCity</a:t>
              </a:r>
              <a:r>
                <a:rPr lang="en-US" dirty="0">
                  <a:solidFill>
                    <a:schemeClr val="tx1"/>
                  </a:solidFill>
                </a:rPr>
                <a:t>; Access Living</a:t>
              </a:r>
            </a:p>
            <a:p>
              <a:pPr marL="285750" indent="-285750">
                <a:buFont typeface="Arial" panose="020B0604020202020204" pitchFamily="34" charset="0"/>
                <a:buChar char="•"/>
              </a:pPr>
              <a:r>
                <a:rPr lang="en-US" dirty="0">
                  <a:solidFill>
                    <a:schemeClr val="tx1"/>
                  </a:solidFill>
                </a:rPr>
                <a:t>Austin Coming Together</a:t>
              </a: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p:txBody>
        </p:sp>
      </p:grpSp>
      <p:sp>
        <p:nvSpPr>
          <p:cNvPr id="19" name="Rectangle: Rounded Corners 18">
            <a:extLst>
              <a:ext uri="{FF2B5EF4-FFF2-40B4-BE49-F238E27FC236}">
                <a16:creationId xmlns:a16="http://schemas.microsoft.com/office/drawing/2014/main" id="{4AAABD99-F0CC-414C-B401-11A50A43B47B}"/>
              </a:ext>
            </a:extLst>
          </p:cNvPr>
          <p:cNvSpPr/>
          <p:nvPr/>
        </p:nvSpPr>
        <p:spPr>
          <a:xfrm>
            <a:off x="4580021" y="994611"/>
            <a:ext cx="2983831" cy="1395663"/>
          </a:xfrm>
          <a:prstGeom prst="roundRect">
            <a:avLst/>
          </a:prstGeom>
          <a:solidFill>
            <a:srgbClr val="466C7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t>Multimodal &amp; Shared Mobility Hubs</a:t>
            </a:r>
          </a:p>
        </p:txBody>
      </p:sp>
      <p:grpSp>
        <p:nvGrpSpPr>
          <p:cNvPr id="20" name="Group 19">
            <a:extLst>
              <a:ext uri="{FF2B5EF4-FFF2-40B4-BE49-F238E27FC236}">
                <a16:creationId xmlns:a16="http://schemas.microsoft.com/office/drawing/2014/main" id="{633BD50B-C5BA-4B9B-8264-1B1FB0BE274D}"/>
              </a:ext>
            </a:extLst>
          </p:cNvPr>
          <p:cNvGrpSpPr/>
          <p:nvPr/>
        </p:nvGrpSpPr>
        <p:grpSpPr>
          <a:xfrm>
            <a:off x="4580021" y="2189749"/>
            <a:ext cx="2983831" cy="2290012"/>
            <a:chOff x="1812757" y="2189749"/>
            <a:chExt cx="2983831" cy="2290012"/>
          </a:xfrm>
        </p:grpSpPr>
        <p:sp>
          <p:nvSpPr>
            <p:cNvPr id="21" name="Rectangle: Rounded Corners 20">
              <a:extLst>
                <a:ext uri="{FF2B5EF4-FFF2-40B4-BE49-F238E27FC236}">
                  <a16:creationId xmlns:a16="http://schemas.microsoft.com/office/drawing/2014/main" id="{D0F57DB2-FDA0-4167-9D98-623E2893E15B}"/>
                </a:ext>
              </a:extLst>
            </p:cNvPr>
            <p:cNvSpPr/>
            <p:nvPr/>
          </p:nvSpPr>
          <p:spPr>
            <a:xfrm>
              <a:off x="1812757" y="2691064"/>
              <a:ext cx="2983831" cy="1788697"/>
            </a:xfrm>
            <a:prstGeom prst="roundRect">
              <a:avLst/>
            </a:prstGeom>
            <a:solidFill>
              <a:srgbClr val="466C74">
                <a:alpha val="75000"/>
              </a:srgbClr>
            </a:solidFill>
          </p:spPr>
          <p:style>
            <a:lnRef idx="2">
              <a:schemeClr val="accent1">
                <a:shade val="50000"/>
              </a:schemeClr>
            </a:lnRef>
            <a:fillRef idx="1">
              <a:schemeClr val="accent1"/>
            </a:fillRef>
            <a:effectRef idx="0">
              <a:schemeClr val="accent1"/>
            </a:effectRef>
            <a:fontRef idx="minor">
              <a:schemeClr val="lt1"/>
            </a:fontRef>
          </p:style>
          <p:txBody>
            <a:bodyPr lIns="0" rtlCol="0" anchor="t"/>
            <a:lstStyle/>
            <a:p>
              <a:r>
                <a:rPr lang="en-US" b="1" i="1" dirty="0"/>
                <a:t>Informed by:</a:t>
              </a:r>
            </a:p>
            <a:p>
              <a:endParaRPr lang="en-US" dirty="0"/>
            </a:p>
            <a:p>
              <a:pPr marL="285750" indent="-285750">
                <a:buFont typeface="Arial" panose="020B0604020202020204" pitchFamily="34" charset="0"/>
                <a:buChar char="•"/>
              </a:pPr>
              <a:r>
                <a:rPr lang="en-US" dirty="0"/>
                <a:t>Cross-sector partnerships</a:t>
              </a:r>
            </a:p>
            <a:p>
              <a:pPr marL="285750" indent="-285750">
                <a:buFont typeface="Arial" panose="020B0604020202020204" pitchFamily="34" charset="0"/>
                <a:buChar char="•"/>
              </a:pPr>
              <a:r>
                <a:rPr lang="en-US" dirty="0"/>
                <a:t>Community economic development</a:t>
              </a:r>
            </a:p>
            <a:p>
              <a:pPr marL="285750" indent="-285750">
                <a:buFont typeface="Arial" panose="020B0604020202020204" pitchFamily="34" charset="0"/>
                <a:buChar char="•"/>
              </a:pPr>
              <a:endParaRPr lang="en-US" dirty="0"/>
            </a:p>
          </p:txBody>
        </p:sp>
        <p:sp>
          <p:nvSpPr>
            <p:cNvPr id="22" name="Arrow: Down 21">
              <a:extLst>
                <a:ext uri="{FF2B5EF4-FFF2-40B4-BE49-F238E27FC236}">
                  <a16:creationId xmlns:a16="http://schemas.microsoft.com/office/drawing/2014/main" id="{39F19FE5-2A74-418C-95AA-5B2CF7201F6E}"/>
                </a:ext>
              </a:extLst>
            </p:cNvPr>
            <p:cNvSpPr/>
            <p:nvPr/>
          </p:nvSpPr>
          <p:spPr>
            <a:xfrm>
              <a:off x="2462460" y="2189749"/>
              <a:ext cx="1684423" cy="1395663"/>
            </a:xfrm>
            <a:prstGeom prst="downArrow">
              <a:avLst/>
            </a:prstGeom>
            <a:solidFill>
              <a:srgbClr val="466C74">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200" b="1"/>
            </a:p>
          </p:txBody>
        </p:sp>
      </p:grpSp>
      <p:grpSp>
        <p:nvGrpSpPr>
          <p:cNvPr id="23" name="Group 22">
            <a:extLst>
              <a:ext uri="{FF2B5EF4-FFF2-40B4-BE49-F238E27FC236}">
                <a16:creationId xmlns:a16="http://schemas.microsoft.com/office/drawing/2014/main" id="{646D299C-49A7-45A9-A066-8F9D5CB0A72C}"/>
              </a:ext>
            </a:extLst>
          </p:cNvPr>
          <p:cNvGrpSpPr/>
          <p:nvPr/>
        </p:nvGrpSpPr>
        <p:grpSpPr>
          <a:xfrm>
            <a:off x="4580019" y="4296500"/>
            <a:ext cx="2983834" cy="2272747"/>
            <a:chOff x="1812755" y="4296500"/>
            <a:chExt cx="2983834" cy="2272747"/>
          </a:xfrm>
        </p:grpSpPr>
        <p:sp>
          <p:nvSpPr>
            <p:cNvPr id="24" name="Rectangle: Rounded Corners 23">
              <a:extLst>
                <a:ext uri="{FF2B5EF4-FFF2-40B4-BE49-F238E27FC236}">
                  <a16:creationId xmlns:a16="http://schemas.microsoft.com/office/drawing/2014/main" id="{683D59B4-B4D3-4123-83D3-BF7C7B3B3E46}"/>
                </a:ext>
              </a:extLst>
            </p:cNvPr>
            <p:cNvSpPr/>
            <p:nvPr/>
          </p:nvSpPr>
          <p:spPr>
            <a:xfrm>
              <a:off x="1812755" y="4780550"/>
              <a:ext cx="2983834" cy="1788697"/>
            </a:xfrm>
            <a:prstGeom prst="roundRect">
              <a:avLst/>
            </a:prstGeom>
            <a:solidFill>
              <a:srgbClr val="466C74">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lIns="0" rtlCol="0" anchor="t"/>
            <a:lstStyle/>
            <a:p>
              <a:r>
                <a:rPr lang="en-US" b="1" i="1" dirty="0">
                  <a:solidFill>
                    <a:schemeClr val="tx1"/>
                  </a:solidFill>
                </a:rPr>
                <a:t>In partnership with:</a:t>
              </a:r>
            </a:p>
            <a:p>
              <a:endParaRPr lang="en-US" b="1" i="1" dirty="0">
                <a:solidFill>
                  <a:schemeClr val="tx1"/>
                </a:solidFill>
              </a:endParaRPr>
            </a:p>
            <a:p>
              <a:pPr marL="285750" indent="-285750">
                <a:buFont typeface="Arial" panose="020B0604020202020204" pitchFamily="34" charset="0"/>
                <a:buChar char="•"/>
              </a:pPr>
              <a:r>
                <a:rPr lang="en-US" dirty="0">
                  <a:solidFill>
                    <a:schemeClr val="tx1"/>
                  </a:solidFill>
                </a:rPr>
                <a:t>SUMC; CTA</a:t>
              </a:r>
            </a:p>
            <a:p>
              <a:pPr marL="285750" indent="-285750">
                <a:buFont typeface="Arial" panose="020B0604020202020204" pitchFamily="34" charset="0"/>
                <a:buChar char="•"/>
              </a:pPr>
              <a:r>
                <a:rPr lang="en-US" dirty="0">
                  <a:solidFill>
                    <a:schemeClr val="tx1"/>
                  </a:solidFill>
                </a:rPr>
                <a:t>Lyft; </a:t>
              </a:r>
              <a:r>
                <a:rPr lang="en-US" dirty="0" err="1">
                  <a:solidFill>
                    <a:schemeClr val="tx1"/>
                  </a:solidFill>
                </a:rPr>
                <a:t>VeoRide</a:t>
              </a:r>
              <a:endParaRPr lang="en-US" dirty="0">
                <a:solidFill>
                  <a:schemeClr val="tx1"/>
                </a:solidFill>
              </a:endParaRPr>
            </a:p>
            <a:p>
              <a:pPr marL="285750" indent="-285750">
                <a:buFont typeface="Arial" panose="020B0604020202020204" pitchFamily="34" charset="0"/>
                <a:buChar char="•"/>
              </a:pPr>
              <a:r>
                <a:rPr lang="en-US" dirty="0">
                  <a:solidFill>
                    <a:schemeClr val="tx1"/>
                  </a:solidFill>
                </a:rPr>
                <a:t>Austin Chamber of Commerce</a:t>
              </a: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p:txBody>
        </p:sp>
        <p:sp>
          <p:nvSpPr>
            <p:cNvPr id="25" name="Arrow: Down 24">
              <a:extLst>
                <a:ext uri="{FF2B5EF4-FFF2-40B4-BE49-F238E27FC236}">
                  <a16:creationId xmlns:a16="http://schemas.microsoft.com/office/drawing/2014/main" id="{D590B39A-6E27-49C6-8B04-864B6235E637}"/>
                </a:ext>
              </a:extLst>
            </p:cNvPr>
            <p:cNvSpPr/>
            <p:nvPr/>
          </p:nvSpPr>
          <p:spPr>
            <a:xfrm>
              <a:off x="2462459" y="4296500"/>
              <a:ext cx="1684423" cy="1395663"/>
            </a:xfrm>
            <a:prstGeom prst="downArrow">
              <a:avLst/>
            </a:prstGeom>
            <a:solidFill>
              <a:srgbClr val="466C74">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200" b="1"/>
            </a:p>
          </p:txBody>
        </p:sp>
      </p:grpSp>
      <p:sp>
        <p:nvSpPr>
          <p:cNvPr id="26" name="Rectangle: Rounded Corners 25">
            <a:extLst>
              <a:ext uri="{FF2B5EF4-FFF2-40B4-BE49-F238E27FC236}">
                <a16:creationId xmlns:a16="http://schemas.microsoft.com/office/drawing/2014/main" id="{29EA1D14-A15D-4CBB-A31C-1BBBEDC4F429}"/>
              </a:ext>
            </a:extLst>
          </p:cNvPr>
          <p:cNvSpPr/>
          <p:nvPr/>
        </p:nvSpPr>
        <p:spPr>
          <a:xfrm>
            <a:off x="7948859" y="994611"/>
            <a:ext cx="2983831" cy="1395663"/>
          </a:xfrm>
          <a:prstGeom prst="roundRect">
            <a:avLst/>
          </a:prstGeom>
          <a:solidFill>
            <a:srgbClr val="466C7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t>Green Infrastructure &amp; Public Health</a:t>
            </a:r>
          </a:p>
        </p:txBody>
      </p:sp>
      <p:grpSp>
        <p:nvGrpSpPr>
          <p:cNvPr id="27" name="Group 26">
            <a:extLst>
              <a:ext uri="{FF2B5EF4-FFF2-40B4-BE49-F238E27FC236}">
                <a16:creationId xmlns:a16="http://schemas.microsoft.com/office/drawing/2014/main" id="{5A204783-EF45-4A91-98F8-6CC448994085}"/>
              </a:ext>
            </a:extLst>
          </p:cNvPr>
          <p:cNvGrpSpPr/>
          <p:nvPr/>
        </p:nvGrpSpPr>
        <p:grpSpPr>
          <a:xfrm>
            <a:off x="7948859" y="2189749"/>
            <a:ext cx="2983831" cy="2290012"/>
            <a:chOff x="1812757" y="2189749"/>
            <a:chExt cx="2983831" cy="2290012"/>
          </a:xfrm>
        </p:grpSpPr>
        <p:sp>
          <p:nvSpPr>
            <p:cNvPr id="28" name="Rectangle: Rounded Corners 27">
              <a:extLst>
                <a:ext uri="{FF2B5EF4-FFF2-40B4-BE49-F238E27FC236}">
                  <a16:creationId xmlns:a16="http://schemas.microsoft.com/office/drawing/2014/main" id="{B6E654BE-A42B-4EB1-AFAA-828873687F42}"/>
                </a:ext>
              </a:extLst>
            </p:cNvPr>
            <p:cNvSpPr/>
            <p:nvPr/>
          </p:nvSpPr>
          <p:spPr>
            <a:xfrm>
              <a:off x="1812757" y="2691064"/>
              <a:ext cx="2983831" cy="1788697"/>
            </a:xfrm>
            <a:prstGeom prst="roundRect">
              <a:avLst/>
            </a:prstGeom>
            <a:solidFill>
              <a:srgbClr val="466C74">
                <a:alpha val="75000"/>
              </a:srgbClr>
            </a:solidFill>
          </p:spPr>
          <p:style>
            <a:lnRef idx="2">
              <a:schemeClr val="accent1">
                <a:shade val="50000"/>
              </a:schemeClr>
            </a:lnRef>
            <a:fillRef idx="1">
              <a:schemeClr val="accent1"/>
            </a:fillRef>
            <a:effectRef idx="0">
              <a:schemeClr val="accent1"/>
            </a:effectRef>
            <a:fontRef idx="minor">
              <a:schemeClr val="lt1"/>
            </a:fontRef>
          </p:style>
          <p:txBody>
            <a:bodyPr lIns="0" rtlCol="0" anchor="t"/>
            <a:lstStyle/>
            <a:p>
              <a:r>
                <a:rPr lang="en-US" b="1" i="1" dirty="0"/>
                <a:t>Informed by:</a:t>
              </a:r>
            </a:p>
            <a:p>
              <a:endParaRPr lang="en-US" dirty="0"/>
            </a:p>
            <a:p>
              <a:pPr marL="285750" indent="-285750">
                <a:buFont typeface="Arial" panose="020B0604020202020204" pitchFamily="34" charset="0"/>
                <a:buChar char="•"/>
              </a:pPr>
              <a:r>
                <a:rPr lang="en-US" dirty="0"/>
                <a:t>Biophilic design</a:t>
              </a:r>
            </a:p>
            <a:p>
              <a:pPr marL="285750" indent="-285750">
                <a:buFont typeface="Arial" panose="020B0604020202020204" pitchFamily="34" charset="0"/>
                <a:buChar char="•"/>
              </a:pPr>
              <a:r>
                <a:rPr lang="en-US" dirty="0"/>
                <a:t>Vision Zero</a:t>
              </a:r>
            </a:p>
            <a:p>
              <a:pPr marL="285750" indent="-285750">
                <a:buFont typeface="Arial" panose="020B0604020202020204" pitchFamily="34" charset="0"/>
                <a:buChar char="•"/>
              </a:pPr>
              <a:r>
                <a:rPr lang="en-US" dirty="0"/>
                <a:t>Active transportation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29" name="Arrow: Down 28">
              <a:extLst>
                <a:ext uri="{FF2B5EF4-FFF2-40B4-BE49-F238E27FC236}">
                  <a16:creationId xmlns:a16="http://schemas.microsoft.com/office/drawing/2014/main" id="{B1926734-B7DA-48A6-A051-4D4093B7043A}"/>
                </a:ext>
              </a:extLst>
            </p:cNvPr>
            <p:cNvSpPr/>
            <p:nvPr/>
          </p:nvSpPr>
          <p:spPr>
            <a:xfrm>
              <a:off x="2462460" y="2189749"/>
              <a:ext cx="1684423" cy="1395663"/>
            </a:xfrm>
            <a:prstGeom prst="downArrow">
              <a:avLst/>
            </a:prstGeom>
            <a:solidFill>
              <a:srgbClr val="466C74">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200" b="1"/>
            </a:p>
          </p:txBody>
        </p:sp>
      </p:grpSp>
      <p:grpSp>
        <p:nvGrpSpPr>
          <p:cNvPr id="30" name="Group 29">
            <a:extLst>
              <a:ext uri="{FF2B5EF4-FFF2-40B4-BE49-F238E27FC236}">
                <a16:creationId xmlns:a16="http://schemas.microsoft.com/office/drawing/2014/main" id="{706DF9FC-F55D-46C4-982B-88D0267330C0}"/>
              </a:ext>
            </a:extLst>
          </p:cNvPr>
          <p:cNvGrpSpPr/>
          <p:nvPr/>
        </p:nvGrpSpPr>
        <p:grpSpPr>
          <a:xfrm>
            <a:off x="7948857" y="4296500"/>
            <a:ext cx="2983834" cy="2272747"/>
            <a:chOff x="1812755" y="4296500"/>
            <a:chExt cx="2983834" cy="2272747"/>
          </a:xfrm>
        </p:grpSpPr>
        <p:sp>
          <p:nvSpPr>
            <p:cNvPr id="31" name="Rectangle: Rounded Corners 30">
              <a:extLst>
                <a:ext uri="{FF2B5EF4-FFF2-40B4-BE49-F238E27FC236}">
                  <a16:creationId xmlns:a16="http://schemas.microsoft.com/office/drawing/2014/main" id="{62F47464-F0AD-4351-8D25-173B9731E688}"/>
                </a:ext>
              </a:extLst>
            </p:cNvPr>
            <p:cNvSpPr/>
            <p:nvPr/>
          </p:nvSpPr>
          <p:spPr>
            <a:xfrm>
              <a:off x="1812755" y="4780550"/>
              <a:ext cx="2983834" cy="1788697"/>
            </a:xfrm>
            <a:prstGeom prst="roundRect">
              <a:avLst/>
            </a:prstGeom>
            <a:solidFill>
              <a:srgbClr val="466C74">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lIns="0" rtlCol="0" anchor="t"/>
            <a:lstStyle/>
            <a:p>
              <a:r>
                <a:rPr lang="en-US" b="1" i="1" dirty="0">
                  <a:solidFill>
                    <a:schemeClr val="tx1"/>
                  </a:solidFill>
                </a:rPr>
                <a:t>In partnership with:</a:t>
              </a:r>
            </a:p>
            <a:p>
              <a:endParaRPr lang="en-US" b="1" i="1" dirty="0">
                <a:solidFill>
                  <a:schemeClr val="tx1"/>
                </a:solidFill>
              </a:endParaRPr>
            </a:p>
            <a:p>
              <a:pPr marL="285750" indent="-285750">
                <a:buFont typeface="Arial" panose="020B0604020202020204" pitchFamily="34" charset="0"/>
                <a:buChar char="•"/>
              </a:pPr>
              <a:r>
                <a:rPr lang="en-US" dirty="0">
                  <a:solidFill>
                    <a:schemeClr val="tx1"/>
                  </a:solidFill>
                </a:rPr>
                <a:t>Chicago Park District;</a:t>
              </a:r>
            </a:p>
            <a:p>
              <a:pPr marL="285750" indent="-285750">
                <a:buFont typeface="Arial" panose="020B0604020202020204" pitchFamily="34" charset="0"/>
                <a:buChar char="•"/>
              </a:pPr>
              <a:r>
                <a:rPr lang="en-US" dirty="0">
                  <a:solidFill>
                    <a:schemeClr val="tx1"/>
                  </a:solidFill>
                </a:rPr>
                <a:t>CNT; ATA </a:t>
              </a:r>
            </a:p>
            <a:p>
              <a:pPr marL="285750" indent="-285750">
                <a:buFont typeface="Arial" panose="020B0604020202020204" pitchFamily="34" charset="0"/>
                <a:buChar char="•"/>
              </a:pPr>
              <a:r>
                <a:rPr lang="en-US" dirty="0">
                  <a:solidFill>
                    <a:schemeClr val="tx1"/>
                  </a:solidFill>
                </a:rPr>
                <a:t>Westside Health Authority</a:t>
              </a: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p:txBody>
        </p:sp>
        <p:sp>
          <p:nvSpPr>
            <p:cNvPr id="32" name="Arrow: Down 31">
              <a:extLst>
                <a:ext uri="{FF2B5EF4-FFF2-40B4-BE49-F238E27FC236}">
                  <a16:creationId xmlns:a16="http://schemas.microsoft.com/office/drawing/2014/main" id="{CC803604-5F5E-4962-8CC7-5F021D8C59DF}"/>
                </a:ext>
              </a:extLst>
            </p:cNvPr>
            <p:cNvSpPr/>
            <p:nvPr/>
          </p:nvSpPr>
          <p:spPr>
            <a:xfrm>
              <a:off x="2462459" y="4296500"/>
              <a:ext cx="1684423" cy="1395663"/>
            </a:xfrm>
            <a:prstGeom prst="downArrow">
              <a:avLst/>
            </a:prstGeom>
            <a:solidFill>
              <a:srgbClr val="466C74">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200" b="1"/>
            </a:p>
          </p:txBody>
        </p:sp>
      </p:grpSp>
    </p:spTree>
    <p:extLst>
      <p:ext uri="{BB962C8B-B14F-4D97-AF65-F5344CB8AC3E}">
        <p14:creationId xmlns:p14="http://schemas.microsoft.com/office/powerpoint/2010/main" val="3584962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3E4D168-44E5-4E2A-871D-541702449556}"/>
              </a:ext>
            </a:extLst>
          </p:cNvPr>
          <p:cNvPicPr>
            <a:picLocks noChangeAspect="1"/>
          </p:cNvPicPr>
          <p:nvPr/>
        </p:nvPicPr>
        <p:blipFill>
          <a:blip r:embed="rId3"/>
          <a:stretch>
            <a:fillRect/>
          </a:stretch>
        </p:blipFill>
        <p:spPr>
          <a:xfrm>
            <a:off x="788503" y="13626"/>
            <a:ext cx="10860157" cy="6651845"/>
          </a:xfrm>
          <a:prstGeom prst="rect">
            <a:avLst/>
          </a:prstGeom>
        </p:spPr>
      </p:pic>
      <p:sp>
        <p:nvSpPr>
          <p:cNvPr id="3" name="TextBox 2">
            <a:extLst>
              <a:ext uri="{FF2B5EF4-FFF2-40B4-BE49-F238E27FC236}">
                <a16:creationId xmlns:a16="http://schemas.microsoft.com/office/drawing/2014/main" id="{0AB839E3-5DA0-4217-9855-54F71803E8FC}"/>
              </a:ext>
            </a:extLst>
          </p:cNvPr>
          <p:cNvSpPr txBox="1"/>
          <p:nvPr/>
        </p:nvSpPr>
        <p:spPr>
          <a:xfrm>
            <a:off x="831574" y="6539324"/>
            <a:ext cx="3645485" cy="338554"/>
          </a:xfrm>
          <a:prstGeom prst="rect">
            <a:avLst/>
          </a:prstGeom>
          <a:noFill/>
        </p:spPr>
        <p:txBody>
          <a:bodyPr wrap="none" rtlCol="0">
            <a:spAutoFit/>
          </a:bodyPr>
          <a:lstStyle/>
          <a:p>
            <a:r>
              <a:rPr lang="en-US" sz="1600" i="1" dirty="0"/>
              <a:t>Source:  Shared Use Mobility Center, 2016</a:t>
            </a:r>
          </a:p>
        </p:txBody>
      </p:sp>
    </p:spTree>
    <p:extLst>
      <p:ext uri="{BB962C8B-B14F-4D97-AF65-F5344CB8AC3E}">
        <p14:creationId xmlns:p14="http://schemas.microsoft.com/office/powerpoint/2010/main" val="12274066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7379A07-3373-4FB4-B86A-C8F6C5C08180}"/>
              </a:ext>
            </a:extLst>
          </p:cNvPr>
          <p:cNvPicPr>
            <a:picLocks noChangeAspect="1"/>
          </p:cNvPicPr>
          <p:nvPr/>
        </p:nvPicPr>
        <p:blipFill rotWithShape="1">
          <a:blip r:embed="rId2"/>
          <a:srcRect t="12917"/>
          <a:stretch/>
        </p:blipFill>
        <p:spPr>
          <a:xfrm>
            <a:off x="1416008" y="838194"/>
            <a:ext cx="9359983" cy="5972175"/>
          </a:xfrm>
          <a:prstGeom prst="rect">
            <a:avLst/>
          </a:prstGeom>
        </p:spPr>
      </p:pic>
      <p:pic>
        <p:nvPicPr>
          <p:cNvPr id="5" name="Shape 234">
            <a:extLst>
              <a:ext uri="{FF2B5EF4-FFF2-40B4-BE49-F238E27FC236}">
                <a16:creationId xmlns:a16="http://schemas.microsoft.com/office/drawing/2014/main" id="{17CB5BC5-BAF2-4480-9A69-63B20B8566F0}"/>
              </a:ext>
            </a:extLst>
          </p:cNvPr>
          <p:cNvPicPr preferRelativeResize="0"/>
          <p:nvPr/>
        </p:nvPicPr>
        <p:blipFill rotWithShape="1">
          <a:blip r:embed="rId3">
            <a:alphaModFix/>
          </a:blip>
          <a:srcRect l="66233" t="12309" r="25650" b="46658"/>
          <a:stretch/>
        </p:blipFill>
        <p:spPr>
          <a:xfrm>
            <a:off x="0" y="1"/>
            <a:ext cx="12192000" cy="723900"/>
          </a:xfrm>
          <a:prstGeom prst="rect">
            <a:avLst/>
          </a:prstGeom>
          <a:solidFill>
            <a:srgbClr val="194852"/>
          </a:solidFill>
          <a:ln>
            <a:noFill/>
          </a:ln>
        </p:spPr>
      </p:pic>
      <p:sp>
        <p:nvSpPr>
          <p:cNvPr id="6" name="TextBox 5">
            <a:extLst>
              <a:ext uri="{FF2B5EF4-FFF2-40B4-BE49-F238E27FC236}">
                <a16:creationId xmlns:a16="http://schemas.microsoft.com/office/drawing/2014/main" id="{390FDEB5-AD63-48E2-84EC-471396673863}"/>
              </a:ext>
            </a:extLst>
          </p:cNvPr>
          <p:cNvSpPr txBox="1"/>
          <p:nvPr/>
        </p:nvSpPr>
        <p:spPr>
          <a:xfrm>
            <a:off x="0" y="48110"/>
            <a:ext cx="12191999" cy="584775"/>
          </a:xfrm>
          <a:prstGeom prst="rect">
            <a:avLst/>
          </a:prstGeom>
          <a:noFill/>
        </p:spPr>
        <p:txBody>
          <a:bodyPr wrap="square" rtlCol="0">
            <a:spAutoFit/>
          </a:bodyPr>
          <a:lstStyle/>
          <a:p>
            <a:r>
              <a:rPr lang="en-US" sz="3200" dirty="0">
                <a:solidFill>
                  <a:schemeClr val="bg1"/>
                </a:solidFill>
                <a:latin typeface="Franklin Gothic Demi Cond" panose="020B0706030402020204" pitchFamily="34" charset="0"/>
              </a:rPr>
              <a:t>Partnerships Between TNCs &amp; Public Transit Agencies</a:t>
            </a:r>
          </a:p>
        </p:txBody>
      </p:sp>
    </p:spTree>
    <p:extLst>
      <p:ext uri="{BB962C8B-B14F-4D97-AF65-F5344CB8AC3E}">
        <p14:creationId xmlns:p14="http://schemas.microsoft.com/office/powerpoint/2010/main" val="8429341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Alternate Process 5"/>
          <p:cNvSpPr/>
          <p:nvPr/>
        </p:nvSpPr>
        <p:spPr>
          <a:xfrm>
            <a:off x="1879610" y="1421255"/>
            <a:ext cx="2193713" cy="750789"/>
          </a:xfrm>
          <a:prstGeom prst="flowChartAlternateProcess">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n-US" sz="1350" dirty="0">
                <a:latin typeface="Futura Std Medium" panose="020B0502020204020303" pitchFamily="34" charset="0"/>
                <a:ea typeface="Tahoma" panose="020B0604030504040204" pitchFamily="34" charset="0"/>
                <a:cs typeface="Tahoma" panose="020B0604030504040204" pitchFamily="34" charset="0"/>
              </a:rPr>
              <a:t>Street Network</a:t>
            </a:r>
          </a:p>
          <a:p>
            <a:pPr algn="ctr"/>
            <a:r>
              <a:rPr lang="en-US" sz="1200" dirty="0">
                <a:latin typeface="Futura Std Medium" panose="020B0502020204020303" pitchFamily="34" charset="0"/>
                <a:ea typeface="Tahoma" panose="020B0604030504040204" pitchFamily="34" charset="0"/>
                <a:cs typeface="Tahoma" panose="020B0604030504040204" pitchFamily="34" charset="0"/>
              </a:rPr>
              <a:t>(OpenStreetMap)</a:t>
            </a:r>
          </a:p>
        </p:txBody>
      </p:sp>
      <p:sp>
        <p:nvSpPr>
          <p:cNvPr id="7" name="Flowchart: Alternate Process 6"/>
          <p:cNvSpPr/>
          <p:nvPr/>
        </p:nvSpPr>
        <p:spPr>
          <a:xfrm>
            <a:off x="1914806" y="2277624"/>
            <a:ext cx="2193713" cy="750789"/>
          </a:xfrm>
          <a:prstGeom prst="flowChartAlternateProcess">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n-US" sz="1350" dirty="0">
                <a:latin typeface="Futura Std Medium" panose="020B0502020204020303" pitchFamily="34" charset="0"/>
                <a:ea typeface="Tahoma" panose="020B0604030504040204" pitchFamily="34" charset="0"/>
                <a:cs typeface="Tahoma" panose="020B0604030504040204" pitchFamily="34" charset="0"/>
              </a:rPr>
              <a:t>Public Transit System GTFS</a:t>
            </a:r>
          </a:p>
          <a:p>
            <a:pPr algn="ctr"/>
            <a:r>
              <a:rPr lang="en-US" sz="1200" dirty="0">
                <a:latin typeface="Futura Std Medium" panose="020B0502020204020303" pitchFamily="34" charset="0"/>
                <a:ea typeface="Tahoma" panose="020B0604030504040204" pitchFamily="34" charset="0"/>
                <a:cs typeface="Tahoma" panose="020B0604030504040204" pitchFamily="34" charset="0"/>
              </a:rPr>
              <a:t>(CTA)</a:t>
            </a:r>
          </a:p>
        </p:txBody>
      </p:sp>
      <p:sp>
        <p:nvSpPr>
          <p:cNvPr id="8" name="Flowchart: Alternate Process 7"/>
          <p:cNvSpPr/>
          <p:nvPr/>
        </p:nvSpPr>
        <p:spPr>
          <a:xfrm>
            <a:off x="1914806" y="3145722"/>
            <a:ext cx="2193713" cy="750789"/>
          </a:xfrm>
          <a:prstGeom prst="flowChartAlternateProcess">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n-US" sz="1350" dirty="0">
                <a:latin typeface="Futura Std Medium" panose="020B0502020204020303" pitchFamily="34" charset="0"/>
                <a:ea typeface="Tahoma" panose="020B0604030504040204" pitchFamily="34" charset="0"/>
                <a:cs typeface="Tahoma" panose="020B0604030504040204" pitchFamily="34" charset="0"/>
              </a:rPr>
              <a:t>Bikeshare System</a:t>
            </a:r>
          </a:p>
          <a:p>
            <a:pPr algn="ctr"/>
            <a:r>
              <a:rPr lang="en-US" sz="1200" dirty="0">
                <a:latin typeface="Futura Std Medium" panose="020B0502020204020303" pitchFamily="34" charset="0"/>
                <a:ea typeface="Tahoma" panose="020B0604030504040204" pitchFamily="34" charset="0"/>
                <a:cs typeface="Tahoma" panose="020B0604030504040204" pitchFamily="34" charset="0"/>
              </a:rPr>
              <a:t>(Divvy)</a:t>
            </a:r>
          </a:p>
        </p:txBody>
      </p:sp>
      <p:sp>
        <p:nvSpPr>
          <p:cNvPr id="10" name="TextBox 9"/>
          <p:cNvSpPr txBox="1"/>
          <p:nvPr/>
        </p:nvSpPr>
        <p:spPr>
          <a:xfrm>
            <a:off x="1809226" y="1038048"/>
            <a:ext cx="1406091" cy="369332"/>
          </a:xfrm>
          <a:prstGeom prst="rect">
            <a:avLst/>
          </a:prstGeom>
          <a:noFill/>
        </p:spPr>
        <p:txBody>
          <a:bodyPr wrap="none" rtlCol="0">
            <a:spAutoFit/>
          </a:bodyPr>
          <a:lstStyle/>
          <a:p>
            <a:r>
              <a:rPr lang="en-US" dirty="0">
                <a:solidFill>
                  <a:schemeClr val="bg1">
                    <a:lumMod val="50000"/>
                  </a:schemeClr>
                </a:solidFill>
                <a:latin typeface="Futura Std Medium" panose="020B0502020204020303" pitchFamily="34" charset="0"/>
                <a:ea typeface="Tahoma" panose="020B0604030504040204" pitchFamily="34" charset="0"/>
                <a:cs typeface="Tahoma" panose="020B0604030504040204" pitchFamily="34" charset="0"/>
              </a:rPr>
              <a:t>INPUT DATA</a:t>
            </a:r>
          </a:p>
        </p:txBody>
      </p:sp>
      <p:grpSp>
        <p:nvGrpSpPr>
          <p:cNvPr id="2" name="Group 1">
            <a:extLst>
              <a:ext uri="{FF2B5EF4-FFF2-40B4-BE49-F238E27FC236}">
                <a16:creationId xmlns:a16="http://schemas.microsoft.com/office/drawing/2014/main" id="{48C1737C-5986-415B-9E42-747D531D9804}"/>
              </a:ext>
            </a:extLst>
          </p:cNvPr>
          <p:cNvGrpSpPr/>
          <p:nvPr/>
        </p:nvGrpSpPr>
        <p:grpSpPr>
          <a:xfrm>
            <a:off x="4214098" y="1038049"/>
            <a:ext cx="2782221" cy="1990376"/>
            <a:chOff x="2524786" y="692032"/>
            <a:chExt cx="1854814" cy="1326917"/>
          </a:xfrm>
        </p:grpSpPr>
        <p:sp>
          <p:nvSpPr>
            <p:cNvPr id="18" name="TextBox 17"/>
            <p:cNvSpPr txBox="1"/>
            <p:nvPr/>
          </p:nvSpPr>
          <p:spPr>
            <a:xfrm>
              <a:off x="2840221" y="692032"/>
              <a:ext cx="1185880" cy="246221"/>
            </a:xfrm>
            <a:prstGeom prst="rect">
              <a:avLst/>
            </a:prstGeom>
            <a:noFill/>
          </p:spPr>
          <p:txBody>
            <a:bodyPr wrap="none" rtlCol="0">
              <a:spAutoFit/>
            </a:bodyPr>
            <a:lstStyle/>
            <a:p>
              <a:r>
                <a:rPr lang="en-US" dirty="0">
                  <a:solidFill>
                    <a:srgbClr val="5B9BD5"/>
                  </a:solidFill>
                  <a:latin typeface="Futura Std Medium" panose="020B0502020204020303" pitchFamily="34" charset="0"/>
                  <a:ea typeface="Tahoma" panose="020B0604030504040204" pitchFamily="34" charset="0"/>
                  <a:cs typeface="Tahoma" panose="020B0604030504040204" pitchFamily="34" charset="0"/>
                </a:rPr>
                <a:t>CALCULATIONS</a:t>
              </a:r>
            </a:p>
          </p:txBody>
        </p:sp>
        <p:sp>
          <p:nvSpPr>
            <p:cNvPr id="20" name="Right Arrow 19"/>
            <p:cNvSpPr/>
            <p:nvPr/>
          </p:nvSpPr>
          <p:spPr>
            <a:xfrm>
              <a:off x="2524786" y="1526243"/>
              <a:ext cx="336291" cy="492706"/>
            </a:xfrm>
            <a:prstGeom prs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1" name="Flowchart: Alternate Process 40"/>
            <p:cNvSpPr/>
            <p:nvPr/>
          </p:nvSpPr>
          <p:spPr>
            <a:xfrm>
              <a:off x="2917125" y="947503"/>
              <a:ext cx="1462475" cy="500526"/>
            </a:xfrm>
            <a:prstGeom prst="flowChartAlternateProcess">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n-US" sz="1350" dirty="0">
                  <a:latin typeface="Futura Std Medium" panose="020B0502020204020303" pitchFamily="34" charset="0"/>
                  <a:ea typeface="Tahoma" panose="020B0604030504040204" pitchFamily="34" charset="0"/>
                  <a:cs typeface="Tahoma" panose="020B0604030504040204" pitchFamily="34" charset="0"/>
                </a:rPr>
                <a:t>OpenTripPlanner</a:t>
              </a:r>
            </a:p>
          </p:txBody>
        </p:sp>
        <p:sp>
          <p:nvSpPr>
            <p:cNvPr id="58" name="Flowchart: Alternate Process 57"/>
            <p:cNvSpPr/>
            <p:nvPr/>
          </p:nvSpPr>
          <p:spPr>
            <a:xfrm>
              <a:off x="2911910" y="1514848"/>
              <a:ext cx="1462475" cy="500526"/>
            </a:xfrm>
            <a:prstGeom prst="flowChartAlternateProcess">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n-US" sz="1350" dirty="0">
                  <a:latin typeface="Futura Std Medium" panose="020B0502020204020303" pitchFamily="34" charset="0"/>
                  <a:ea typeface="Tahoma" panose="020B0604030504040204" pitchFamily="34" charset="0"/>
                  <a:cs typeface="Tahoma" panose="020B0604030504040204" pitchFamily="34" charset="0"/>
                </a:rPr>
                <a:t>Python Scripts</a:t>
              </a:r>
            </a:p>
          </p:txBody>
        </p:sp>
      </p:grpSp>
      <p:grpSp>
        <p:nvGrpSpPr>
          <p:cNvPr id="3" name="Group 2">
            <a:extLst>
              <a:ext uri="{FF2B5EF4-FFF2-40B4-BE49-F238E27FC236}">
                <a16:creationId xmlns:a16="http://schemas.microsoft.com/office/drawing/2014/main" id="{47CFBE7B-F161-4AA8-B918-10A6175D8464}"/>
              </a:ext>
            </a:extLst>
          </p:cNvPr>
          <p:cNvGrpSpPr/>
          <p:nvPr/>
        </p:nvGrpSpPr>
        <p:grpSpPr>
          <a:xfrm>
            <a:off x="7092125" y="1038048"/>
            <a:ext cx="3362913" cy="5511330"/>
            <a:chOff x="7092125" y="1038048"/>
            <a:chExt cx="3362913" cy="5511330"/>
          </a:xfrm>
        </p:grpSpPr>
        <p:grpSp>
          <p:nvGrpSpPr>
            <p:cNvPr id="4" name="Group 3">
              <a:extLst>
                <a:ext uri="{FF2B5EF4-FFF2-40B4-BE49-F238E27FC236}">
                  <a16:creationId xmlns:a16="http://schemas.microsoft.com/office/drawing/2014/main" id="{40458983-FE0E-4BF6-82CC-C961C67FEBA8}"/>
                </a:ext>
              </a:extLst>
            </p:cNvPr>
            <p:cNvGrpSpPr/>
            <p:nvPr/>
          </p:nvGrpSpPr>
          <p:grpSpPr>
            <a:xfrm>
              <a:off x="7092125" y="1038048"/>
              <a:ext cx="3362913" cy="5511330"/>
              <a:chOff x="4443470" y="692032"/>
              <a:chExt cx="2241942" cy="3674220"/>
            </a:xfrm>
          </p:grpSpPr>
          <p:sp>
            <p:nvSpPr>
              <p:cNvPr id="5" name="Flowchart: Alternate Process 4"/>
              <p:cNvSpPr/>
              <p:nvPr/>
            </p:nvSpPr>
            <p:spPr>
              <a:xfrm>
                <a:off x="4831897" y="947503"/>
                <a:ext cx="1462475" cy="500526"/>
              </a:xfrm>
              <a:prstGeom prst="flowChartAlternateProcess">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en-US" sz="1350" dirty="0">
                    <a:latin typeface="Futura Std Medium" panose="020B0502020204020303" pitchFamily="34" charset="0"/>
                    <a:ea typeface="Tahoma" panose="020B0604030504040204" pitchFamily="34" charset="0"/>
                    <a:cs typeface="Tahoma" panose="020B0604030504040204" pitchFamily="34" charset="0"/>
                  </a:rPr>
                  <a:t>Multimodal Transportation Network</a:t>
                </a:r>
                <a:endParaRPr lang="en-US" sz="1200" dirty="0">
                  <a:latin typeface="Futura Std Medium" panose="020B0502020204020303" pitchFamily="34" charset="0"/>
                  <a:ea typeface="Tahoma" panose="020B0604030504040204" pitchFamily="34" charset="0"/>
                  <a:cs typeface="Tahoma" panose="020B0604030504040204" pitchFamily="34" charset="0"/>
                </a:endParaRPr>
              </a:p>
            </p:txBody>
          </p:sp>
          <p:sp>
            <p:nvSpPr>
              <p:cNvPr id="19" name="TextBox 18"/>
              <p:cNvSpPr txBox="1"/>
              <p:nvPr/>
            </p:nvSpPr>
            <p:spPr>
              <a:xfrm>
                <a:off x="4769329" y="692032"/>
                <a:ext cx="754694" cy="246221"/>
              </a:xfrm>
              <a:prstGeom prst="rect">
                <a:avLst/>
              </a:prstGeom>
              <a:noFill/>
            </p:spPr>
            <p:txBody>
              <a:bodyPr wrap="none" rtlCol="0">
                <a:spAutoFit/>
              </a:bodyPr>
              <a:lstStyle/>
              <a:p>
                <a:r>
                  <a:rPr lang="en-US" dirty="0">
                    <a:solidFill>
                      <a:srgbClr val="ED7D31"/>
                    </a:solidFill>
                    <a:latin typeface="Futura Std Medium" panose="020B0502020204020303" pitchFamily="34" charset="0"/>
                    <a:ea typeface="Tahoma" panose="020B0604030504040204" pitchFamily="34" charset="0"/>
                    <a:cs typeface="Tahoma" panose="020B0604030504040204" pitchFamily="34" charset="0"/>
                  </a:rPr>
                  <a:t>OUTPUTS</a:t>
                </a:r>
              </a:p>
            </p:txBody>
          </p:sp>
          <p:sp>
            <p:nvSpPr>
              <p:cNvPr id="21" name="Right Arrow 20"/>
              <p:cNvSpPr/>
              <p:nvPr/>
            </p:nvSpPr>
            <p:spPr>
              <a:xfrm>
                <a:off x="4443470" y="1526243"/>
                <a:ext cx="336291" cy="492706"/>
              </a:xfrm>
              <a:prstGeom prs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grpSp>
            <p:nvGrpSpPr>
              <p:cNvPr id="53" name="Group 52"/>
              <p:cNvGrpSpPr/>
              <p:nvPr/>
            </p:nvGrpSpPr>
            <p:grpSpPr>
              <a:xfrm>
                <a:off x="4451687" y="2163825"/>
                <a:ext cx="2233725" cy="2202427"/>
                <a:chOff x="1967537" y="2214561"/>
                <a:chExt cx="2105186" cy="2075689"/>
              </a:xfrm>
            </p:grpSpPr>
            <p:sp>
              <p:nvSpPr>
                <p:cNvPr id="44" name="Freeform 43"/>
                <p:cNvSpPr/>
                <p:nvPr/>
              </p:nvSpPr>
              <p:spPr>
                <a:xfrm>
                  <a:off x="2418944" y="2694004"/>
                  <a:ext cx="1193840" cy="1193840"/>
                </a:xfrm>
                <a:custGeom>
                  <a:avLst/>
                  <a:gdLst>
                    <a:gd name="connsiteX0" fmla="*/ 0 w 1491059"/>
                    <a:gd name="connsiteY0" fmla="*/ 745530 h 1491059"/>
                    <a:gd name="connsiteX1" fmla="*/ 745530 w 1491059"/>
                    <a:gd name="connsiteY1" fmla="*/ 0 h 1491059"/>
                    <a:gd name="connsiteX2" fmla="*/ 1491060 w 1491059"/>
                    <a:gd name="connsiteY2" fmla="*/ 745530 h 1491059"/>
                    <a:gd name="connsiteX3" fmla="*/ 745530 w 1491059"/>
                    <a:gd name="connsiteY3" fmla="*/ 1491060 h 1491059"/>
                    <a:gd name="connsiteX4" fmla="*/ 0 w 1491059"/>
                    <a:gd name="connsiteY4" fmla="*/ 745530 h 14910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1059" h="1491059">
                      <a:moveTo>
                        <a:pt x="0" y="745530"/>
                      </a:moveTo>
                      <a:cubicBezTo>
                        <a:pt x="0" y="333785"/>
                        <a:pt x="333785" y="0"/>
                        <a:pt x="745530" y="0"/>
                      </a:cubicBezTo>
                      <a:cubicBezTo>
                        <a:pt x="1157275" y="0"/>
                        <a:pt x="1491060" y="333785"/>
                        <a:pt x="1491060" y="745530"/>
                      </a:cubicBezTo>
                      <a:cubicBezTo>
                        <a:pt x="1491060" y="1157275"/>
                        <a:pt x="1157275" y="1491060"/>
                        <a:pt x="745530" y="1491060"/>
                      </a:cubicBezTo>
                      <a:cubicBezTo>
                        <a:pt x="333785" y="1491060"/>
                        <a:pt x="0" y="1157275"/>
                        <a:pt x="0" y="745530"/>
                      </a:cubicBezTo>
                      <a:close/>
                    </a:path>
                  </a:pathLst>
                </a:custGeom>
              </p:spPr>
              <p:style>
                <a:lnRef idx="3">
                  <a:schemeClr val="lt1"/>
                </a:lnRef>
                <a:fillRef idx="1">
                  <a:schemeClr val="accent2"/>
                </a:fillRef>
                <a:effectRef idx="1">
                  <a:schemeClr val="accent2"/>
                </a:effectRef>
                <a:fontRef idx="minor">
                  <a:schemeClr val="lt1"/>
                </a:fontRef>
              </p:style>
              <p:txBody>
                <a:bodyPr spcFirstLastPara="0" vert="horz" wrap="square" lIns="390407" tIns="390407" rIns="390407" bIns="390407" numCol="1" spcCol="1270" anchor="ctr" anchorCtr="0">
                  <a:noAutofit/>
                </a:bodyPr>
                <a:lstStyle/>
                <a:p>
                  <a:pPr algn="ctr" defTabSz="2200391">
                    <a:lnSpc>
                      <a:spcPct val="90000"/>
                    </a:lnSpc>
                    <a:spcBef>
                      <a:spcPct val="0"/>
                    </a:spcBef>
                    <a:spcAft>
                      <a:spcPct val="35000"/>
                    </a:spcAft>
                  </a:pPr>
                  <a:r>
                    <a:rPr lang="en-US" sz="1500" dirty="0">
                      <a:solidFill>
                        <a:schemeClr val="bg1"/>
                      </a:solidFill>
                      <a:latin typeface="Futura Std Medium" panose="020B0502020204020303" pitchFamily="34" charset="0"/>
                    </a:rPr>
                    <a:t>mode-specific trip data and accessibility estimates</a:t>
                  </a:r>
                </a:p>
              </p:txBody>
            </p:sp>
            <p:sp>
              <p:nvSpPr>
                <p:cNvPr id="45" name="Freeform 44"/>
                <p:cNvSpPr/>
                <p:nvPr/>
              </p:nvSpPr>
              <p:spPr>
                <a:xfrm>
                  <a:off x="2717404" y="2214561"/>
                  <a:ext cx="596919" cy="596919"/>
                </a:xfrm>
                <a:custGeom>
                  <a:avLst/>
                  <a:gdLst>
                    <a:gd name="connsiteX0" fmla="*/ 0 w 745529"/>
                    <a:gd name="connsiteY0" fmla="*/ 372765 h 745529"/>
                    <a:gd name="connsiteX1" fmla="*/ 372765 w 745529"/>
                    <a:gd name="connsiteY1" fmla="*/ 0 h 745529"/>
                    <a:gd name="connsiteX2" fmla="*/ 745530 w 745529"/>
                    <a:gd name="connsiteY2" fmla="*/ 372765 h 745529"/>
                    <a:gd name="connsiteX3" fmla="*/ 372765 w 745529"/>
                    <a:gd name="connsiteY3" fmla="*/ 745530 h 745529"/>
                    <a:gd name="connsiteX4" fmla="*/ 0 w 745529"/>
                    <a:gd name="connsiteY4" fmla="*/ 372765 h 7455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5529" h="745529">
                      <a:moveTo>
                        <a:pt x="0" y="372765"/>
                      </a:moveTo>
                      <a:cubicBezTo>
                        <a:pt x="0" y="166893"/>
                        <a:pt x="166893" y="0"/>
                        <a:pt x="372765" y="0"/>
                      </a:cubicBezTo>
                      <a:cubicBezTo>
                        <a:pt x="578637" y="0"/>
                        <a:pt x="745530" y="166893"/>
                        <a:pt x="745530" y="372765"/>
                      </a:cubicBezTo>
                      <a:cubicBezTo>
                        <a:pt x="745530" y="578637"/>
                        <a:pt x="578637" y="745530"/>
                        <a:pt x="372765" y="745530"/>
                      </a:cubicBezTo>
                      <a:cubicBezTo>
                        <a:pt x="166893" y="745530"/>
                        <a:pt x="0" y="578637"/>
                        <a:pt x="0" y="372765"/>
                      </a:cubicBezTo>
                      <a:close/>
                    </a:path>
                  </a:pathLst>
                </a:custGeom>
              </p:spPr>
              <p:style>
                <a:lnRef idx="2">
                  <a:schemeClr val="lt1">
                    <a:hueOff val="0"/>
                    <a:satOff val="0"/>
                    <a:lumOff val="0"/>
                    <a:alphaOff val="0"/>
                  </a:schemeClr>
                </a:lnRef>
                <a:fillRef idx="1">
                  <a:schemeClr val="accent2">
                    <a:alpha val="50000"/>
                    <a:hueOff val="0"/>
                    <a:satOff val="0"/>
                    <a:lumOff val="0"/>
                    <a:alphaOff val="0"/>
                  </a:schemeClr>
                </a:fillRef>
                <a:effectRef idx="0">
                  <a:schemeClr val="accent2">
                    <a:alpha val="50000"/>
                    <a:hueOff val="0"/>
                    <a:satOff val="0"/>
                    <a:lumOff val="0"/>
                    <a:alphaOff val="0"/>
                  </a:schemeClr>
                </a:effectRef>
                <a:fontRef idx="minor">
                  <a:schemeClr val="tx1"/>
                </a:fontRef>
              </p:style>
              <p:txBody>
                <a:bodyPr spcFirstLastPara="0" vert="horz" wrap="square" lIns="0" tIns="194250" rIns="0" bIns="194250" numCol="1" spcCol="1270" anchor="ctr" anchorCtr="0">
                  <a:noAutofit/>
                </a:bodyPr>
                <a:lstStyle/>
                <a:p>
                  <a:pPr algn="ctr" defTabSz="1066857">
                    <a:lnSpc>
                      <a:spcPct val="90000"/>
                    </a:lnSpc>
                    <a:spcBef>
                      <a:spcPct val="0"/>
                    </a:spcBef>
                    <a:spcAft>
                      <a:spcPct val="35000"/>
                    </a:spcAft>
                  </a:pPr>
                  <a:r>
                    <a:rPr lang="en-US" sz="1500" dirty="0">
                      <a:solidFill>
                        <a:schemeClr val="bg1"/>
                      </a:solidFill>
                      <a:latin typeface="Futura Std Medium" panose="020B0502020204020303" pitchFamily="34" charset="0"/>
                    </a:rPr>
                    <a:t>e-scooter rental</a:t>
                  </a:r>
                </a:p>
              </p:txBody>
            </p:sp>
            <p:sp>
              <p:nvSpPr>
                <p:cNvPr id="46" name="Freeform 45"/>
                <p:cNvSpPr/>
                <p:nvPr/>
              </p:nvSpPr>
              <p:spPr>
                <a:xfrm>
                  <a:off x="3325593" y="2507449"/>
                  <a:ext cx="596919" cy="596919"/>
                </a:xfrm>
                <a:custGeom>
                  <a:avLst/>
                  <a:gdLst>
                    <a:gd name="connsiteX0" fmla="*/ 0 w 745529"/>
                    <a:gd name="connsiteY0" fmla="*/ 372765 h 745529"/>
                    <a:gd name="connsiteX1" fmla="*/ 372765 w 745529"/>
                    <a:gd name="connsiteY1" fmla="*/ 0 h 745529"/>
                    <a:gd name="connsiteX2" fmla="*/ 745530 w 745529"/>
                    <a:gd name="connsiteY2" fmla="*/ 372765 h 745529"/>
                    <a:gd name="connsiteX3" fmla="*/ 372765 w 745529"/>
                    <a:gd name="connsiteY3" fmla="*/ 745530 h 745529"/>
                    <a:gd name="connsiteX4" fmla="*/ 0 w 745529"/>
                    <a:gd name="connsiteY4" fmla="*/ 372765 h 7455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5529" h="745529">
                      <a:moveTo>
                        <a:pt x="0" y="372765"/>
                      </a:moveTo>
                      <a:cubicBezTo>
                        <a:pt x="0" y="166893"/>
                        <a:pt x="166893" y="0"/>
                        <a:pt x="372765" y="0"/>
                      </a:cubicBezTo>
                      <a:cubicBezTo>
                        <a:pt x="578637" y="0"/>
                        <a:pt x="745530" y="166893"/>
                        <a:pt x="745530" y="372765"/>
                      </a:cubicBezTo>
                      <a:cubicBezTo>
                        <a:pt x="745530" y="578637"/>
                        <a:pt x="578637" y="745530"/>
                        <a:pt x="372765" y="745530"/>
                      </a:cubicBezTo>
                      <a:cubicBezTo>
                        <a:pt x="166893" y="745530"/>
                        <a:pt x="0" y="578637"/>
                        <a:pt x="0" y="372765"/>
                      </a:cubicBezTo>
                      <a:close/>
                    </a:path>
                  </a:pathLst>
                </a:custGeom>
              </p:spPr>
              <p:style>
                <a:lnRef idx="2">
                  <a:schemeClr val="lt1">
                    <a:hueOff val="0"/>
                    <a:satOff val="0"/>
                    <a:lumOff val="0"/>
                    <a:alphaOff val="0"/>
                  </a:schemeClr>
                </a:lnRef>
                <a:fillRef idx="1">
                  <a:schemeClr val="accent2">
                    <a:alpha val="50000"/>
                    <a:hueOff val="0"/>
                    <a:satOff val="0"/>
                    <a:lumOff val="0"/>
                    <a:alphaOff val="0"/>
                  </a:schemeClr>
                </a:fillRef>
                <a:effectRef idx="0">
                  <a:schemeClr val="accent2">
                    <a:alpha val="50000"/>
                    <a:hueOff val="0"/>
                    <a:satOff val="0"/>
                    <a:lumOff val="0"/>
                    <a:alphaOff val="0"/>
                  </a:schemeClr>
                </a:effectRef>
                <a:fontRef idx="minor">
                  <a:schemeClr val="tx1"/>
                </a:fontRef>
              </p:style>
              <p:txBody>
                <a:bodyPr spcFirstLastPara="0" vert="horz" wrap="square" lIns="0" tIns="194250" rIns="0" bIns="194250" numCol="1" spcCol="1270" anchor="ctr" anchorCtr="0">
                  <a:noAutofit/>
                </a:bodyPr>
                <a:lstStyle/>
                <a:p>
                  <a:pPr algn="ctr" defTabSz="1066857">
                    <a:lnSpc>
                      <a:spcPct val="90000"/>
                    </a:lnSpc>
                    <a:spcBef>
                      <a:spcPct val="0"/>
                    </a:spcBef>
                    <a:spcAft>
                      <a:spcPct val="35000"/>
                    </a:spcAft>
                  </a:pPr>
                  <a:r>
                    <a:rPr lang="en-US" sz="1500" dirty="0">
                      <a:solidFill>
                        <a:schemeClr val="bg1"/>
                      </a:solidFill>
                      <a:latin typeface="Futura Std Medium" panose="020B0502020204020303" pitchFamily="34" charset="0"/>
                    </a:rPr>
                    <a:t>walk</a:t>
                  </a:r>
                </a:p>
              </p:txBody>
            </p:sp>
            <p:sp>
              <p:nvSpPr>
                <p:cNvPr id="47" name="Freeform 46"/>
                <p:cNvSpPr/>
                <p:nvPr/>
              </p:nvSpPr>
              <p:spPr>
                <a:xfrm>
                  <a:off x="3475804" y="3165564"/>
                  <a:ext cx="596919" cy="596919"/>
                </a:xfrm>
                <a:custGeom>
                  <a:avLst/>
                  <a:gdLst>
                    <a:gd name="connsiteX0" fmla="*/ 0 w 745529"/>
                    <a:gd name="connsiteY0" fmla="*/ 372765 h 745529"/>
                    <a:gd name="connsiteX1" fmla="*/ 372765 w 745529"/>
                    <a:gd name="connsiteY1" fmla="*/ 0 h 745529"/>
                    <a:gd name="connsiteX2" fmla="*/ 745530 w 745529"/>
                    <a:gd name="connsiteY2" fmla="*/ 372765 h 745529"/>
                    <a:gd name="connsiteX3" fmla="*/ 372765 w 745529"/>
                    <a:gd name="connsiteY3" fmla="*/ 745530 h 745529"/>
                    <a:gd name="connsiteX4" fmla="*/ 0 w 745529"/>
                    <a:gd name="connsiteY4" fmla="*/ 372765 h 7455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5529" h="745529">
                      <a:moveTo>
                        <a:pt x="0" y="372765"/>
                      </a:moveTo>
                      <a:cubicBezTo>
                        <a:pt x="0" y="166893"/>
                        <a:pt x="166893" y="0"/>
                        <a:pt x="372765" y="0"/>
                      </a:cubicBezTo>
                      <a:cubicBezTo>
                        <a:pt x="578637" y="0"/>
                        <a:pt x="745530" y="166893"/>
                        <a:pt x="745530" y="372765"/>
                      </a:cubicBezTo>
                      <a:cubicBezTo>
                        <a:pt x="745530" y="578637"/>
                        <a:pt x="578637" y="745530"/>
                        <a:pt x="372765" y="745530"/>
                      </a:cubicBezTo>
                      <a:cubicBezTo>
                        <a:pt x="166893" y="745530"/>
                        <a:pt x="0" y="578637"/>
                        <a:pt x="0" y="372765"/>
                      </a:cubicBezTo>
                      <a:close/>
                    </a:path>
                  </a:pathLst>
                </a:custGeom>
              </p:spPr>
              <p:style>
                <a:lnRef idx="2">
                  <a:schemeClr val="lt1">
                    <a:hueOff val="0"/>
                    <a:satOff val="0"/>
                    <a:lumOff val="0"/>
                    <a:alphaOff val="0"/>
                  </a:schemeClr>
                </a:lnRef>
                <a:fillRef idx="1">
                  <a:schemeClr val="accent2">
                    <a:alpha val="50000"/>
                    <a:hueOff val="0"/>
                    <a:satOff val="0"/>
                    <a:lumOff val="0"/>
                    <a:alphaOff val="0"/>
                  </a:schemeClr>
                </a:fillRef>
                <a:effectRef idx="0">
                  <a:schemeClr val="accent2">
                    <a:alpha val="50000"/>
                    <a:hueOff val="0"/>
                    <a:satOff val="0"/>
                    <a:lumOff val="0"/>
                    <a:alphaOff val="0"/>
                  </a:schemeClr>
                </a:effectRef>
                <a:fontRef idx="minor">
                  <a:schemeClr val="tx1"/>
                </a:fontRef>
              </p:style>
              <p:txBody>
                <a:bodyPr spcFirstLastPara="0" vert="horz" wrap="square" lIns="0" tIns="194250" rIns="0" bIns="194250" numCol="1" spcCol="1270" anchor="ctr" anchorCtr="0">
                  <a:noAutofit/>
                </a:bodyPr>
                <a:lstStyle/>
                <a:p>
                  <a:pPr algn="ctr" defTabSz="1066857">
                    <a:lnSpc>
                      <a:spcPct val="90000"/>
                    </a:lnSpc>
                    <a:spcBef>
                      <a:spcPct val="0"/>
                    </a:spcBef>
                    <a:spcAft>
                      <a:spcPct val="35000"/>
                    </a:spcAft>
                  </a:pPr>
                  <a:r>
                    <a:rPr lang="en-US" sz="1500" dirty="0">
                      <a:solidFill>
                        <a:schemeClr val="bg1"/>
                      </a:solidFill>
                      <a:latin typeface="Futura Std Medium" panose="020B0502020204020303" pitchFamily="34" charset="0"/>
                    </a:rPr>
                    <a:t>bike</a:t>
                  </a:r>
                </a:p>
              </p:txBody>
            </p:sp>
            <p:sp>
              <p:nvSpPr>
                <p:cNvPr id="48" name="Freeform 47"/>
                <p:cNvSpPr/>
                <p:nvPr/>
              </p:nvSpPr>
              <p:spPr>
                <a:xfrm>
                  <a:off x="3054923" y="3693331"/>
                  <a:ext cx="596919" cy="596919"/>
                </a:xfrm>
                <a:custGeom>
                  <a:avLst/>
                  <a:gdLst>
                    <a:gd name="connsiteX0" fmla="*/ 0 w 745529"/>
                    <a:gd name="connsiteY0" fmla="*/ 372765 h 745529"/>
                    <a:gd name="connsiteX1" fmla="*/ 372765 w 745529"/>
                    <a:gd name="connsiteY1" fmla="*/ 0 h 745529"/>
                    <a:gd name="connsiteX2" fmla="*/ 745530 w 745529"/>
                    <a:gd name="connsiteY2" fmla="*/ 372765 h 745529"/>
                    <a:gd name="connsiteX3" fmla="*/ 372765 w 745529"/>
                    <a:gd name="connsiteY3" fmla="*/ 745530 h 745529"/>
                    <a:gd name="connsiteX4" fmla="*/ 0 w 745529"/>
                    <a:gd name="connsiteY4" fmla="*/ 372765 h 7455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5529" h="745529">
                      <a:moveTo>
                        <a:pt x="0" y="372765"/>
                      </a:moveTo>
                      <a:cubicBezTo>
                        <a:pt x="0" y="166893"/>
                        <a:pt x="166893" y="0"/>
                        <a:pt x="372765" y="0"/>
                      </a:cubicBezTo>
                      <a:cubicBezTo>
                        <a:pt x="578637" y="0"/>
                        <a:pt x="745530" y="166893"/>
                        <a:pt x="745530" y="372765"/>
                      </a:cubicBezTo>
                      <a:cubicBezTo>
                        <a:pt x="745530" y="578637"/>
                        <a:pt x="578637" y="745530"/>
                        <a:pt x="372765" y="745530"/>
                      </a:cubicBezTo>
                      <a:cubicBezTo>
                        <a:pt x="166893" y="745530"/>
                        <a:pt x="0" y="578637"/>
                        <a:pt x="0" y="372765"/>
                      </a:cubicBezTo>
                      <a:close/>
                    </a:path>
                  </a:pathLst>
                </a:custGeom>
              </p:spPr>
              <p:style>
                <a:lnRef idx="2">
                  <a:schemeClr val="lt1">
                    <a:hueOff val="0"/>
                    <a:satOff val="0"/>
                    <a:lumOff val="0"/>
                    <a:alphaOff val="0"/>
                  </a:schemeClr>
                </a:lnRef>
                <a:fillRef idx="1">
                  <a:schemeClr val="accent2">
                    <a:alpha val="50000"/>
                    <a:hueOff val="0"/>
                    <a:satOff val="0"/>
                    <a:lumOff val="0"/>
                    <a:alphaOff val="0"/>
                  </a:schemeClr>
                </a:fillRef>
                <a:effectRef idx="0">
                  <a:schemeClr val="accent2">
                    <a:alpha val="50000"/>
                    <a:hueOff val="0"/>
                    <a:satOff val="0"/>
                    <a:lumOff val="0"/>
                    <a:alphaOff val="0"/>
                  </a:schemeClr>
                </a:effectRef>
                <a:fontRef idx="minor">
                  <a:schemeClr val="tx1"/>
                </a:fontRef>
              </p:style>
              <p:txBody>
                <a:bodyPr spcFirstLastPara="0" vert="horz" wrap="square" lIns="0" tIns="194250" rIns="0" bIns="194250" numCol="1" spcCol="1270" anchor="ctr" anchorCtr="0">
                  <a:noAutofit/>
                </a:bodyPr>
                <a:lstStyle/>
                <a:p>
                  <a:pPr algn="ctr" defTabSz="1066857">
                    <a:lnSpc>
                      <a:spcPct val="90000"/>
                    </a:lnSpc>
                    <a:spcBef>
                      <a:spcPct val="0"/>
                    </a:spcBef>
                    <a:spcAft>
                      <a:spcPct val="35000"/>
                    </a:spcAft>
                  </a:pPr>
                  <a:r>
                    <a:rPr lang="en-US" sz="1500" dirty="0">
                      <a:solidFill>
                        <a:schemeClr val="bg1"/>
                      </a:solidFill>
                      <a:latin typeface="Futura Std Medium" panose="020B0502020204020303" pitchFamily="34" charset="0"/>
                    </a:rPr>
                    <a:t>bikeshare</a:t>
                  </a:r>
                </a:p>
              </p:txBody>
            </p:sp>
            <p:sp>
              <p:nvSpPr>
                <p:cNvPr id="49" name="Freeform 48"/>
                <p:cNvSpPr/>
                <p:nvPr/>
              </p:nvSpPr>
              <p:spPr>
                <a:xfrm>
                  <a:off x="2379884" y="3693331"/>
                  <a:ext cx="596919" cy="596919"/>
                </a:xfrm>
                <a:custGeom>
                  <a:avLst/>
                  <a:gdLst>
                    <a:gd name="connsiteX0" fmla="*/ 0 w 745529"/>
                    <a:gd name="connsiteY0" fmla="*/ 372765 h 745529"/>
                    <a:gd name="connsiteX1" fmla="*/ 372765 w 745529"/>
                    <a:gd name="connsiteY1" fmla="*/ 0 h 745529"/>
                    <a:gd name="connsiteX2" fmla="*/ 745530 w 745529"/>
                    <a:gd name="connsiteY2" fmla="*/ 372765 h 745529"/>
                    <a:gd name="connsiteX3" fmla="*/ 372765 w 745529"/>
                    <a:gd name="connsiteY3" fmla="*/ 745530 h 745529"/>
                    <a:gd name="connsiteX4" fmla="*/ 0 w 745529"/>
                    <a:gd name="connsiteY4" fmla="*/ 372765 h 7455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5529" h="745529">
                      <a:moveTo>
                        <a:pt x="0" y="372765"/>
                      </a:moveTo>
                      <a:cubicBezTo>
                        <a:pt x="0" y="166893"/>
                        <a:pt x="166893" y="0"/>
                        <a:pt x="372765" y="0"/>
                      </a:cubicBezTo>
                      <a:cubicBezTo>
                        <a:pt x="578637" y="0"/>
                        <a:pt x="745530" y="166893"/>
                        <a:pt x="745530" y="372765"/>
                      </a:cubicBezTo>
                      <a:cubicBezTo>
                        <a:pt x="745530" y="578637"/>
                        <a:pt x="578637" y="745530"/>
                        <a:pt x="372765" y="745530"/>
                      </a:cubicBezTo>
                      <a:cubicBezTo>
                        <a:pt x="166893" y="745530"/>
                        <a:pt x="0" y="578637"/>
                        <a:pt x="0" y="372765"/>
                      </a:cubicBezTo>
                      <a:close/>
                    </a:path>
                  </a:pathLst>
                </a:custGeom>
              </p:spPr>
              <p:style>
                <a:lnRef idx="2">
                  <a:schemeClr val="lt1">
                    <a:hueOff val="0"/>
                    <a:satOff val="0"/>
                    <a:lumOff val="0"/>
                    <a:alphaOff val="0"/>
                  </a:schemeClr>
                </a:lnRef>
                <a:fillRef idx="1">
                  <a:schemeClr val="accent2">
                    <a:alpha val="50000"/>
                    <a:hueOff val="0"/>
                    <a:satOff val="0"/>
                    <a:lumOff val="0"/>
                    <a:alphaOff val="0"/>
                  </a:schemeClr>
                </a:fillRef>
                <a:effectRef idx="0">
                  <a:schemeClr val="accent2">
                    <a:alpha val="50000"/>
                    <a:hueOff val="0"/>
                    <a:satOff val="0"/>
                    <a:lumOff val="0"/>
                    <a:alphaOff val="0"/>
                  </a:schemeClr>
                </a:effectRef>
                <a:fontRef idx="minor">
                  <a:schemeClr val="tx1"/>
                </a:fontRef>
              </p:style>
              <p:txBody>
                <a:bodyPr spcFirstLastPara="0" vert="horz" wrap="square" lIns="0" tIns="194250" rIns="0" bIns="194250" numCol="1" spcCol="1270" anchor="ctr" anchorCtr="0">
                  <a:noAutofit/>
                </a:bodyPr>
                <a:lstStyle/>
                <a:p>
                  <a:pPr algn="ctr" defTabSz="1066857">
                    <a:lnSpc>
                      <a:spcPct val="90000"/>
                    </a:lnSpc>
                    <a:spcBef>
                      <a:spcPct val="0"/>
                    </a:spcBef>
                    <a:spcAft>
                      <a:spcPct val="35000"/>
                    </a:spcAft>
                  </a:pPr>
                  <a:r>
                    <a:rPr lang="en-US" sz="1500" dirty="0">
                      <a:solidFill>
                        <a:schemeClr val="bg1"/>
                      </a:solidFill>
                      <a:latin typeface="Futura Std Medium" panose="020B0502020204020303" pitchFamily="34" charset="0"/>
                    </a:rPr>
                    <a:t>public transit</a:t>
                  </a:r>
                </a:p>
              </p:txBody>
            </p:sp>
            <p:sp>
              <p:nvSpPr>
                <p:cNvPr id="51" name="Freeform 50"/>
                <p:cNvSpPr/>
                <p:nvPr/>
              </p:nvSpPr>
              <p:spPr>
                <a:xfrm>
                  <a:off x="1967537" y="3078483"/>
                  <a:ext cx="596919" cy="596919"/>
                </a:xfrm>
                <a:custGeom>
                  <a:avLst/>
                  <a:gdLst>
                    <a:gd name="connsiteX0" fmla="*/ 0 w 745529"/>
                    <a:gd name="connsiteY0" fmla="*/ 372765 h 745529"/>
                    <a:gd name="connsiteX1" fmla="*/ 372765 w 745529"/>
                    <a:gd name="connsiteY1" fmla="*/ 0 h 745529"/>
                    <a:gd name="connsiteX2" fmla="*/ 745530 w 745529"/>
                    <a:gd name="connsiteY2" fmla="*/ 372765 h 745529"/>
                    <a:gd name="connsiteX3" fmla="*/ 372765 w 745529"/>
                    <a:gd name="connsiteY3" fmla="*/ 745530 h 745529"/>
                    <a:gd name="connsiteX4" fmla="*/ 0 w 745529"/>
                    <a:gd name="connsiteY4" fmla="*/ 372765 h 7455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5529" h="745529">
                      <a:moveTo>
                        <a:pt x="0" y="372765"/>
                      </a:moveTo>
                      <a:cubicBezTo>
                        <a:pt x="0" y="166893"/>
                        <a:pt x="166893" y="0"/>
                        <a:pt x="372765" y="0"/>
                      </a:cubicBezTo>
                      <a:cubicBezTo>
                        <a:pt x="578637" y="0"/>
                        <a:pt x="745530" y="166893"/>
                        <a:pt x="745530" y="372765"/>
                      </a:cubicBezTo>
                      <a:cubicBezTo>
                        <a:pt x="745530" y="578637"/>
                        <a:pt x="578637" y="745530"/>
                        <a:pt x="372765" y="745530"/>
                      </a:cubicBezTo>
                      <a:cubicBezTo>
                        <a:pt x="166893" y="745530"/>
                        <a:pt x="0" y="578637"/>
                        <a:pt x="0" y="372765"/>
                      </a:cubicBezTo>
                      <a:close/>
                    </a:path>
                  </a:pathLst>
                </a:custGeom>
              </p:spPr>
              <p:style>
                <a:lnRef idx="2">
                  <a:schemeClr val="lt1">
                    <a:hueOff val="0"/>
                    <a:satOff val="0"/>
                    <a:lumOff val="0"/>
                    <a:alphaOff val="0"/>
                  </a:schemeClr>
                </a:lnRef>
                <a:fillRef idx="1">
                  <a:schemeClr val="accent2">
                    <a:alpha val="50000"/>
                    <a:hueOff val="0"/>
                    <a:satOff val="0"/>
                    <a:lumOff val="0"/>
                    <a:alphaOff val="0"/>
                  </a:schemeClr>
                </a:fillRef>
                <a:effectRef idx="0">
                  <a:schemeClr val="accent2">
                    <a:alpha val="50000"/>
                    <a:hueOff val="0"/>
                    <a:satOff val="0"/>
                    <a:lumOff val="0"/>
                    <a:alphaOff val="0"/>
                  </a:schemeClr>
                </a:effectRef>
                <a:fontRef idx="minor">
                  <a:schemeClr val="tx1"/>
                </a:fontRef>
              </p:style>
              <p:txBody>
                <a:bodyPr spcFirstLastPara="0" vert="horz" wrap="square" lIns="0" tIns="194250" rIns="0" bIns="194250" numCol="1" spcCol="1270" anchor="ctr" anchorCtr="0">
                  <a:noAutofit/>
                </a:bodyPr>
                <a:lstStyle/>
                <a:p>
                  <a:pPr algn="ctr" defTabSz="1066857">
                    <a:lnSpc>
                      <a:spcPct val="90000"/>
                    </a:lnSpc>
                    <a:spcBef>
                      <a:spcPct val="0"/>
                    </a:spcBef>
                    <a:spcAft>
                      <a:spcPct val="35000"/>
                    </a:spcAft>
                  </a:pPr>
                  <a:r>
                    <a:rPr lang="en-US" sz="1500" dirty="0">
                      <a:solidFill>
                        <a:schemeClr val="bg1"/>
                      </a:solidFill>
                      <a:latin typeface="Futura Std Medium" panose="020B0502020204020303" pitchFamily="34" charset="0"/>
                    </a:rPr>
                    <a:t>car</a:t>
                  </a:r>
                </a:p>
              </p:txBody>
            </p:sp>
          </p:grpSp>
          <p:sp>
            <p:nvSpPr>
              <p:cNvPr id="57" name="Right Arrow 56"/>
              <p:cNvSpPr/>
              <p:nvPr/>
            </p:nvSpPr>
            <p:spPr>
              <a:xfrm rot="5400000">
                <a:off x="5384562" y="1556836"/>
                <a:ext cx="336291" cy="492706"/>
              </a:xfrm>
              <a:prstGeom prs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grpSp>
        <p:sp>
          <p:nvSpPr>
            <p:cNvPr id="26" name="Freeform 44">
              <a:extLst>
                <a:ext uri="{FF2B5EF4-FFF2-40B4-BE49-F238E27FC236}">
                  <a16:creationId xmlns:a16="http://schemas.microsoft.com/office/drawing/2014/main" id="{FC2DE5B5-2933-4169-9484-FB6FD8E9B048}"/>
                </a:ext>
              </a:extLst>
            </p:cNvPr>
            <p:cNvSpPr/>
            <p:nvPr/>
          </p:nvSpPr>
          <p:spPr>
            <a:xfrm>
              <a:off x="7377518" y="3630734"/>
              <a:ext cx="950049" cy="950049"/>
            </a:xfrm>
            <a:custGeom>
              <a:avLst/>
              <a:gdLst>
                <a:gd name="connsiteX0" fmla="*/ 0 w 745529"/>
                <a:gd name="connsiteY0" fmla="*/ 372765 h 745529"/>
                <a:gd name="connsiteX1" fmla="*/ 372765 w 745529"/>
                <a:gd name="connsiteY1" fmla="*/ 0 h 745529"/>
                <a:gd name="connsiteX2" fmla="*/ 745530 w 745529"/>
                <a:gd name="connsiteY2" fmla="*/ 372765 h 745529"/>
                <a:gd name="connsiteX3" fmla="*/ 372765 w 745529"/>
                <a:gd name="connsiteY3" fmla="*/ 745530 h 745529"/>
                <a:gd name="connsiteX4" fmla="*/ 0 w 745529"/>
                <a:gd name="connsiteY4" fmla="*/ 372765 h 7455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5529" h="745529">
                  <a:moveTo>
                    <a:pt x="0" y="372765"/>
                  </a:moveTo>
                  <a:cubicBezTo>
                    <a:pt x="0" y="166893"/>
                    <a:pt x="166893" y="0"/>
                    <a:pt x="372765" y="0"/>
                  </a:cubicBezTo>
                  <a:cubicBezTo>
                    <a:pt x="578637" y="0"/>
                    <a:pt x="745530" y="166893"/>
                    <a:pt x="745530" y="372765"/>
                  </a:cubicBezTo>
                  <a:cubicBezTo>
                    <a:pt x="745530" y="578637"/>
                    <a:pt x="578637" y="745530"/>
                    <a:pt x="372765" y="745530"/>
                  </a:cubicBezTo>
                  <a:cubicBezTo>
                    <a:pt x="166893" y="745530"/>
                    <a:pt x="0" y="578637"/>
                    <a:pt x="0" y="372765"/>
                  </a:cubicBezTo>
                  <a:close/>
                </a:path>
              </a:pathLst>
            </a:custGeom>
          </p:spPr>
          <p:style>
            <a:lnRef idx="2">
              <a:schemeClr val="lt1">
                <a:hueOff val="0"/>
                <a:satOff val="0"/>
                <a:lumOff val="0"/>
                <a:alphaOff val="0"/>
              </a:schemeClr>
            </a:lnRef>
            <a:fillRef idx="1">
              <a:schemeClr val="accent2">
                <a:alpha val="50000"/>
                <a:hueOff val="0"/>
                <a:satOff val="0"/>
                <a:lumOff val="0"/>
                <a:alphaOff val="0"/>
              </a:schemeClr>
            </a:fillRef>
            <a:effectRef idx="0">
              <a:schemeClr val="accent2">
                <a:alpha val="50000"/>
                <a:hueOff val="0"/>
                <a:satOff val="0"/>
                <a:lumOff val="0"/>
                <a:alphaOff val="0"/>
              </a:schemeClr>
            </a:effectRef>
            <a:fontRef idx="minor">
              <a:schemeClr val="tx1"/>
            </a:fontRef>
          </p:style>
          <p:txBody>
            <a:bodyPr spcFirstLastPara="0" vert="horz" wrap="square" lIns="0" tIns="194250" rIns="0" bIns="194250" numCol="1" spcCol="1270" anchor="ctr" anchorCtr="0">
              <a:noAutofit/>
            </a:bodyPr>
            <a:lstStyle/>
            <a:p>
              <a:pPr algn="ctr" defTabSz="1066857">
                <a:lnSpc>
                  <a:spcPct val="90000"/>
                </a:lnSpc>
                <a:spcBef>
                  <a:spcPct val="0"/>
                </a:spcBef>
                <a:spcAft>
                  <a:spcPct val="35000"/>
                </a:spcAft>
              </a:pPr>
              <a:r>
                <a:rPr lang="en-US" sz="1500" dirty="0">
                  <a:solidFill>
                    <a:schemeClr val="bg1"/>
                  </a:solidFill>
                  <a:latin typeface="Futura Std Medium" panose="020B0502020204020303" pitchFamily="34" charset="0"/>
                </a:rPr>
                <a:t>e-scooter</a:t>
              </a:r>
            </a:p>
          </p:txBody>
        </p:sp>
      </p:grpSp>
      <p:sp>
        <p:nvSpPr>
          <p:cNvPr id="27" name="Flowchart: Alternate Process 26">
            <a:extLst>
              <a:ext uri="{FF2B5EF4-FFF2-40B4-BE49-F238E27FC236}">
                <a16:creationId xmlns:a16="http://schemas.microsoft.com/office/drawing/2014/main" id="{89340FB7-6BD5-4B7A-805C-0A6E02603055}"/>
              </a:ext>
            </a:extLst>
          </p:cNvPr>
          <p:cNvSpPr/>
          <p:nvPr/>
        </p:nvSpPr>
        <p:spPr>
          <a:xfrm>
            <a:off x="1914803" y="4013820"/>
            <a:ext cx="2193713" cy="750789"/>
          </a:xfrm>
          <a:prstGeom prst="flowChartAlternateProcess">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n-US" sz="1350" dirty="0">
                <a:latin typeface="Futura Std Medium" panose="020B0502020204020303" pitchFamily="34" charset="0"/>
                <a:ea typeface="Tahoma" panose="020B0604030504040204" pitchFamily="34" charset="0"/>
                <a:cs typeface="Tahoma" panose="020B0604030504040204" pitchFamily="34" charset="0"/>
              </a:rPr>
              <a:t>E-Scooter Scenarios</a:t>
            </a:r>
          </a:p>
          <a:p>
            <a:pPr algn="ctr"/>
            <a:r>
              <a:rPr lang="en-US" sz="1200" dirty="0">
                <a:latin typeface="Futura Std Medium" panose="020B0502020204020303" pitchFamily="34" charset="0"/>
                <a:ea typeface="Tahoma" panose="020B0604030504040204" pitchFamily="34" charset="0"/>
                <a:cs typeface="Tahoma" panose="020B0604030504040204" pitchFamily="34" charset="0"/>
              </a:rPr>
              <a:t>(Chaddick)</a:t>
            </a:r>
          </a:p>
        </p:txBody>
      </p:sp>
      <p:sp>
        <p:nvSpPr>
          <p:cNvPr id="31" name="TextBox 30">
            <a:extLst>
              <a:ext uri="{FF2B5EF4-FFF2-40B4-BE49-F238E27FC236}">
                <a16:creationId xmlns:a16="http://schemas.microsoft.com/office/drawing/2014/main" id="{D892BF5C-F604-40D7-814A-62E44BB9D12D}"/>
              </a:ext>
            </a:extLst>
          </p:cNvPr>
          <p:cNvSpPr txBox="1"/>
          <p:nvPr/>
        </p:nvSpPr>
        <p:spPr>
          <a:xfrm>
            <a:off x="0" y="-1192"/>
            <a:ext cx="12191999" cy="584775"/>
          </a:xfrm>
          <a:prstGeom prst="rect">
            <a:avLst/>
          </a:prstGeom>
          <a:solidFill>
            <a:srgbClr val="404040"/>
          </a:solidFill>
        </p:spPr>
        <p:txBody>
          <a:bodyPr wrap="square" rtlCol="0">
            <a:spAutoFit/>
          </a:bodyPr>
          <a:lstStyle/>
          <a:p>
            <a:r>
              <a:rPr lang="en-US" sz="3200" dirty="0">
                <a:solidFill>
                  <a:schemeClr val="bg1"/>
                </a:solidFill>
                <a:latin typeface="Franklin Gothic Demi Cond" panose="020B0706030402020204" pitchFamily="34" charset="0"/>
              </a:rPr>
              <a:t>MULTI-MODAL TRANSPORTATION MODEL</a:t>
            </a:r>
          </a:p>
        </p:txBody>
      </p:sp>
    </p:spTree>
    <p:extLst>
      <p:ext uri="{BB962C8B-B14F-4D97-AF65-F5344CB8AC3E}">
        <p14:creationId xmlns:p14="http://schemas.microsoft.com/office/powerpoint/2010/main" val="1496793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F08FB46-CE4F-4725-A0EE-4DD36300F3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0592" y="194051"/>
            <a:ext cx="4754414" cy="6515100"/>
          </a:xfrm>
          <a:prstGeom prst="rect">
            <a:avLst/>
          </a:prstGeom>
        </p:spPr>
      </p:pic>
      <p:sp>
        <p:nvSpPr>
          <p:cNvPr id="118" name="TextBox 117">
            <a:extLst>
              <a:ext uri="{FF2B5EF4-FFF2-40B4-BE49-F238E27FC236}">
                <a16:creationId xmlns:a16="http://schemas.microsoft.com/office/drawing/2014/main" id="{144CC60E-EBCF-4087-A193-8274F4149247}"/>
              </a:ext>
            </a:extLst>
          </p:cNvPr>
          <p:cNvSpPr txBox="1"/>
          <p:nvPr/>
        </p:nvSpPr>
        <p:spPr>
          <a:xfrm>
            <a:off x="2653060" y="3180687"/>
            <a:ext cx="801823" cy="253916"/>
          </a:xfrm>
          <a:prstGeom prst="rect">
            <a:avLst/>
          </a:prstGeom>
          <a:noFill/>
        </p:spPr>
        <p:txBody>
          <a:bodyPr wrap="none" rtlCol="0">
            <a:spAutoFit/>
          </a:bodyPr>
          <a:lstStyle/>
          <a:p>
            <a:r>
              <a:rPr lang="en-US" sz="1050" b="1" dirty="0">
                <a:solidFill>
                  <a:schemeClr val="bg1"/>
                </a:solidFill>
                <a:effectLst>
                  <a:outerShdw blurRad="38100" dist="38100" dir="2700000" algn="tl">
                    <a:srgbClr val="000000">
                      <a:alpha val="43137"/>
                    </a:srgbClr>
                  </a:outerShdw>
                </a:effectLst>
              </a:rPr>
              <a:t>KENWOOD</a:t>
            </a:r>
          </a:p>
        </p:txBody>
      </p:sp>
      <p:sp>
        <p:nvSpPr>
          <p:cNvPr id="119" name="TextBox 118">
            <a:extLst>
              <a:ext uri="{FF2B5EF4-FFF2-40B4-BE49-F238E27FC236}">
                <a16:creationId xmlns:a16="http://schemas.microsoft.com/office/drawing/2014/main" id="{4D2E459D-745E-4C6C-8A2C-54DD0F4A7A5B}"/>
              </a:ext>
            </a:extLst>
          </p:cNvPr>
          <p:cNvSpPr txBox="1"/>
          <p:nvPr/>
        </p:nvSpPr>
        <p:spPr>
          <a:xfrm>
            <a:off x="2768803" y="4200470"/>
            <a:ext cx="824265" cy="253916"/>
          </a:xfrm>
          <a:prstGeom prst="rect">
            <a:avLst/>
          </a:prstGeom>
          <a:noFill/>
        </p:spPr>
        <p:txBody>
          <a:bodyPr wrap="none" rtlCol="0">
            <a:spAutoFit/>
          </a:bodyPr>
          <a:lstStyle/>
          <a:p>
            <a:r>
              <a:rPr lang="en-US" sz="1050" b="1" dirty="0">
                <a:solidFill>
                  <a:schemeClr val="bg1"/>
                </a:solidFill>
                <a:effectLst>
                  <a:outerShdw blurRad="38100" dist="38100" dir="2700000" algn="tl">
                    <a:srgbClr val="000000">
                      <a:alpha val="43137"/>
                    </a:srgbClr>
                  </a:outerShdw>
                </a:effectLst>
              </a:rPr>
              <a:t>HYDE PARK</a:t>
            </a:r>
          </a:p>
        </p:txBody>
      </p:sp>
      <p:sp>
        <p:nvSpPr>
          <p:cNvPr id="120" name="TextBox 119">
            <a:extLst>
              <a:ext uri="{FF2B5EF4-FFF2-40B4-BE49-F238E27FC236}">
                <a16:creationId xmlns:a16="http://schemas.microsoft.com/office/drawing/2014/main" id="{BB2666A2-5874-45B3-9766-B6C306E61983}"/>
              </a:ext>
            </a:extLst>
          </p:cNvPr>
          <p:cNvSpPr txBox="1"/>
          <p:nvPr/>
        </p:nvSpPr>
        <p:spPr>
          <a:xfrm>
            <a:off x="2867584" y="5525937"/>
            <a:ext cx="923651" cy="253916"/>
          </a:xfrm>
          <a:prstGeom prst="rect">
            <a:avLst/>
          </a:prstGeom>
          <a:noFill/>
        </p:spPr>
        <p:txBody>
          <a:bodyPr wrap="none" rtlCol="0">
            <a:spAutoFit/>
          </a:bodyPr>
          <a:lstStyle/>
          <a:p>
            <a:r>
              <a:rPr lang="en-US" sz="1050" b="1" dirty="0">
                <a:solidFill>
                  <a:schemeClr val="bg1"/>
                </a:solidFill>
                <a:effectLst>
                  <a:outerShdw blurRad="38100" dist="38100" dir="2700000" algn="tl">
                    <a:srgbClr val="000000">
                      <a:alpha val="43137"/>
                    </a:srgbClr>
                  </a:outerShdw>
                </a:effectLst>
              </a:rPr>
              <a:t>WOODLAWN</a:t>
            </a:r>
          </a:p>
        </p:txBody>
      </p:sp>
      <p:sp>
        <p:nvSpPr>
          <p:cNvPr id="121" name="TextBox 120">
            <a:extLst>
              <a:ext uri="{FF2B5EF4-FFF2-40B4-BE49-F238E27FC236}">
                <a16:creationId xmlns:a16="http://schemas.microsoft.com/office/drawing/2014/main" id="{CCB50331-B4D3-436C-82BF-27B98E2003FB}"/>
              </a:ext>
            </a:extLst>
          </p:cNvPr>
          <p:cNvSpPr txBox="1"/>
          <p:nvPr/>
        </p:nvSpPr>
        <p:spPr>
          <a:xfrm>
            <a:off x="1018506" y="4129281"/>
            <a:ext cx="994182" cy="415498"/>
          </a:xfrm>
          <a:prstGeom prst="rect">
            <a:avLst/>
          </a:prstGeom>
          <a:noFill/>
        </p:spPr>
        <p:txBody>
          <a:bodyPr wrap="none" rtlCol="0">
            <a:spAutoFit/>
          </a:bodyPr>
          <a:lstStyle/>
          <a:p>
            <a:pPr algn="ctr"/>
            <a:r>
              <a:rPr lang="en-US" sz="1050" b="1" dirty="0">
                <a:solidFill>
                  <a:schemeClr val="bg1"/>
                </a:solidFill>
                <a:effectLst>
                  <a:outerShdw blurRad="38100" dist="38100" dir="2700000" algn="tl">
                    <a:srgbClr val="000000">
                      <a:alpha val="43137"/>
                    </a:srgbClr>
                  </a:outerShdw>
                </a:effectLst>
              </a:rPr>
              <a:t>WASHINGTON</a:t>
            </a:r>
          </a:p>
          <a:p>
            <a:pPr algn="ctr"/>
            <a:r>
              <a:rPr lang="en-US" sz="1050" b="1" dirty="0">
                <a:solidFill>
                  <a:schemeClr val="bg1"/>
                </a:solidFill>
                <a:effectLst>
                  <a:outerShdw blurRad="38100" dist="38100" dir="2700000" algn="tl">
                    <a:srgbClr val="000000">
                      <a:alpha val="43137"/>
                    </a:srgbClr>
                  </a:outerShdw>
                </a:effectLst>
              </a:rPr>
              <a:t>PARK</a:t>
            </a:r>
          </a:p>
        </p:txBody>
      </p:sp>
      <p:sp>
        <p:nvSpPr>
          <p:cNvPr id="122" name="TextBox 121">
            <a:extLst>
              <a:ext uri="{FF2B5EF4-FFF2-40B4-BE49-F238E27FC236}">
                <a16:creationId xmlns:a16="http://schemas.microsoft.com/office/drawing/2014/main" id="{9C44C87A-96B6-414A-9ECB-A3B1BD1676E1}"/>
              </a:ext>
            </a:extLst>
          </p:cNvPr>
          <p:cNvSpPr txBox="1"/>
          <p:nvPr/>
        </p:nvSpPr>
        <p:spPr>
          <a:xfrm>
            <a:off x="1103281" y="3011348"/>
            <a:ext cx="885179" cy="415498"/>
          </a:xfrm>
          <a:prstGeom prst="rect">
            <a:avLst/>
          </a:prstGeom>
          <a:noFill/>
        </p:spPr>
        <p:txBody>
          <a:bodyPr wrap="none" rtlCol="0">
            <a:spAutoFit/>
          </a:bodyPr>
          <a:lstStyle/>
          <a:p>
            <a:pPr algn="ctr"/>
            <a:r>
              <a:rPr lang="en-US" sz="1050" b="1" dirty="0">
                <a:solidFill>
                  <a:schemeClr val="bg1"/>
                </a:solidFill>
                <a:effectLst>
                  <a:outerShdw blurRad="38100" dist="38100" dir="2700000" algn="tl">
                    <a:srgbClr val="000000">
                      <a:alpha val="43137"/>
                    </a:srgbClr>
                  </a:outerShdw>
                </a:effectLst>
              </a:rPr>
              <a:t>GRAND</a:t>
            </a:r>
          </a:p>
          <a:p>
            <a:pPr algn="ctr"/>
            <a:r>
              <a:rPr lang="en-US" sz="1050" b="1" dirty="0">
                <a:solidFill>
                  <a:schemeClr val="bg1"/>
                </a:solidFill>
                <a:effectLst>
                  <a:outerShdw blurRad="38100" dist="38100" dir="2700000" algn="tl">
                    <a:srgbClr val="000000">
                      <a:alpha val="43137"/>
                    </a:srgbClr>
                  </a:outerShdw>
                </a:effectLst>
              </a:rPr>
              <a:t>BOULEVARD</a:t>
            </a:r>
          </a:p>
        </p:txBody>
      </p:sp>
      <p:sp>
        <p:nvSpPr>
          <p:cNvPr id="123" name="TextBox 122">
            <a:extLst>
              <a:ext uri="{FF2B5EF4-FFF2-40B4-BE49-F238E27FC236}">
                <a16:creationId xmlns:a16="http://schemas.microsoft.com/office/drawing/2014/main" id="{D4DA06C8-C2EB-405D-A8FD-E4297E72A710}"/>
              </a:ext>
            </a:extLst>
          </p:cNvPr>
          <p:cNvSpPr txBox="1"/>
          <p:nvPr/>
        </p:nvSpPr>
        <p:spPr>
          <a:xfrm>
            <a:off x="264452" y="3070310"/>
            <a:ext cx="591829" cy="415498"/>
          </a:xfrm>
          <a:prstGeom prst="rect">
            <a:avLst/>
          </a:prstGeom>
          <a:noFill/>
        </p:spPr>
        <p:txBody>
          <a:bodyPr wrap="none" rtlCol="0">
            <a:spAutoFit/>
          </a:bodyPr>
          <a:lstStyle/>
          <a:p>
            <a:pPr algn="ctr"/>
            <a:r>
              <a:rPr lang="en-US" sz="1050" b="1" dirty="0">
                <a:solidFill>
                  <a:schemeClr val="bg1"/>
                </a:solidFill>
                <a:effectLst>
                  <a:outerShdw blurRad="38100" dist="38100" dir="2700000" algn="tl">
                    <a:srgbClr val="000000">
                      <a:alpha val="43137"/>
                    </a:srgbClr>
                  </a:outerShdw>
                </a:effectLst>
              </a:rPr>
              <a:t>FULLER</a:t>
            </a:r>
          </a:p>
          <a:p>
            <a:pPr algn="ctr"/>
            <a:r>
              <a:rPr lang="en-US" sz="1050" b="1" dirty="0">
                <a:solidFill>
                  <a:schemeClr val="bg1"/>
                </a:solidFill>
                <a:effectLst>
                  <a:outerShdw blurRad="38100" dist="38100" dir="2700000" algn="tl">
                    <a:srgbClr val="000000">
                      <a:alpha val="43137"/>
                    </a:srgbClr>
                  </a:outerShdw>
                </a:effectLst>
              </a:rPr>
              <a:t>PARK</a:t>
            </a:r>
          </a:p>
        </p:txBody>
      </p:sp>
      <p:sp>
        <p:nvSpPr>
          <p:cNvPr id="124" name="TextBox 123">
            <a:extLst>
              <a:ext uri="{FF2B5EF4-FFF2-40B4-BE49-F238E27FC236}">
                <a16:creationId xmlns:a16="http://schemas.microsoft.com/office/drawing/2014/main" id="{ED8E914E-176F-4C30-874E-DD1C3E43FDA1}"/>
              </a:ext>
            </a:extLst>
          </p:cNvPr>
          <p:cNvSpPr txBox="1"/>
          <p:nvPr/>
        </p:nvSpPr>
        <p:spPr>
          <a:xfrm>
            <a:off x="2065180" y="1758786"/>
            <a:ext cx="744113" cy="253916"/>
          </a:xfrm>
          <a:prstGeom prst="rect">
            <a:avLst/>
          </a:prstGeom>
          <a:noFill/>
        </p:spPr>
        <p:txBody>
          <a:bodyPr wrap="none" rtlCol="0">
            <a:spAutoFit/>
          </a:bodyPr>
          <a:lstStyle/>
          <a:p>
            <a:pPr algn="ctr"/>
            <a:r>
              <a:rPr lang="en-US" sz="1050" b="1" dirty="0">
                <a:solidFill>
                  <a:schemeClr val="bg1"/>
                </a:solidFill>
                <a:effectLst>
                  <a:outerShdw blurRad="38100" dist="38100" dir="2700000" algn="tl">
                    <a:srgbClr val="000000">
                      <a:alpha val="43137"/>
                    </a:srgbClr>
                  </a:outerShdw>
                </a:effectLst>
              </a:rPr>
              <a:t>OAKLAND</a:t>
            </a:r>
          </a:p>
        </p:txBody>
      </p:sp>
      <p:sp>
        <p:nvSpPr>
          <p:cNvPr id="125" name="TextBox 124">
            <a:extLst>
              <a:ext uri="{FF2B5EF4-FFF2-40B4-BE49-F238E27FC236}">
                <a16:creationId xmlns:a16="http://schemas.microsoft.com/office/drawing/2014/main" id="{99C81B4A-7AAA-42F4-937A-F44386EE6728}"/>
              </a:ext>
            </a:extLst>
          </p:cNvPr>
          <p:cNvSpPr txBox="1"/>
          <p:nvPr/>
        </p:nvSpPr>
        <p:spPr>
          <a:xfrm>
            <a:off x="1151574" y="534218"/>
            <a:ext cx="739305" cy="253916"/>
          </a:xfrm>
          <a:prstGeom prst="rect">
            <a:avLst/>
          </a:prstGeom>
          <a:noFill/>
        </p:spPr>
        <p:txBody>
          <a:bodyPr wrap="none" rtlCol="0">
            <a:spAutoFit/>
          </a:bodyPr>
          <a:lstStyle/>
          <a:p>
            <a:pPr algn="ctr"/>
            <a:r>
              <a:rPr lang="en-US" sz="1050" b="1" dirty="0">
                <a:solidFill>
                  <a:schemeClr val="bg1"/>
                </a:solidFill>
                <a:effectLst>
                  <a:outerShdw blurRad="38100" dist="38100" dir="2700000" algn="tl">
                    <a:srgbClr val="000000">
                      <a:alpha val="43137"/>
                    </a:srgbClr>
                  </a:outerShdw>
                </a:effectLst>
              </a:rPr>
              <a:t>DOUGLAS</a:t>
            </a:r>
          </a:p>
        </p:txBody>
      </p:sp>
      <p:grpSp>
        <p:nvGrpSpPr>
          <p:cNvPr id="218" name="Group 217">
            <a:extLst>
              <a:ext uri="{FF2B5EF4-FFF2-40B4-BE49-F238E27FC236}">
                <a16:creationId xmlns:a16="http://schemas.microsoft.com/office/drawing/2014/main" id="{65A49F7D-4E64-4D96-B505-2D0A17D4891B}"/>
              </a:ext>
            </a:extLst>
          </p:cNvPr>
          <p:cNvGrpSpPr/>
          <p:nvPr/>
        </p:nvGrpSpPr>
        <p:grpSpPr>
          <a:xfrm>
            <a:off x="1184957" y="341058"/>
            <a:ext cx="3645878" cy="4901916"/>
            <a:chOff x="789971" y="227372"/>
            <a:chExt cx="2430585" cy="3267944"/>
          </a:xfrm>
        </p:grpSpPr>
        <p:sp>
          <p:nvSpPr>
            <p:cNvPr id="6" name="Rounded Rectangle 5">
              <a:extLst>
                <a:ext uri="{FF2B5EF4-FFF2-40B4-BE49-F238E27FC236}">
                  <a16:creationId xmlns:a16="http://schemas.microsoft.com/office/drawing/2014/main" id="{8BDEFF85-01C5-4220-892C-8D9B01151295}"/>
                </a:ext>
              </a:extLst>
            </p:cNvPr>
            <p:cNvSpPr/>
            <p:nvPr/>
          </p:nvSpPr>
          <p:spPr>
            <a:xfrm>
              <a:off x="1721064" y="227372"/>
              <a:ext cx="1499492" cy="191079"/>
            </a:xfrm>
            <a:prstGeom prst="roundRect">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68580" rIns="68580" bIns="68580" numCol="1" spcCol="0" rtlCol="0" fromWordArt="0" anchor="ctr" anchorCtr="0" forceAA="0" compatLnSpc="1">
              <a:prstTxWarp prst="textNoShape">
                <a:avLst/>
              </a:prstTxWarp>
              <a:noAutofit/>
            </a:bodyPr>
            <a:lstStyle/>
            <a:p>
              <a:r>
                <a:rPr lang="en-US" sz="1200" b="1" dirty="0"/>
                <a:t>Start:</a:t>
              </a:r>
              <a:r>
                <a:rPr lang="en-US" sz="1200" dirty="0"/>
                <a:t> </a:t>
              </a:r>
              <a:r>
                <a:rPr lang="en-US" sz="1200" dirty="0">
                  <a:solidFill>
                    <a:schemeClr val="bg2">
                      <a:lumMod val="50000"/>
                    </a:schemeClr>
                  </a:solidFill>
                </a:rPr>
                <a:t>61st St &amp; Champlain Ave</a:t>
              </a:r>
            </a:p>
          </p:txBody>
        </p:sp>
        <p:sp>
          <p:nvSpPr>
            <p:cNvPr id="57" name="Rounded Rectangle 87">
              <a:extLst>
                <a:ext uri="{FF2B5EF4-FFF2-40B4-BE49-F238E27FC236}">
                  <a16:creationId xmlns:a16="http://schemas.microsoft.com/office/drawing/2014/main" id="{0D524BA1-7880-444E-85D2-70E81808AB48}"/>
                </a:ext>
              </a:extLst>
            </p:cNvPr>
            <p:cNvSpPr/>
            <p:nvPr/>
          </p:nvSpPr>
          <p:spPr>
            <a:xfrm>
              <a:off x="1721064" y="445184"/>
              <a:ext cx="1499492" cy="191079"/>
            </a:xfrm>
            <a:prstGeom prst="roundRect">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68580" rIns="68580" bIns="68580" numCol="1" spcCol="0" rtlCol="0" fromWordArt="0" anchor="ctr" anchorCtr="0" forceAA="0" compatLnSpc="1">
              <a:prstTxWarp prst="textNoShape">
                <a:avLst/>
              </a:prstTxWarp>
              <a:noAutofit/>
            </a:bodyPr>
            <a:lstStyle/>
            <a:p>
              <a:r>
                <a:rPr lang="en-US" sz="1200" b="1" dirty="0"/>
                <a:t>End: </a:t>
              </a:r>
              <a:r>
                <a:rPr lang="en-US" sz="1200" dirty="0">
                  <a:solidFill>
                    <a:schemeClr val="bg2">
                      <a:lumMod val="50000"/>
                    </a:schemeClr>
                  </a:solidFill>
                </a:rPr>
                <a:t>Lake Meadows Center</a:t>
              </a:r>
            </a:p>
          </p:txBody>
        </p:sp>
        <p:grpSp>
          <p:nvGrpSpPr>
            <p:cNvPr id="216" name="Group 215">
              <a:extLst>
                <a:ext uri="{FF2B5EF4-FFF2-40B4-BE49-F238E27FC236}">
                  <a16:creationId xmlns:a16="http://schemas.microsoft.com/office/drawing/2014/main" id="{F1E1FF95-35D8-4671-A887-B58B7AE9E1A0}"/>
                </a:ext>
              </a:extLst>
            </p:cNvPr>
            <p:cNvGrpSpPr/>
            <p:nvPr/>
          </p:nvGrpSpPr>
          <p:grpSpPr>
            <a:xfrm>
              <a:off x="789971" y="613302"/>
              <a:ext cx="582584" cy="2882014"/>
              <a:chOff x="789971" y="613302"/>
              <a:chExt cx="582584" cy="2882014"/>
            </a:xfrm>
          </p:grpSpPr>
          <p:pic>
            <p:nvPicPr>
              <p:cNvPr id="15" name="Picture 14">
                <a:extLst>
                  <a:ext uri="{FF2B5EF4-FFF2-40B4-BE49-F238E27FC236}">
                    <a16:creationId xmlns:a16="http://schemas.microsoft.com/office/drawing/2014/main" id="{A85B3AF2-4488-45B4-A3BB-100C0496FE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971" y="613302"/>
                <a:ext cx="383799" cy="326043"/>
              </a:xfrm>
              <a:prstGeom prst="rect">
                <a:avLst/>
              </a:prstGeom>
            </p:spPr>
          </p:pic>
          <p:pic>
            <p:nvPicPr>
              <p:cNvPr id="103" name="Picture 102">
                <a:extLst>
                  <a:ext uri="{FF2B5EF4-FFF2-40B4-BE49-F238E27FC236}">
                    <a16:creationId xmlns:a16="http://schemas.microsoft.com/office/drawing/2014/main" id="{406674E6-F498-4292-B44E-1E2402F4D8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8756" y="3169273"/>
                <a:ext cx="383799" cy="326043"/>
              </a:xfrm>
              <a:prstGeom prst="rect">
                <a:avLst/>
              </a:prstGeom>
            </p:spPr>
          </p:pic>
        </p:grpSp>
      </p:grpSp>
      <p:grpSp>
        <p:nvGrpSpPr>
          <p:cNvPr id="214" name="Group 213">
            <a:extLst>
              <a:ext uri="{FF2B5EF4-FFF2-40B4-BE49-F238E27FC236}">
                <a16:creationId xmlns:a16="http://schemas.microsoft.com/office/drawing/2014/main" id="{2451E38B-D944-4645-9770-3E7B4C75F4C5}"/>
              </a:ext>
            </a:extLst>
          </p:cNvPr>
          <p:cNvGrpSpPr/>
          <p:nvPr/>
        </p:nvGrpSpPr>
        <p:grpSpPr>
          <a:xfrm>
            <a:off x="1543082" y="1491505"/>
            <a:ext cx="480425" cy="3770480"/>
            <a:chOff x="1028721" y="994336"/>
            <a:chExt cx="320283" cy="2513653"/>
          </a:xfrm>
        </p:grpSpPr>
        <p:cxnSp>
          <p:nvCxnSpPr>
            <p:cNvPr id="104" name="Straight Connector 103">
              <a:extLst>
                <a:ext uri="{FF2B5EF4-FFF2-40B4-BE49-F238E27FC236}">
                  <a16:creationId xmlns:a16="http://schemas.microsoft.com/office/drawing/2014/main" id="{A5188690-6165-4538-AFFD-C587EC40418A}"/>
                </a:ext>
              </a:extLst>
            </p:cNvPr>
            <p:cNvCxnSpPr>
              <a:cxnSpLocks/>
              <a:endCxn id="158" idx="2"/>
            </p:cNvCxnSpPr>
            <p:nvPr/>
          </p:nvCxnSpPr>
          <p:spPr>
            <a:xfrm flipV="1">
              <a:off x="1070859" y="1014964"/>
              <a:ext cx="60368" cy="1159"/>
            </a:xfrm>
            <a:prstGeom prst="line">
              <a:avLst/>
            </a:prstGeom>
            <a:ln w="25400" cap="rnd">
              <a:solidFill>
                <a:srgbClr val="ED7D31"/>
              </a:solidFill>
            </a:ln>
          </p:spPr>
          <p:style>
            <a:lnRef idx="1">
              <a:schemeClr val="accent1"/>
            </a:lnRef>
            <a:fillRef idx="0">
              <a:schemeClr val="accent1"/>
            </a:fillRef>
            <a:effectRef idx="0">
              <a:schemeClr val="accent1"/>
            </a:effectRef>
            <a:fontRef idx="minor">
              <a:schemeClr val="tx1"/>
            </a:fontRef>
          </p:style>
        </p:cxnSp>
        <p:grpSp>
          <p:nvGrpSpPr>
            <p:cNvPr id="213" name="Group 212">
              <a:extLst>
                <a:ext uri="{FF2B5EF4-FFF2-40B4-BE49-F238E27FC236}">
                  <a16:creationId xmlns:a16="http://schemas.microsoft.com/office/drawing/2014/main" id="{CC364A87-5F9C-4480-B13F-D4C2336865F8}"/>
                </a:ext>
              </a:extLst>
            </p:cNvPr>
            <p:cNvGrpSpPr/>
            <p:nvPr/>
          </p:nvGrpSpPr>
          <p:grpSpPr>
            <a:xfrm>
              <a:off x="1028721" y="1014083"/>
              <a:ext cx="320283" cy="2493906"/>
              <a:chOff x="1028721" y="1014083"/>
              <a:chExt cx="320283" cy="2493906"/>
            </a:xfrm>
          </p:grpSpPr>
          <p:cxnSp>
            <p:nvCxnSpPr>
              <p:cNvPr id="101" name="Straight Connector 100">
                <a:extLst>
                  <a:ext uri="{FF2B5EF4-FFF2-40B4-BE49-F238E27FC236}">
                    <a16:creationId xmlns:a16="http://schemas.microsoft.com/office/drawing/2014/main" id="{B742659A-F64C-47F2-8804-B7CFA86BF244}"/>
                  </a:ext>
                </a:extLst>
              </p:cNvPr>
              <p:cNvCxnSpPr>
                <a:cxnSpLocks/>
              </p:cNvCxnSpPr>
              <p:nvPr/>
            </p:nvCxnSpPr>
            <p:spPr>
              <a:xfrm>
                <a:off x="1069087" y="3490811"/>
                <a:ext cx="279917" cy="0"/>
              </a:xfrm>
              <a:prstGeom prst="line">
                <a:avLst/>
              </a:prstGeom>
              <a:ln w="25400" cap="rnd">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8A32DBF5-F13F-4427-B428-3D8E0760803F}"/>
                  </a:ext>
                </a:extLst>
              </p:cNvPr>
              <p:cNvCxnSpPr>
                <a:cxnSpLocks/>
              </p:cNvCxnSpPr>
              <p:nvPr/>
            </p:nvCxnSpPr>
            <p:spPr>
              <a:xfrm>
                <a:off x="1069449" y="1014083"/>
                <a:ext cx="0" cy="2476098"/>
              </a:xfrm>
              <a:prstGeom prst="line">
                <a:avLst/>
              </a:prstGeom>
              <a:ln w="25400" cap="rnd">
                <a:solidFill>
                  <a:srgbClr val="00B0F0"/>
                </a:solidFill>
              </a:ln>
            </p:spPr>
            <p:style>
              <a:lnRef idx="1">
                <a:schemeClr val="accent1"/>
              </a:lnRef>
              <a:fillRef idx="0">
                <a:schemeClr val="accent1"/>
              </a:fillRef>
              <a:effectRef idx="0">
                <a:schemeClr val="accent1"/>
              </a:effectRef>
              <a:fontRef idx="minor">
                <a:schemeClr val="tx1"/>
              </a:fontRef>
            </p:style>
          </p:cxnSp>
          <p:sp>
            <p:nvSpPr>
              <p:cNvPr id="109" name="Oval 108">
                <a:extLst>
                  <a:ext uri="{FF2B5EF4-FFF2-40B4-BE49-F238E27FC236}">
                    <a16:creationId xmlns:a16="http://schemas.microsoft.com/office/drawing/2014/main" id="{86EB836F-4125-4802-AC46-F661053AF85F}"/>
                  </a:ext>
                </a:extLst>
              </p:cNvPr>
              <p:cNvSpPr/>
              <p:nvPr/>
            </p:nvSpPr>
            <p:spPr>
              <a:xfrm>
                <a:off x="1028721" y="1883697"/>
                <a:ext cx="85685" cy="76342"/>
              </a:xfrm>
              <a:prstGeom prst="ellipse">
                <a:avLst/>
              </a:prstGeom>
              <a:solidFill>
                <a:schemeClr val="bg1">
                  <a:lumMod val="7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D</a:t>
                </a:r>
              </a:p>
            </p:txBody>
          </p:sp>
          <p:sp>
            <p:nvSpPr>
              <p:cNvPr id="139" name="Rectangle 138">
                <a:extLst>
                  <a:ext uri="{FF2B5EF4-FFF2-40B4-BE49-F238E27FC236}">
                    <a16:creationId xmlns:a16="http://schemas.microsoft.com/office/drawing/2014/main" id="{E4D08AC3-550C-41B9-B138-2A037A934395}"/>
                  </a:ext>
                </a:extLst>
              </p:cNvPr>
              <p:cNvSpPr/>
              <p:nvPr/>
            </p:nvSpPr>
            <p:spPr>
              <a:xfrm>
                <a:off x="1048896" y="3469818"/>
                <a:ext cx="42843" cy="38171"/>
              </a:xfrm>
              <a:prstGeom prst="rect">
                <a:avLst/>
              </a:prstGeom>
              <a:ln w="3175">
                <a:solidFill>
                  <a:schemeClr val="bg1"/>
                </a:solidFill>
              </a:ln>
            </p:spPr>
            <p:style>
              <a:lnRef idx="1">
                <a:schemeClr val="dk1"/>
              </a:lnRef>
              <a:fillRef idx="3">
                <a:schemeClr val="dk1"/>
              </a:fillRef>
              <a:effectRef idx="2">
                <a:schemeClr val="dk1"/>
              </a:effectRef>
              <a:fontRef idx="minor">
                <a:schemeClr val="lt1"/>
              </a:fontRef>
            </p:style>
            <p:txBody>
              <a:bodyPr rtlCol="0" anchor="ctr"/>
              <a:lstStyle/>
              <a:p>
                <a:pPr algn="ctr"/>
                <a:r>
                  <a:rPr lang="en-US" sz="600" dirty="0"/>
                  <a:t>T</a:t>
                </a:r>
              </a:p>
            </p:txBody>
          </p:sp>
        </p:grpSp>
        <p:sp>
          <p:nvSpPr>
            <p:cNvPr id="140" name="Rectangle 139">
              <a:extLst>
                <a:ext uri="{FF2B5EF4-FFF2-40B4-BE49-F238E27FC236}">
                  <a16:creationId xmlns:a16="http://schemas.microsoft.com/office/drawing/2014/main" id="{30338557-9409-4944-9B26-8BF74CD1B40A}"/>
                </a:ext>
              </a:extLst>
            </p:cNvPr>
            <p:cNvSpPr/>
            <p:nvPr/>
          </p:nvSpPr>
          <p:spPr>
            <a:xfrm>
              <a:off x="1050294" y="994336"/>
              <a:ext cx="42843" cy="38171"/>
            </a:xfrm>
            <a:prstGeom prst="rect">
              <a:avLst/>
            </a:prstGeom>
            <a:ln w="3175">
              <a:solidFill>
                <a:schemeClr val="bg1"/>
              </a:solidFill>
            </a:ln>
          </p:spPr>
          <p:style>
            <a:lnRef idx="1">
              <a:schemeClr val="dk1"/>
            </a:lnRef>
            <a:fillRef idx="3">
              <a:schemeClr val="dk1"/>
            </a:fillRef>
            <a:effectRef idx="2">
              <a:schemeClr val="dk1"/>
            </a:effectRef>
            <a:fontRef idx="minor">
              <a:schemeClr val="lt1"/>
            </a:fontRef>
          </p:style>
          <p:txBody>
            <a:bodyPr rtlCol="0" anchor="ctr"/>
            <a:lstStyle/>
            <a:p>
              <a:pPr algn="ctr"/>
              <a:r>
                <a:rPr lang="en-US" sz="600" dirty="0"/>
                <a:t>T</a:t>
              </a:r>
            </a:p>
          </p:txBody>
        </p:sp>
      </p:grpSp>
      <p:grpSp>
        <p:nvGrpSpPr>
          <p:cNvPr id="219" name="Group 218">
            <a:extLst>
              <a:ext uri="{FF2B5EF4-FFF2-40B4-BE49-F238E27FC236}">
                <a16:creationId xmlns:a16="http://schemas.microsoft.com/office/drawing/2014/main" id="{0D1E31BE-6491-44AF-BF57-19375DCE1805}"/>
              </a:ext>
            </a:extLst>
          </p:cNvPr>
          <p:cNvGrpSpPr/>
          <p:nvPr/>
        </p:nvGrpSpPr>
        <p:grpSpPr>
          <a:xfrm>
            <a:off x="3180073" y="1127220"/>
            <a:ext cx="1764326" cy="1321146"/>
            <a:chOff x="2120048" y="751480"/>
            <a:chExt cx="1176217" cy="880764"/>
          </a:xfrm>
        </p:grpSpPr>
        <p:sp>
          <p:nvSpPr>
            <p:cNvPr id="126" name="Rounded Rectangle 62">
              <a:extLst>
                <a:ext uri="{FF2B5EF4-FFF2-40B4-BE49-F238E27FC236}">
                  <a16:creationId xmlns:a16="http://schemas.microsoft.com/office/drawing/2014/main" id="{827C2247-E21E-4845-BAC0-D643E50A4D90}"/>
                </a:ext>
              </a:extLst>
            </p:cNvPr>
            <p:cNvSpPr/>
            <p:nvPr/>
          </p:nvSpPr>
          <p:spPr>
            <a:xfrm>
              <a:off x="2120048" y="814257"/>
              <a:ext cx="268095" cy="103037"/>
            </a:xfrm>
            <a:prstGeom prst="roundRect">
              <a:avLst/>
            </a:prstGeom>
            <a:ln w="12700">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700"/>
            </a:p>
          </p:txBody>
        </p:sp>
        <p:sp>
          <p:nvSpPr>
            <p:cNvPr id="127" name="TextBox 126">
              <a:extLst>
                <a:ext uri="{FF2B5EF4-FFF2-40B4-BE49-F238E27FC236}">
                  <a16:creationId xmlns:a16="http://schemas.microsoft.com/office/drawing/2014/main" id="{20F86347-378D-42B1-A198-BECD71F2E3D9}"/>
                </a:ext>
              </a:extLst>
            </p:cNvPr>
            <p:cNvSpPr txBox="1"/>
            <p:nvPr/>
          </p:nvSpPr>
          <p:spPr>
            <a:xfrm>
              <a:off x="2346090" y="751480"/>
              <a:ext cx="342701" cy="192361"/>
            </a:xfrm>
            <a:prstGeom prst="rect">
              <a:avLst/>
            </a:prstGeom>
            <a:noFill/>
          </p:spPr>
          <p:txBody>
            <a:bodyPr wrap="none" rtlCol="0">
              <a:spAutoFit/>
            </a:bodyPr>
            <a:lstStyle/>
            <a:p>
              <a:r>
                <a:rPr lang="en-US" sz="1275" dirty="0"/>
                <a:t>Walk</a:t>
              </a:r>
            </a:p>
          </p:txBody>
        </p:sp>
        <p:sp>
          <p:nvSpPr>
            <p:cNvPr id="128" name="Rounded Rectangle 159">
              <a:extLst>
                <a:ext uri="{FF2B5EF4-FFF2-40B4-BE49-F238E27FC236}">
                  <a16:creationId xmlns:a16="http://schemas.microsoft.com/office/drawing/2014/main" id="{5811F032-5CB0-4675-AAC3-3B9A79D6AF4B}"/>
                </a:ext>
              </a:extLst>
            </p:cNvPr>
            <p:cNvSpPr/>
            <p:nvPr/>
          </p:nvSpPr>
          <p:spPr>
            <a:xfrm>
              <a:off x="2120048" y="949494"/>
              <a:ext cx="268095" cy="103037"/>
            </a:xfrm>
            <a:prstGeom prst="roundRect">
              <a:avLst/>
            </a:prstGeom>
            <a:solidFill>
              <a:schemeClr val="accent6">
                <a:lumMod val="75000"/>
              </a:schemeClr>
            </a:solidFill>
            <a:ln w="12700">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700"/>
            </a:p>
          </p:txBody>
        </p:sp>
        <p:sp>
          <p:nvSpPr>
            <p:cNvPr id="129" name="TextBox 128">
              <a:extLst>
                <a:ext uri="{FF2B5EF4-FFF2-40B4-BE49-F238E27FC236}">
                  <a16:creationId xmlns:a16="http://schemas.microsoft.com/office/drawing/2014/main" id="{E1570556-F417-4AB8-AC3B-7F44C798A67C}"/>
                </a:ext>
              </a:extLst>
            </p:cNvPr>
            <p:cNvSpPr txBox="1"/>
            <p:nvPr/>
          </p:nvSpPr>
          <p:spPr>
            <a:xfrm>
              <a:off x="2346090" y="886717"/>
              <a:ext cx="757045" cy="192361"/>
            </a:xfrm>
            <a:prstGeom prst="rect">
              <a:avLst/>
            </a:prstGeom>
            <a:noFill/>
          </p:spPr>
          <p:txBody>
            <a:bodyPr wrap="none" rtlCol="0">
              <a:spAutoFit/>
            </a:bodyPr>
            <a:lstStyle/>
            <a:p>
              <a:r>
                <a:rPr lang="en-US" sz="1275" dirty="0"/>
                <a:t>Private bicycle</a:t>
              </a:r>
            </a:p>
          </p:txBody>
        </p:sp>
        <p:sp>
          <p:nvSpPr>
            <p:cNvPr id="130" name="Rounded Rectangle 162">
              <a:extLst>
                <a:ext uri="{FF2B5EF4-FFF2-40B4-BE49-F238E27FC236}">
                  <a16:creationId xmlns:a16="http://schemas.microsoft.com/office/drawing/2014/main" id="{3CB850C1-0965-4D82-8B4B-C81409C2E0CD}"/>
                </a:ext>
              </a:extLst>
            </p:cNvPr>
            <p:cNvSpPr/>
            <p:nvPr/>
          </p:nvSpPr>
          <p:spPr>
            <a:xfrm>
              <a:off x="2120048" y="1084731"/>
              <a:ext cx="268095" cy="103037"/>
            </a:xfrm>
            <a:prstGeom prst="roundRect">
              <a:avLst/>
            </a:prstGeom>
            <a:solidFill>
              <a:srgbClr val="00B0F0"/>
            </a:solidFill>
            <a:ln w="12700">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700"/>
            </a:p>
          </p:txBody>
        </p:sp>
        <p:sp>
          <p:nvSpPr>
            <p:cNvPr id="131" name="TextBox 130">
              <a:extLst>
                <a:ext uri="{FF2B5EF4-FFF2-40B4-BE49-F238E27FC236}">
                  <a16:creationId xmlns:a16="http://schemas.microsoft.com/office/drawing/2014/main" id="{0D79622E-0C34-4642-96AF-354292AA52EB}"/>
                </a:ext>
              </a:extLst>
            </p:cNvPr>
            <p:cNvSpPr txBox="1"/>
            <p:nvPr/>
          </p:nvSpPr>
          <p:spPr>
            <a:xfrm>
              <a:off x="2346090" y="1021955"/>
              <a:ext cx="689419" cy="192361"/>
            </a:xfrm>
            <a:prstGeom prst="rect">
              <a:avLst/>
            </a:prstGeom>
            <a:noFill/>
          </p:spPr>
          <p:txBody>
            <a:bodyPr wrap="none" rtlCol="0">
              <a:spAutoFit/>
            </a:bodyPr>
            <a:lstStyle/>
            <a:p>
              <a:r>
                <a:rPr lang="en-US" sz="1275" dirty="0"/>
                <a:t>Divvy bicycle</a:t>
              </a:r>
            </a:p>
          </p:txBody>
        </p:sp>
        <p:sp>
          <p:nvSpPr>
            <p:cNvPr id="132" name="Rounded Rectangle 175">
              <a:extLst>
                <a:ext uri="{FF2B5EF4-FFF2-40B4-BE49-F238E27FC236}">
                  <a16:creationId xmlns:a16="http://schemas.microsoft.com/office/drawing/2014/main" id="{25720ADD-2502-42B1-A36A-9E42C962452E}"/>
                </a:ext>
              </a:extLst>
            </p:cNvPr>
            <p:cNvSpPr/>
            <p:nvPr/>
          </p:nvSpPr>
          <p:spPr>
            <a:xfrm>
              <a:off x="2120048" y="1219968"/>
              <a:ext cx="268095" cy="103037"/>
            </a:xfrm>
            <a:prstGeom prst="roundRect">
              <a:avLst/>
            </a:prstGeom>
            <a:solidFill>
              <a:schemeClr val="bg2">
                <a:lumMod val="75000"/>
              </a:schemeClr>
            </a:solidFill>
            <a:ln w="12700">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700"/>
            </a:p>
          </p:txBody>
        </p:sp>
        <p:sp>
          <p:nvSpPr>
            <p:cNvPr id="133" name="TextBox 132">
              <a:extLst>
                <a:ext uri="{FF2B5EF4-FFF2-40B4-BE49-F238E27FC236}">
                  <a16:creationId xmlns:a16="http://schemas.microsoft.com/office/drawing/2014/main" id="{C416E6A2-E709-4CC5-9FB0-25CD29A685D5}"/>
                </a:ext>
              </a:extLst>
            </p:cNvPr>
            <p:cNvSpPr txBox="1"/>
            <p:nvPr/>
          </p:nvSpPr>
          <p:spPr>
            <a:xfrm>
              <a:off x="2346090" y="1157192"/>
              <a:ext cx="950175" cy="192361"/>
            </a:xfrm>
            <a:prstGeom prst="rect">
              <a:avLst/>
            </a:prstGeom>
            <a:noFill/>
          </p:spPr>
          <p:txBody>
            <a:bodyPr wrap="none" rtlCol="0">
              <a:spAutoFit/>
            </a:bodyPr>
            <a:lstStyle/>
            <a:p>
              <a:r>
                <a:rPr lang="en-US" sz="1275" dirty="0"/>
                <a:t>Public transit (bus)</a:t>
              </a:r>
            </a:p>
          </p:txBody>
        </p:sp>
        <p:sp>
          <p:nvSpPr>
            <p:cNvPr id="134" name="Rounded Rectangle 177">
              <a:extLst>
                <a:ext uri="{FF2B5EF4-FFF2-40B4-BE49-F238E27FC236}">
                  <a16:creationId xmlns:a16="http://schemas.microsoft.com/office/drawing/2014/main" id="{2E264B7D-EB2C-4D5F-8D7E-21C8A49156E7}"/>
                </a:ext>
              </a:extLst>
            </p:cNvPr>
            <p:cNvSpPr/>
            <p:nvPr/>
          </p:nvSpPr>
          <p:spPr>
            <a:xfrm>
              <a:off x="2120048" y="1355206"/>
              <a:ext cx="268095" cy="103037"/>
            </a:xfrm>
            <a:prstGeom prst="roundRect">
              <a:avLst/>
            </a:prstGeom>
            <a:solidFill>
              <a:schemeClr val="accent1">
                <a:lumMod val="75000"/>
              </a:schemeClr>
            </a:solidFill>
            <a:ln w="12700">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700"/>
            </a:p>
          </p:txBody>
        </p:sp>
        <p:sp>
          <p:nvSpPr>
            <p:cNvPr id="135" name="TextBox 134">
              <a:extLst>
                <a:ext uri="{FF2B5EF4-FFF2-40B4-BE49-F238E27FC236}">
                  <a16:creationId xmlns:a16="http://schemas.microsoft.com/office/drawing/2014/main" id="{F52FEEA2-89AF-492F-8BB7-E5B3D8A28ABC}"/>
                </a:ext>
              </a:extLst>
            </p:cNvPr>
            <p:cNvSpPr txBox="1"/>
            <p:nvPr/>
          </p:nvSpPr>
          <p:spPr>
            <a:xfrm>
              <a:off x="2346090" y="1292430"/>
              <a:ext cx="825781" cy="192361"/>
            </a:xfrm>
            <a:prstGeom prst="rect">
              <a:avLst/>
            </a:prstGeom>
            <a:noFill/>
          </p:spPr>
          <p:txBody>
            <a:bodyPr wrap="none" rtlCol="0">
              <a:spAutoFit/>
            </a:bodyPr>
            <a:lstStyle/>
            <a:p>
              <a:r>
                <a:rPr lang="en-US" sz="1275" dirty="0"/>
                <a:t>E-scooter rental</a:t>
              </a:r>
            </a:p>
          </p:txBody>
        </p:sp>
        <p:sp>
          <p:nvSpPr>
            <p:cNvPr id="144" name="Rectangle 143">
              <a:extLst>
                <a:ext uri="{FF2B5EF4-FFF2-40B4-BE49-F238E27FC236}">
                  <a16:creationId xmlns:a16="http://schemas.microsoft.com/office/drawing/2014/main" id="{834F86D1-2D7F-487F-9BBF-A33EFC52484A}"/>
                </a:ext>
              </a:extLst>
            </p:cNvPr>
            <p:cNvSpPr/>
            <p:nvPr/>
          </p:nvSpPr>
          <p:spPr>
            <a:xfrm>
              <a:off x="2212921" y="1513477"/>
              <a:ext cx="85685" cy="76342"/>
            </a:xfrm>
            <a:prstGeom prst="rect">
              <a:avLst/>
            </a:prstGeom>
            <a:ln w="3175">
              <a:solidFill>
                <a:schemeClr val="bg1"/>
              </a:solidFill>
            </a:ln>
          </p:spPr>
          <p:style>
            <a:lnRef idx="1">
              <a:schemeClr val="dk1"/>
            </a:lnRef>
            <a:fillRef idx="3">
              <a:schemeClr val="dk1"/>
            </a:fillRef>
            <a:effectRef idx="2">
              <a:schemeClr val="dk1"/>
            </a:effectRef>
            <a:fontRef idx="minor">
              <a:schemeClr val="lt1"/>
            </a:fontRef>
          </p:style>
          <p:txBody>
            <a:bodyPr rtlCol="0" anchor="ctr"/>
            <a:lstStyle/>
            <a:p>
              <a:pPr algn="ctr"/>
              <a:r>
                <a:rPr lang="en-US" sz="600" dirty="0"/>
                <a:t>T</a:t>
              </a:r>
            </a:p>
          </p:txBody>
        </p:sp>
        <p:sp>
          <p:nvSpPr>
            <p:cNvPr id="145" name="TextBox 144">
              <a:extLst>
                <a:ext uri="{FF2B5EF4-FFF2-40B4-BE49-F238E27FC236}">
                  <a16:creationId xmlns:a16="http://schemas.microsoft.com/office/drawing/2014/main" id="{3AB7F990-4AD2-4A0C-8238-F46F185F42D4}"/>
                </a:ext>
              </a:extLst>
            </p:cNvPr>
            <p:cNvSpPr txBox="1"/>
            <p:nvPr/>
          </p:nvSpPr>
          <p:spPr>
            <a:xfrm>
              <a:off x="2415234" y="1439883"/>
              <a:ext cx="758327" cy="192361"/>
            </a:xfrm>
            <a:prstGeom prst="rect">
              <a:avLst/>
            </a:prstGeom>
            <a:noFill/>
          </p:spPr>
          <p:txBody>
            <a:bodyPr wrap="none" rtlCol="0">
              <a:spAutoFit/>
            </a:bodyPr>
            <a:lstStyle/>
            <a:p>
              <a:pPr algn="r"/>
              <a:r>
                <a:rPr lang="en-US" sz="1275" dirty="0"/>
                <a:t>Mode transfer</a:t>
              </a:r>
            </a:p>
          </p:txBody>
        </p:sp>
      </p:grpSp>
      <p:grpSp>
        <p:nvGrpSpPr>
          <p:cNvPr id="210" name="Group 209">
            <a:extLst>
              <a:ext uri="{FF2B5EF4-FFF2-40B4-BE49-F238E27FC236}">
                <a16:creationId xmlns:a16="http://schemas.microsoft.com/office/drawing/2014/main" id="{8BE048F9-D50E-4359-A600-783380565FBE}"/>
              </a:ext>
            </a:extLst>
          </p:cNvPr>
          <p:cNvGrpSpPr/>
          <p:nvPr/>
        </p:nvGrpSpPr>
        <p:grpSpPr>
          <a:xfrm>
            <a:off x="1696391" y="1614884"/>
            <a:ext cx="771104" cy="3656466"/>
            <a:chOff x="1130927" y="1076589"/>
            <a:chExt cx="514069" cy="2437644"/>
          </a:xfrm>
        </p:grpSpPr>
        <p:cxnSp>
          <p:nvCxnSpPr>
            <p:cNvPr id="87" name="Straight Connector 86">
              <a:extLst>
                <a:ext uri="{FF2B5EF4-FFF2-40B4-BE49-F238E27FC236}">
                  <a16:creationId xmlns:a16="http://schemas.microsoft.com/office/drawing/2014/main" id="{1353A7DD-3BCF-4740-8A6F-5D9A3FA998F2}"/>
                </a:ext>
              </a:extLst>
            </p:cNvPr>
            <p:cNvCxnSpPr>
              <a:cxnSpLocks/>
            </p:cNvCxnSpPr>
            <p:nvPr/>
          </p:nvCxnSpPr>
          <p:spPr>
            <a:xfrm>
              <a:off x="1286318" y="1099652"/>
              <a:ext cx="313389" cy="299266"/>
            </a:xfrm>
            <a:prstGeom prst="line">
              <a:avLst/>
            </a:prstGeom>
            <a:ln w="25400" cap="rnd">
              <a:solidFill>
                <a:srgbClr val="ED7D31"/>
              </a:solidFill>
            </a:ln>
          </p:spPr>
          <p:style>
            <a:lnRef idx="1">
              <a:schemeClr val="accent1"/>
            </a:lnRef>
            <a:fillRef idx="0">
              <a:schemeClr val="accent1"/>
            </a:fillRef>
            <a:effectRef idx="0">
              <a:schemeClr val="accent1"/>
            </a:effectRef>
            <a:fontRef idx="minor">
              <a:schemeClr val="tx1"/>
            </a:fontRef>
          </p:style>
        </p:cxnSp>
        <p:grpSp>
          <p:nvGrpSpPr>
            <p:cNvPr id="200" name="Group 199">
              <a:extLst>
                <a:ext uri="{FF2B5EF4-FFF2-40B4-BE49-F238E27FC236}">
                  <a16:creationId xmlns:a16="http://schemas.microsoft.com/office/drawing/2014/main" id="{66ADD6F5-3095-4E94-BB22-6AAA9917736E}"/>
                </a:ext>
              </a:extLst>
            </p:cNvPr>
            <p:cNvGrpSpPr/>
            <p:nvPr/>
          </p:nvGrpSpPr>
          <p:grpSpPr>
            <a:xfrm>
              <a:off x="1130927" y="1076589"/>
              <a:ext cx="514069" cy="2437644"/>
              <a:chOff x="1130927" y="1076589"/>
              <a:chExt cx="514069" cy="2437644"/>
            </a:xfrm>
          </p:grpSpPr>
          <p:cxnSp>
            <p:nvCxnSpPr>
              <p:cNvPr id="86" name="Straight Connector 85">
                <a:extLst>
                  <a:ext uri="{FF2B5EF4-FFF2-40B4-BE49-F238E27FC236}">
                    <a16:creationId xmlns:a16="http://schemas.microsoft.com/office/drawing/2014/main" id="{FEC28172-AFCC-4EF8-8603-BAFB2DD0CF8C}"/>
                  </a:ext>
                </a:extLst>
              </p:cNvPr>
              <p:cNvCxnSpPr>
                <a:cxnSpLocks/>
              </p:cNvCxnSpPr>
              <p:nvPr/>
            </p:nvCxnSpPr>
            <p:spPr>
              <a:xfrm>
                <a:off x="1599708" y="1405206"/>
                <a:ext cx="0" cy="2080540"/>
              </a:xfrm>
              <a:prstGeom prst="line">
                <a:avLst/>
              </a:prstGeom>
              <a:ln w="25400" cap="rnd">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78758543-CC46-4550-A6EB-1FDAC49FEEFB}"/>
                  </a:ext>
                </a:extLst>
              </p:cNvPr>
              <p:cNvCxnSpPr>
                <a:cxnSpLocks/>
              </p:cNvCxnSpPr>
              <p:nvPr/>
            </p:nvCxnSpPr>
            <p:spPr>
              <a:xfrm>
                <a:off x="1173769" y="1098326"/>
                <a:ext cx="115623" cy="0"/>
              </a:xfrm>
              <a:prstGeom prst="line">
                <a:avLst/>
              </a:prstGeom>
              <a:ln w="25400" cap="rnd">
                <a:solidFill>
                  <a:srgbClr val="ED7D31"/>
                </a:solidFill>
              </a:ln>
            </p:spPr>
            <p:style>
              <a:lnRef idx="1">
                <a:schemeClr val="accent1"/>
              </a:lnRef>
              <a:fillRef idx="0">
                <a:schemeClr val="accent1"/>
              </a:fillRef>
              <a:effectRef idx="0">
                <a:schemeClr val="accent1"/>
              </a:effectRef>
              <a:fontRef idx="minor">
                <a:schemeClr val="tx1"/>
              </a:fontRef>
            </p:style>
          </p:cxnSp>
          <p:sp>
            <p:nvSpPr>
              <p:cNvPr id="159" name="Oval 158">
                <a:extLst>
                  <a:ext uri="{FF2B5EF4-FFF2-40B4-BE49-F238E27FC236}">
                    <a16:creationId xmlns:a16="http://schemas.microsoft.com/office/drawing/2014/main" id="{60CD7EDB-AA56-4C60-976E-6652A5F07B1C}"/>
                  </a:ext>
                </a:extLst>
              </p:cNvPr>
              <p:cNvSpPr/>
              <p:nvPr/>
            </p:nvSpPr>
            <p:spPr>
              <a:xfrm>
                <a:off x="1130927" y="1076589"/>
                <a:ext cx="42843" cy="38171"/>
              </a:xfrm>
              <a:prstGeom prst="ellipse">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06" name="Oval 105">
                <a:extLst>
                  <a:ext uri="{FF2B5EF4-FFF2-40B4-BE49-F238E27FC236}">
                    <a16:creationId xmlns:a16="http://schemas.microsoft.com/office/drawing/2014/main" id="{F3BA3364-9CB1-4BFD-BDD5-0F0D2FC89D9D}"/>
                  </a:ext>
                </a:extLst>
              </p:cNvPr>
              <p:cNvSpPr/>
              <p:nvPr/>
            </p:nvSpPr>
            <p:spPr>
              <a:xfrm>
                <a:off x="1559311" y="1567041"/>
                <a:ext cx="85685" cy="76342"/>
              </a:xfrm>
              <a:prstGeom prst="ellipse">
                <a:avLst/>
              </a:prstGeom>
              <a:solidFill>
                <a:schemeClr val="bg1">
                  <a:lumMod val="7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A</a:t>
                </a:r>
              </a:p>
            </p:txBody>
          </p:sp>
          <p:cxnSp>
            <p:nvCxnSpPr>
              <p:cNvPr id="114" name="Straight Connector 113">
                <a:extLst>
                  <a:ext uri="{FF2B5EF4-FFF2-40B4-BE49-F238E27FC236}">
                    <a16:creationId xmlns:a16="http://schemas.microsoft.com/office/drawing/2014/main" id="{50819119-D472-45CB-B68C-3F9F01CB5554}"/>
                  </a:ext>
                </a:extLst>
              </p:cNvPr>
              <p:cNvCxnSpPr>
                <a:cxnSpLocks/>
              </p:cNvCxnSpPr>
              <p:nvPr/>
            </p:nvCxnSpPr>
            <p:spPr>
              <a:xfrm flipV="1">
                <a:off x="1354627" y="3490811"/>
                <a:ext cx="239919" cy="1"/>
              </a:xfrm>
              <a:prstGeom prst="line">
                <a:avLst/>
              </a:prstGeom>
              <a:ln w="25400" cap="rnd">
                <a:solidFill>
                  <a:srgbClr val="ED7D31"/>
                </a:solidFill>
              </a:ln>
            </p:spPr>
            <p:style>
              <a:lnRef idx="1">
                <a:schemeClr val="accent1"/>
              </a:lnRef>
              <a:fillRef idx="0">
                <a:schemeClr val="accent1"/>
              </a:fillRef>
              <a:effectRef idx="0">
                <a:schemeClr val="accent1"/>
              </a:effectRef>
              <a:fontRef idx="minor">
                <a:schemeClr val="tx1"/>
              </a:fontRef>
            </p:style>
          </p:cxnSp>
          <p:sp>
            <p:nvSpPr>
              <p:cNvPr id="150" name="Oval 149">
                <a:extLst>
                  <a:ext uri="{FF2B5EF4-FFF2-40B4-BE49-F238E27FC236}">
                    <a16:creationId xmlns:a16="http://schemas.microsoft.com/office/drawing/2014/main" id="{4E0B239C-41A8-403F-9193-531D3CC22E8E}"/>
                  </a:ext>
                </a:extLst>
              </p:cNvPr>
              <p:cNvSpPr/>
              <p:nvPr/>
            </p:nvSpPr>
            <p:spPr>
              <a:xfrm>
                <a:off x="1331579" y="3476062"/>
                <a:ext cx="42843" cy="38171"/>
              </a:xfrm>
              <a:prstGeom prst="ellipse">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grpSp>
      </p:grpSp>
      <p:grpSp>
        <p:nvGrpSpPr>
          <p:cNvPr id="211" name="Group 210">
            <a:extLst>
              <a:ext uri="{FF2B5EF4-FFF2-40B4-BE49-F238E27FC236}">
                <a16:creationId xmlns:a16="http://schemas.microsoft.com/office/drawing/2014/main" id="{0BEF2CE6-D479-4EC3-AF64-E5B8CEEA2C27}"/>
              </a:ext>
            </a:extLst>
          </p:cNvPr>
          <p:cNvGrpSpPr/>
          <p:nvPr/>
        </p:nvGrpSpPr>
        <p:grpSpPr>
          <a:xfrm>
            <a:off x="1696391" y="1553806"/>
            <a:ext cx="825186" cy="3778622"/>
            <a:chOff x="1130927" y="1035870"/>
            <a:chExt cx="550124" cy="2519081"/>
          </a:xfrm>
        </p:grpSpPr>
        <p:cxnSp>
          <p:nvCxnSpPr>
            <p:cNvPr id="90" name="Straight Connector 89">
              <a:extLst>
                <a:ext uri="{FF2B5EF4-FFF2-40B4-BE49-F238E27FC236}">
                  <a16:creationId xmlns:a16="http://schemas.microsoft.com/office/drawing/2014/main" id="{0F7AAD67-34EB-4AA8-9A7C-D5F37FFF89B7}"/>
                </a:ext>
              </a:extLst>
            </p:cNvPr>
            <p:cNvCxnSpPr>
              <a:cxnSpLocks/>
            </p:cNvCxnSpPr>
            <p:nvPr/>
          </p:nvCxnSpPr>
          <p:spPr>
            <a:xfrm>
              <a:off x="1288845" y="1058037"/>
              <a:ext cx="353350" cy="339439"/>
            </a:xfrm>
            <a:prstGeom prst="line">
              <a:avLst/>
            </a:prstGeom>
            <a:ln w="25400" cap="rnd">
              <a:solidFill>
                <a:srgbClr val="548235"/>
              </a:solidFill>
            </a:ln>
          </p:spPr>
          <p:style>
            <a:lnRef idx="1">
              <a:schemeClr val="accent1"/>
            </a:lnRef>
            <a:fillRef idx="0">
              <a:schemeClr val="accent1"/>
            </a:fillRef>
            <a:effectRef idx="0">
              <a:schemeClr val="accent1"/>
            </a:effectRef>
            <a:fontRef idx="minor">
              <a:schemeClr val="tx1"/>
            </a:fontRef>
          </p:style>
        </p:cxnSp>
        <p:grpSp>
          <p:nvGrpSpPr>
            <p:cNvPr id="202" name="Group 201">
              <a:extLst>
                <a:ext uri="{FF2B5EF4-FFF2-40B4-BE49-F238E27FC236}">
                  <a16:creationId xmlns:a16="http://schemas.microsoft.com/office/drawing/2014/main" id="{FF9AC635-2583-4B8A-94DD-F8296EABA41E}"/>
                </a:ext>
              </a:extLst>
            </p:cNvPr>
            <p:cNvGrpSpPr/>
            <p:nvPr/>
          </p:nvGrpSpPr>
          <p:grpSpPr>
            <a:xfrm>
              <a:off x="1130927" y="1035870"/>
              <a:ext cx="550124" cy="2519081"/>
              <a:chOff x="1130927" y="1035870"/>
              <a:chExt cx="550124" cy="2519081"/>
            </a:xfrm>
          </p:grpSpPr>
          <p:cxnSp>
            <p:nvCxnSpPr>
              <p:cNvPr id="89" name="Straight Connector 88">
                <a:extLst>
                  <a:ext uri="{FF2B5EF4-FFF2-40B4-BE49-F238E27FC236}">
                    <a16:creationId xmlns:a16="http://schemas.microsoft.com/office/drawing/2014/main" id="{DD9427A9-4521-4847-82BD-32558A36A026}"/>
                  </a:ext>
                </a:extLst>
              </p:cNvPr>
              <p:cNvCxnSpPr>
                <a:cxnSpLocks/>
              </p:cNvCxnSpPr>
              <p:nvPr/>
            </p:nvCxnSpPr>
            <p:spPr>
              <a:xfrm flipH="1">
                <a:off x="1639865" y="1404738"/>
                <a:ext cx="0" cy="2131128"/>
              </a:xfrm>
              <a:prstGeom prst="line">
                <a:avLst/>
              </a:prstGeom>
              <a:ln w="25400" cap="rnd">
                <a:solidFill>
                  <a:srgbClr val="548235"/>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B1883E18-6C37-41B6-BB70-302D5056E2BE}"/>
                  </a:ext>
                </a:extLst>
              </p:cNvPr>
              <p:cNvCxnSpPr>
                <a:cxnSpLocks/>
              </p:cNvCxnSpPr>
              <p:nvPr/>
            </p:nvCxnSpPr>
            <p:spPr>
              <a:xfrm>
                <a:off x="1174743" y="1059478"/>
                <a:ext cx="115623" cy="0"/>
              </a:xfrm>
              <a:prstGeom prst="line">
                <a:avLst/>
              </a:prstGeom>
              <a:ln w="25400" cap="rnd">
                <a:solidFill>
                  <a:srgbClr val="548235"/>
                </a:solidFill>
              </a:ln>
            </p:spPr>
            <p:style>
              <a:lnRef idx="1">
                <a:schemeClr val="accent1"/>
              </a:lnRef>
              <a:fillRef idx="0">
                <a:schemeClr val="accent1"/>
              </a:fillRef>
              <a:effectRef idx="0">
                <a:schemeClr val="accent1"/>
              </a:effectRef>
              <a:fontRef idx="minor">
                <a:schemeClr val="tx1"/>
              </a:fontRef>
            </p:style>
          </p:cxnSp>
          <p:sp>
            <p:nvSpPr>
              <p:cNvPr id="157" name="Oval 156">
                <a:extLst>
                  <a:ext uri="{FF2B5EF4-FFF2-40B4-BE49-F238E27FC236}">
                    <a16:creationId xmlns:a16="http://schemas.microsoft.com/office/drawing/2014/main" id="{7270EFC8-9EBA-46C2-A34B-12C35090F146}"/>
                  </a:ext>
                </a:extLst>
              </p:cNvPr>
              <p:cNvSpPr/>
              <p:nvPr/>
            </p:nvSpPr>
            <p:spPr>
              <a:xfrm>
                <a:off x="1130927" y="1035870"/>
                <a:ext cx="42843" cy="38171"/>
              </a:xfrm>
              <a:prstGeom prst="ellipse">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07" name="Oval 106">
                <a:extLst>
                  <a:ext uri="{FF2B5EF4-FFF2-40B4-BE49-F238E27FC236}">
                    <a16:creationId xmlns:a16="http://schemas.microsoft.com/office/drawing/2014/main" id="{B2A83AC7-C91E-473D-A808-C145575A8345}"/>
                  </a:ext>
                </a:extLst>
              </p:cNvPr>
              <p:cNvSpPr/>
              <p:nvPr/>
            </p:nvSpPr>
            <p:spPr>
              <a:xfrm>
                <a:off x="1595366" y="1672593"/>
                <a:ext cx="85685" cy="76342"/>
              </a:xfrm>
              <a:prstGeom prst="ellipse">
                <a:avLst/>
              </a:prstGeom>
              <a:solidFill>
                <a:schemeClr val="bg1">
                  <a:lumMod val="7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B</a:t>
                </a:r>
              </a:p>
            </p:txBody>
          </p:sp>
          <p:cxnSp>
            <p:nvCxnSpPr>
              <p:cNvPr id="113" name="Straight Connector 112">
                <a:extLst>
                  <a:ext uri="{FF2B5EF4-FFF2-40B4-BE49-F238E27FC236}">
                    <a16:creationId xmlns:a16="http://schemas.microsoft.com/office/drawing/2014/main" id="{E8268865-7F65-4D44-B395-A360429C45BA}"/>
                  </a:ext>
                </a:extLst>
              </p:cNvPr>
              <p:cNvCxnSpPr>
                <a:cxnSpLocks/>
              </p:cNvCxnSpPr>
              <p:nvPr/>
            </p:nvCxnSpPr>
            <p:spPr>
              <a:xfrm>
                <a:off x="1353653" y="3538142"/>
                <a:ext cx="279224" cy="0"/>
              </a:xfrm>
              <a:prstGeom prst="line">
                <a:avLst/>
              </a:prstGeom>
              <a:ln w="25400" cap="rnd">
                <a:solidFill>
                  <a:srgbClr val="548235"/>
                </a:solidFill>
              </a:ln>
            </p:spPr>
            <p:style>
              <a:lnRef idx="1">
                <a:schemeClr val="accent1"/>
              </a:lnRef>
              <a:fillRef idx="0">
                <a:schemeClr val="accent1"/>
              </a:fillRef>
              <a:effectRef idx="0">
                <a:schemeClr val="accent1"/>
              </a:effectRef>
              <a:fontRef idx="minor">
                <a:schemeClr val="tx1"/>
              </a:fontRef>
            </p:style>
          </p:cxnSp>
          <p:sp>
            <p:nvSpPr>
              <p:cNvPr id="151" name="Oval 150">
                <a:extLst>
                  <a:ext uri="{FF2B5EF4-FFF2-40B4-BE49-F238E27FC236}">
                    <a16:creationId xmlns:a16="http://schemas.microsoft.com/office/drawing/2014/main" id="{0A16854B-66A6-4E6A-9CD3-72BB9B4F0E5D}"/>
                  </a:ext>
                </a:extLst>
              </p:cNvPr>
              <p:cNvSpPr/>
              <p:nvPr/>
            </p:nvSpPr>
            <p:spPr>
              <a:xfrm>
                <a:off x="1331579" y="3516780"/>
                <a:ext cx="42843" cy="38171"/>
              </a:xfrm>
              <a:prstGeom prst="ellipse">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grpSp>
      </p:grpSp>
      <p:grpSp>
        <p:nvGrpSpPr>
          <p:cNvPr id="212" name="Group 211">
            <a:extLst>
              <a:ext uri="{FF2B5EF4-FFF2-40B4-BE49-F238E27FC236}">
                <a16:creationId xmlns:a16="http://schemas.microsoft.com/office/drawing/2014/main" id="{47BC4571-1C0C-4852-87B6-F11F91DE1573}"/>
              </a:ext>
            </a:extLst>
          </p:cNvPr>
          <p:cNvGrpSpPr/>
          <p:nvPr/>
        </p:nvGrpSpPr>
        <p:grpSpPr>
          <a:xfrm>
            <a:off x="1696841" y="1493162"/>
            <a:ext cx="889941" cy="3901433"/>
            <a:chOff x="1131227" y="995441"/>
            <a:chExt cx="593294" cy="2600955"/>
          </a:xfrm>
        </p:grpSpPr>
        <p:cxnSp>
          <p:nvCxnSpPr>
            <p:cNvPr id="96" name="Straight Connector 95">
              <a:extLst>
                <a:ext uri="{FF2B5EF4-FFF2-40B4-BE49-F238E27FC236}">
                  <a16:creationId xmlns:a16="http://schemas.microsoft.com/office/drawing/2014/main" id="{82DEBE87-9BDF-4666-AE8F-521D0DB99578}"/>
                </a:ext>
              </a:extLst>
            </p:cNvPr>
            <p:cNvCxnSpPr>
              <a:cxnSpLocks/>
            </p:cNvCxnSpPr>
            <p:nvPr/>
          </p:nvCxnSpPr>
          <p:spPr>
            <a:xfrm>
              <a:off x="1286318" y="1014083"/>
              <a:ext cx="397412" cy="374979"/>
            </a:xfrm>
            <a:prstGeom prst="line">
              <a:avLst/>
            </a:prstGeom>
            <a:ln w="25400" cap="rnd">
              <a:solidFill>
                <a:srgbClr val="AFABAB"/>
              </a:solidFill>
            </a:ln>
          </p:spPr>
          <p:style>
            <a:lnRef idx="1">
              <a:schemeClr val="accent1"/>
            </a:lnRef>
            <a:fillRef idx="0">
              <a:schemeClr val="accent1"/>
            </a:fillRef>
            <a:effectRef idx="0">
              <a:schemeClr val="accent1"/>
            </a:effectRef>
            <a:fontRef idx="minor">
              <a:schemeClr val="tx1"/>
            </a:fontRef>
          </p:style>
        </p:cxnSp>
        <p:grpSp>
          <p:nvGrpSpPr>
            <p:cNvPr id="203" name="Group 202">
              <a:extLst>
                <a:ext uri="{FF2B5EF4-FFF2-40B4-BE49-F238E27FC236}">
                  <a16:creationId xmlns:a16="http://schemas.microsoft.com/office/drawing/2014/main" id="{B9BFC90F-37D8-4243-AAC6-FBB321CA6E22}"/>
                </a:ext>
              </a:extLst>
            </p:cNvPr>
            <p:cNvGrpSpPr/>
            <p:nvPr/>
          </p:nvGrpSpPr>
          <p:grpSpPr>
            <a:xfrm>
              <a:off x="1131227" y="995441"/>
              <a:ext cx="593294" cy="2600955"/>
              <a:chOff x="1130927" y="994714"/>
              <a:chExt cx="593294" cy="2600955"/>
            </a:xfrm>
          </p:grpSpPr>
          <p:cxnSp>
            <p:nvCxnSpPr>
              <p:cNvPr id="92" name="Straight Connector 91">
                <a:extLst>
                  <a:ext uri="{FF2B5EF4-FFF2-40B4-BE49-F238E27FC236}">
                    <a16:creationId xmlns:a16="http://schemas.microsoft.com/office/drawing/2014/main" id="{D09FE94D-C7EA-4A20-BF0A-E6B0BB4643F7}"/>
                  </a:ext>
                </a:extLst>
              </p:cNvPr>
              <p:cNvCxnSpPr>
                <a:cxnSpLocks/>
              </p:cNvCxnSpPr>
              <p:nvPr/>
            </p:nvCxnSpPr>
            <p:spPr>
              <a:xfrm flipH="1">
                <a:off x="1680022" y="1388274"/>
                <a:ext cx="0" cy="2191012"/>
              </a:xfrm>
              <a:prstGeom prst="line">
                <a:avLst/>
              </a:prstGeom>
              <a:ln w="25400" cap="rnd">
                <a:solidFill>
                  <a:srgbClr val="AFABAB"/>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6EA16325-5760-4E49-B028-3ACC69733DF5}"/>
                  </a:ext>
                </a:extLst>
              </p:cNvPr>
              <p:cNvCxnSpPr>
                <a:cxnSpLocks/>
              </p:cNvCxnSpPr>
              <p:nvPr/>
            </p:nvCxnSpPr>
            <p:spPr>
              <a:xfrm>
                <a:off x="1152842" y="1014083"/>
                <a:ext cx="136003" cy="0"/>
              </a:xfrm>
              <a:prstGeom prst="line">
                <a:avLst/>
              </a:prstGeom>
              <a:ln w="25400" cap="rnd">
                <a:solidFill>
                  <a:srgbClr val="ED7D31"/>
                </a:solidFill>
              </a:ln>
            </p:spPr>
            <p:style>
              <a:lnRef idx="1">
                <a:schemeClr val="accent1"/>
              </a:lnRef>
              <a:fillRef idx="0">
                <a:schemeClr val="accent1"/>
              </a:fillRef>
              <a:effectRef idx="0">
                <a:schemeClr val="accent1"/>
              </a:effectRef>
              <a:fontRef idx="minor">
                <a:schemeClr val="tx1"/>
              </a:fontRef>
            </p:style>
          </p:cxnSp>
          <p:sp>
            <p:nvSpPr>
              <p:cNvPr id="158" name="Oval 157">
                <a:extLst>
                  <a:ext uri="{FF2B5EF4-FFF2-40B4-BE49-F238E27FC236}">
                    <a16:creationId xmlns:a16="http://schemas.microsoft.com/office/drawing/2014/main" id="{85E8A334-0DC9-4E1F-B933-B8E6166DCCB3}"/>
                  </a:ext>
                </a:extLst>
              </p:cNvPr>
              <p:cNvSpPr/>
              <p:nvPr/>
            </p:nvSpPr>
            <p:spPr>
              <a:xfrm>
                <a:off x="1130927" y="995152"/>
                <a:ext cx="42843" cy="38171"/>
              </a:xfrm>
              <a:prstGeom prst="ellipse">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08" name="Oval 107">
                <a:extLst>
                  <a:ext uri="{FF2B5EF4-FFF2-40B4-BE49-F238E27FC236}">
                    <a16:creationId xmlns:a16="http://schemas.microsoft.com/office/drawing/2014/main" id="{3EF0268E-1E88-43A8-9075-FCA293B60C3F}"/>
                  </a:ext>
                </a:extLst>
              </p:cNvPr>
              <p:cNvSpPr/>
              <p:nvPr/>
            </p:nvSpPr>
            <p:spPr>
              <a:xfrm>
                <a:off x="1638536" y="1778145"/>
                <a:ext cx="85685" cy="76342"/>
              </a:xfrm>
              <a:prstGeom prst="ellipse">
                <a:avLst/>
              </a:prstGeom>
              <a:solidFill>
                <a:schemeClr val="bg1">
                  <a:lumMod val="7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C</a:t>
                </a:r>
              </a:p>
            </p:txBody>
          </p:sp>
          <p:cxnSp>
            <p:nvCxnSpPr>
              <p:cNvPr id="115" name="Straight Connector 114">
                <a:extLst>
                  <a:ext uri="{FF2B5EF4-FFF2-40B4-BE49-F238E27FC236}">
                    <a16:creationId xmlns:a16="http://schemas.microsoft.com/office/drawing/2014/main" id="{084BDA3A-5163-493D-8D8C-9B3018DB8A8F}"/>
                  </a:ext>
                </a:extLst>
              </p:cNvPr>
              <p:cNvCxnSpPr>
                <a:cxnSpLocks/>
              </p:cNvCxnSpPr>
              <p:nvPr/>
            </p:nvCxnSpPr>
            <p:spPr>
              <a:xfrm>
                <a:off x="1355719" y="3580781"/>
                <a:ext cx="325604" cy="0"/>
              </a:xfrm>
              <a:prstGeom prst="line">
                <a:avLst/>
              </a:prstGeom>
              <a:ln w="25400">
                <a:solidFill>
                  <a:srgbClr val="ED7D31"/>
                </a:solidFill>
              </a:ln>
            </p:spPr>
            <p:style>
              <a:lnRef idx="1">
                <a:schemeClr val="accent1"/>
              </a:lnRef>
              <a:fillRef idx="0">
                <a:schemeClr val="accent1"/>
              </a:fillRef>
              <a:effectRef idx="0">
                <a:schemeClr val="accent1"/>
              </a:effectRef>
              <a:fontRef idx="minor">
                <a:schemeClr val="tx1"/>
              </a:fontRef>
            </p:style>
          </p:cxnSp>
          <p:sp>
            <p:nvSpPr>
              <p:cNvPr id="137" name="Rectangle 136">
                <a:extLst>
                  <a:ext uri="{FF2B5EF4-FFF2-40B4-BE49-F238E27FC236}">
                    <a16:creationId xmlns:a16="http://schemas.microsoft.com/office/drawing/2014/main" id="{2B685BC1-587C-47AE-8D99-58DB2093ED93}"/>
                  </a:ext>
                </a:extLst>
              </p:cNvPr>
              <p:cNvSpPr/>
              <p:nvPr/>
            </p:nvSpPr>
            <p:spPr>
              <a:xfrm>
                <a:off x="1650513" y="3555181"/>
                <a:ext cx="42843" cy="38171"/>
              </a:xfrm>
              <a:prstGeom prst="rect">
                <a:avLst/>
              </a:prstGeom>
              <a:ln w="3175">
                <a:solidFill>
                  <a:schemeClr val="bg1"/>
                </a:solidFill>
              </a:ln>
            </p:spPr>
            <p:style>
              <a:lnRef idx="1">
                <a:schemeClr val="dk1"/>
              </a:lnRef>
              <a:fillRef idx="3">
                <a:schemeClr val="dk1"/>
              </a:fillRef>
              <a:effectRef idx="2">
                <a:schemeClr val="dk1"/>
              </a:effectRef>
              <a:fontRef idx="minor">
                <a:schemeClr val="lt1"/>
              </a:fontRef>
            </p:style>
            <p:txBody>
              <a:bodyPr rtlCol="0" anchor="ctr"/>
              <a:lstStyle/>
              <a:p>
                <a:pPr algn="ctr"/>
                <a:r>
                  <a:rPr lang="en-US" sz="600" dirty="0"/>
                  <a:t>T</a:t>
                </a:r>
              </a:p>
            </p:txBody>
          </p:sp>
          <p:sp>
            <p:nvSpPr>
              <p:cNvPr id="143" name="Rectangle 142">
                <a:extLst>
                  <a:ext uri="{FF2B5EF4-FFF2-40B4-BE49-F238E27FC236}">
                    <a16:creationId xmlns:a16="http://schemas.microsoft.com/office/drawing/2014/main" id="{F24523A5-7CE9-4803-B772-CC905BF79A7F}"/>
                  </a:ext>
                </a:extLst>
              </p:cNvPr>
              <p:cNvSpPr/>
              <p:nvPr/>
            </p:nvSpPr>
            <p:spPr>
              <a:xfrm>
                <a:off x="1261754" y="994714"/>
                <a:ext cx="42843" cy="38171"/>
              </a:xfrm>
              <a:prstGeom prst="rect">
                <a:avLst/>
              </a:prstGeom>
              <a:ln w="3175">
                <a:solidFill>
                  <a:schemeClr val="bg1"/>
                </a:solidFill>
              </a:ln>
            </p:spPr>
            <p:style>
              <a:lnRef idx="1">
                <a:schemeClr val="dk1"/>
              </a:lnRef>
              <a:fillRef idx="3">
                <a:schemeClr val="dk1"/>
              </a:fillRef>
              <a:effectRef idx="2">
                <a:schemeClr val="dk1"/>
              </a:effectRef>
              <a:fontRef idx="minor">
                <a:schemeClr val="lt1"/>
              </a:fontRef>
            </p:style>
            <p:txBody>
              <a:bodyPr rtlCol="0" anchor="ctr"/>
              <a:lstStyle/>
              <a:p>
                <a:pPr algn="ctr"/>
                <a:r>
                  <a:rPr lang="en-US" sz="600" dirty="0"/>
                  <a:t>T</a:t>
                </a:r>
              </a:p>
            </p:txBody>
          </p:sp>
          <p:sp>
            <p:nvSpPr>
              <p:cNvPr id="153" name="Oval 152">
                <a:extLst>
                  <a:ext uri="{FF2B5EF4-FFF2-40B4-BE49-F238E27FC236}">
                    <a16:creationId xmlns:a16="http://schemas.microsoft.com/office/drawing/2014/main" id="{76CDAA12-C5EB-4761-9852-38430F307245}"/>
                  </a:ext>
                </a:extLst>
              </p:cNvPr>
              <p:cNvSpPr/>
              <p:nvPr/>
            </p:nvSpPr>
            <p:spPr>
              <a:xfrm>
                <a:off x="1331579" y="3557498"/>
                <a:ext cx="42843" cy="38171"/>
              </a:xfrm>
              <a:prstGeom prst="ellipse">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grpSp>
      </p:grpSp>
      <p:grpSp>
        <p:nvGrpSpPr>
          <p:cNvPr id="215" name="Group 214">
            <a:extLst>
              <a:ext uri="{FF2B5EF4-FFF2-40B4-BE49-F238E27FC236}">
                <a16:creationId xmlns:a16="http://schemas.microsoft.com/office/drawing/2014/main" id="{7AF7633E-6D76-4F06-B81E-4517AF778112}"/>
              </a:ext>
            </a:extLst>
          </p:cNvPr>
          <p:cNvGrpSpPr/>
          <p:nvPr/>
        </p:nvGrpSpPr>
        <p:grpSpPr>
          <a:xfrm>
            <a:off x="1696397" y="1362947"/>
            <a:ext cx="1012175" cy="4153913"/>
            <a:chOff x="1130927" y="908631"/>
            <a:chExt cx="674783" cy="2769275"/>
          </a:xfrm>
        </p:grpSpPr>
        <p:cxnSp>
          <p:nvCxnSpPr>
            <p:cNvPr id="94" name="Straight Connector 93">
              <a:extLst>
                <a:ext uri="{FF2B5EF4-FFF2-40B4-BE49-F238E27FC236}">
                  <a16:creationId xmlns:a16="http://schemas.microsoft.com/office/drawing/2014/main" id="{7E52331B-9C80-418F-A17E-F03226B8460C}"/>
                </a:ext>
              </a:extLst>
            </p:cNvPr>
            <p:cNvCxnSpPr>
              <a:cxnSpLocks/>
            </p:cNvCxnSpPr>
            <p:nvPr/>
          </p:nvCxnSpPr>
          <p:spPr>
            <a:xfrm>
              <a:off x="1762539" y="1364442"/>
              <a:ext cx="0" cy="2290257"/>
            </a:xfrm>
            <a:prstGeom prst="line">
              <a:avLst/>
            </a:prstGeom>
            <a:ln w="25400" cap="rnd">
              <a:solidFill>
                <a:srgbClr val="AFABAB"/>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8F1E345F-B359-42CA-8D30-288D431080E0}"/>
                </a:ext>
              </a:extLst>
            </p:cNvPr>
            <p:cNvCxnSpPr>
              <a:cxnSpLocks/>
            </p:cNvCxnSpPr>
            <p:nvPr/>
          </p:nvCxnSpPr>
          <p:spPr>
            <a:xfrm>
              <a:off x="1151406" y="932399"/>
              <a:ext cx="156957" cy="402"/>
            </a:xfrm>
            <a:prstGeom prst="line">
              <a:avLst/>
            </a:prstGeom>
            <a:ln w="25400" cap="rnd">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92DFCBC0-2D56-4F8F-A8AA-E8F246C0C55C}"/>
                </a:ext>
              </a:extLst>
            </p:cNvPr>
            <p:cNvCxnSpPr>
              <a:cxnSpLocks/>
            </p:cNvCxnSpPr>
            <p:nvPr/>
          </p:nvCxnSpPr>
          <p:spPr>
            <a:xfrm>
              <a:off x="1312745" y="934660"/>
              <a:ext cx="452197" cy="429701"/>
            </a:xfrm>
            <a:prstGeom prst="line">
              <a:avLst/>
            </a:prstGeom>
            <a:ln w="25400" cap="rnd">
              <a:solidFill>
                <a:srgbClr val="AFABAB"/>
              </a:solidFill>
            </a:ln>
          </p:spPr>
          <p:style>
            <a:lnRef idx="1">
              <a:schemeClr val="accent1"/>
            </a:lnRef>
            <a:fillRef idx="0">
              <a:schemeClr val="accent1"/>
            </a:fillRef>
            <a:effectRef idx="0">
              <a:schemeClr val="accent1"/>
            </a:effectRef>
            <a:fontRef idx="minor">
              <a:schemeClr val="tx1"/>
            </a:fontRef>
          </p:style>
        </p:cxnSp>
        <p:sp>
          <p:nvSpPr>
            <p:cNvPr id="155" name="Oval 154">
              <a:extLst>
                <a:ext uri="{FF2B5EF4-FFF2-40B4-BE49-F238E27FC236}">
                  <a16:creationId xmlns:a16="http://schemas.microsoft.com/office/drawing/2014/main" id="{5A5B2BEF-6D32-45A8-BBC9-851D6421242D}"/>
                </a:ext>
              </a:extLst>
            </p:cNvPr>
            <p:cNvSpPr/>
            <p:nvPr/>
          </p:nvSpPr>
          <p:spPr>
            <a:xfrm>
              <a:off x="1130927" y="913716"/>
              <a:ext cx="42843" cy="38171"/>
            </a:xfrm>
            <a:prstGeom prst="ellipse">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11" name="Oval 110">
              <a:extLst>
                <a:ext uri="{FF2B5EF4-FFF2-40B4-BE49-F238E27FC236}">
                  <a16:creationId xmlns:a16="http://schemas.microsoft.com/office/drawing/2014/main" id="{14713BC9-7D39-401E-862C-DFCCE2743057}"/>
                </a:ext>
              </a:extLst>
            </p:cNvPr>
            <p:cNvSpPr/>
            <p:nvPr/>
          </p:nvSpPr>
          <p:spPr>
            <a:xfrm>
              <a:off x="1720025" y="2094799"/>
              <a:ext cx="85685" cy="76342"/>
            </a:xfrm>
            <a:prstGeom prst="ellipse">
              <a:avLst/>
            </a:prstGeom>
            <a:solidFill>
              <a:schemeClr val="bg1">
                <a:lumMod val="7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F</a:t>
              </a:r>
            </a:p>
          </p:txBody>
        </p:sp>
        <p:cxnSp>
          <p:nvCxnSpPr>
            <p:cNvPr id="116" name="Straight Connector 115">
              <a:extLst>
                <a:ext uri="{FF2B5EF4-FFF2-40B4-BE49-F238E27FC236}">
                  <a16:creationId xmlns:a16="http://schemas.microsoft.com/office/drawing/2014/main" id="{32AB59D2-D744-418F-8C3B-D5218F3993CE}"/>
                </a:ext>
              </a:extLst>
            </p:cNvPr>
            <p:cNvCxnSpPr>
              <a:cxnSpLocks/>
            </p:cNvCxnSpPr>
            <p:nvPr/>
          </p:nvCxnSpPr>
          <p:spPr>
            <a:xfrm>
              <a:off x="1422330" y="3657489"/>
              <a:ext cx="342741" cy="0"/>
            </a:xfrm>
            <a:prstGeom prst="line">
              <a:avLst/>
            </a:prstGeom>
            <a:ln w="25400" cap="rnd">
              <a:solidFill>
                <a:srgbClr val="1E4C76"/>
              </a:solidFill>
            </a:ln>
          </p:spPr>
          <p:style>
            <a:lnRef idx="1">
              <a:schemeClr val="accent1"/>
            </a:lnRef>
            <a:fillRef idx="0">
              <a:schemeClr val="accent1"/>
            </a:fillRef>
            <a:effectRef idx="0">
              <a:schemeClr val="accent1"/>
            </a:effectRef>
            <a:fontRef idx="minor">
              <a:schemeClr val="tx1"/>
            </a:fontRef>
          </p:style>
        </p:cxnSp>
        <p:sp>
          <p:nvSpPr>
            <p:cNvPr id="136" name="Rectangle 135">
              <a:extLst>
                <a:ext uri="{FF2B5EF4-FFF2-40B4-BE49-F238E27FC236}">
                  <a16:creationId xmlns:a16="http://schemas.microsoft.com/office/drawing/2014/main" id="{0F591939-4080-481B-B69F-0867EEF2DEB9}"/>
                </a:ext>
              </a:extLst>
            </p:cNvPr>
            <p:cNvSpPr/>
            <p:nvPr/>
          </p:nvSpPr>
          <p:spPr>
            <a:xfrm>
              <a:off x="1741801" y="3634099"/>
              <a:ext cx="42843" cy="38171"/>
            </a:xfrm>
            <a:prstGeom prst="rect">
              <a:avLst/>
            </a:prstGeom>
            <a:ln w="3175">
              <a:solidFill>
                <a:schemeClr val="bg1"/>
              </a:solidFill>
            </a:ln>
          </p:spPr>
          <p:style>
            <a:lnRef idx="1">
              <a:schemeClr val="dk1"/>
            </a:lnRef>
            <a:fillRef idx="3">
              <a:schemeClr val="dk1"/>
            </a:fillRef>
            <a:effectRef idx="2">
              <a:schemeClr val="dk1"/>
            </a:effectRef>
            <a:fontRef idx="minor">
              <a:schemeClr val="lt1"/>
            </a:fontRef>
          </p:style>
          <p:txBody>
            <a:bodyPr rtlCol="0" anchor="ctr"/>
            <a:lstStyle/>
            <a:p>
              <a:pPr algn="ctr"/>
              <a:r>
                <a:rPr lang="en-US" sz="600" dirty="0"/>
                <a:t>T</a:t>
              </a:r>
            </a:p>
          </p:txBody>
        </p:sp>
        <p:sp>
          <p:nvSpPr>
            <p:cNvPr id="141" name="Rectangle 140">
              <a:extLst>
                <a:ext uri="{FF2B5EF4-FFF2-40B4-BE49-F238E27FC236}">
                  <a16:creationId xmlns:a16="http://schemas.microsoft.com/office/drawing/2014/main" id="{D6C4F021-182C-47D9-BD05-8B30E94C2457}"/>
                </a:ext>
              </a:extLst>
            </p:cNvPr>
            <p:cNvSpPr/>
            <p:nvPr/>
          </p:nvSpPr>
          <p:spPr>
            <a:xfrm>
              <a:off x="1284636" y="908631"/>
              <a:ext cx="42843" cy="38171"/>
            </a:xfrm>
            <a:prstGeom prst="rect">
              <a:avLst/>
            </a:prstGeom>
            <a:ln w="3175">
              <a:solidFill>
                <a:schemeClr val="bg1"/>
              </a:solidFill>
            </a:ln>
          </p:spPr>
          <p:style>
            <a:lnRef idx="1">
              <a:schemeClr val="dk1"/>
            </a:lnRef>
            <a:fillRef idx="3">
              <a:schemeClr val="dk1"/>
            </a:fillRef>
            <a:effectRef idx="2">
              <a:schemeClr val="dk1"/>
            </a:effectRef>
            <a:fontRef idx="minor">
              <a:schemeClr val="lt1"/>
            </a:fontRef>
          </p:style>
          <p:txBody>
            <a:bodyPr rtlCol="0" anchor="ctr"/>
            <a:lstStyle/>
            <a:p>
              <a:pPr algn="ctr"/>
              <a:r>
                <a:rPr lang="en-US" sz="600" dirty="0"/>
                <a:t>T</a:t>
              </a:r>
            </a:p>
          </p:txBody>
        </p:sp>
        <p:cxnSp>
          <p:nvCxnSpPr>
            <p:cNvPr id="147" name="Straight Connector 146">
              <a:extLst>
                <a:ext uri="{FF2B5EF4-FFF2-40B4-BE49-F238E27FC236}">
                  <a16:creationId xmlns:a16="http://schemas.microsoft.com/office/drawing/2014/main" id="{1D6D3DF8-C95E-4A7A-89C2-C5FE355B6DA0}"/>
                </a:ext>
              </a:extLst>
            </p:cNvPr>
            <p:cNvCxnSpPr>
              <a:cxnSpLocks/>
            </p:cNvCxnSpPr>
            <p:nvPr/>
          </p:nvCxnSpPr>
          <p:spPr>
            <a:xfrm>
              <a:off x="1356811" y="3657513"/>
              <a:ext cx="85685" cy="0"/>
            </a:xfrm>
            <a:prstGeom prst="line">
              <a:avLst/>
            </a:prstGeom>
            <a:ln w="25400">
              <a:solidFill>
                <a:srgbClr val="ED7D31"/>
              </a:solidFill>
            </a:ln>
          </p:spPr>
          <p:style>
            <a:lnRef idx="1">
              <a:schemeClr val="accent1"/>
            </a:lnRef>
            <a:fillRef idx="0">
              <a:schemeClr val="accent1"/>
            </a:fillRef>
            <a:effectRef idx="0">
              <a:schemeClr val="accent1"/>
            </a:effectRef>
            <a:fontRef idx="minor">
              <a:schemeClr val="tx1"/>
            </a:fontRef>
          </p:style>
        </p:cxnSp>
        <p:sp>
          <p:nvSpPr>
            <p:cNvPr id="154" name="Oval 153">
              <a:extLst>
                <a:ext uri="{FF2B5EF4-FFF2-40B4-BE49-F238E27FC236}">
                  <a16:creationId xmlns:a16="http://schemas.microsoft.com/office/drawing/2014/main" id="{9E115451-EF2A-478E-9F0A-3763251314CE}"/>
                </a:ext>
              </a:extLst>
            </p:cNvPr>
            <p:cNvSpPr/>
            <p:nvPr/>
          </p:nvSpPr>
          <p:spPr>
            <a:xfrm>
              <a:off x="1331579" y="3638935"/>
              <a:ext cx="42843" cy="38171"/>
            </a:xfrm>
            <a:prstGeom prst="ellipse">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49" name="Rectangle 148">
              <a:extLst>
                <a:ext uri="{FF2B5EF4-FFF2-40B4-BE49-F238E27FC236}">
                  <a16:creationId xmlns:a16="http://schemas.microsoft.com/office/drawing/2014/main" id="{6FCE0B94-7562-4A04-9096-D077DEBAD910}"/>
                </a:ext>
              </a:extLst>
            </p:cNvPr>
            <p:cNvSpPr/>
            <p:nvPr/>
          </p:nvSpPr>
          <p:spPr>
            <a:xfrm>
              <a:off x="1398336" y="3639735"/>
              <a:ext cx="42843" cy="38171"/>
            </a:xfrm>
            <a:prstGeom prst="rect">
              <a:avLst/>
            </a:prstGeom>
            <a:ln w="3175">
              <a:solidFill>
                <a:schemeClr val="bg1"/>
              </a:solidFill>
            </a:ln>
          </p:spPr>
          <p:style>
            <a:lnRef idx="1">
              <a:schemeClr val="dk1"/>
            </a:lnRef>
            <a:fillRef idx="3">
              <a:schemeClr val="dk1"/>
            </a:fillRef>
            <a:effectRef idx="2">
              <a:schemeClr val="dk1"/>
            </a:effectRef>
            <a:fontRef idx="minor">
              <a:schemeClr val="lt1"/>
            </a:fontRef>
          </p:style>
          <p:txBody>
            <a:bodyPr rtlCol="0" anchor="ctr"/>
            <a:lstStyle/>
            <a:p>
              <a:pPr algn="ctr"/>
              <a:r>
                <a:rPr lang="en-US" sz="600" dirty="0"/>
                <a:t>T</a:t>
              </a:r>
            </a:p>
          </p:txBody>
        </p:sp>
      </p:grpSp>
      <p:grpSp>
        <p:nvGrpSpPr>
          <p:cNvPr id="217" name="Group 216">
            <a:extLst>
              <a:ext uri="{FF2B5EF4-FFF2-40B4-BE49-F238E27FC236}">
                <a16:creationId xmlns:a16="http://schemas.microsoft.com/office/drawing/2014/main" id="{B38A89A2-339F-459E-B492-28E9732F7E44}"/>
              </a:ext>
            </a:extLst>
          </p:cNvPr>
          <p:cNvGrpSpPr/>
          <p:nvPr/>
        </p:nvGrpSpPr>
        <p:grpSpPr>
          <a:xfrm>
            <a:off x="1789192" y="3901200"/>
            <a:ext cx="3107033" cy="1641213"/>
            <a:chOff x="1192794" y="2600800"/>
            <a:chExt cx="2071355" cy="1094142"/>
          </a:xfrm>
        </p:grpSpPr>
        <p:sp>
          <p:nvSpPr>
            <p:cNvPr id="112" name="Rectangle 111">
              <a:extLst>
                <a:ext uri="{FF2B5EF4-FFF2-40B4-BE49-F238E27FC236}">
                  <a16:creationId xmlns:a16="http://schemas.microsoft.com/office/drawing/2014/main" id="{5277CA35-FA4D-4FF2-8A09-B0489629DBC4}"/>
                </a:ext>
              </a:extLst>
            </p:cNvPr>
            <p:cNvSpPr/>
            <p:nvPr/>
          </p:nvSpPr>
          <p:spPr>
            <a:xfrm>
              <a:off x="1192794" y="3462067"/>
              <a:ext cx="325954" cy="229026"/>
            </a:xfrm>
            <a:prstGeom prst="rect">
              <a:avLst/>
            </a:prstGeom>
            <a:solidFill>
              <a:schemeClr val="bg1">
                <a:alpha val="2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65" name="Picture 64">
              <a:extLst>
                <a:ext uri="{FF2B5EF4-FFF2-40B4-BE49-F238E27FC236}">
                  <a16:creationId xmlns:a16="http://schemas.microsoft.com/office/drawing/2014/main" id="{C1C1A048-74B0-4213-AFD2-DB27532C32D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33347" y="2600800"/>
              <a:ext cx="1430802" cy="1094142"/>
            </a:xfrm>
            <a:prstGeom prst="rect">
              <a:avLst/>
            </a:prstGeom>
            <a:ln>
              <a:solidFill>
                <a:schemeClr val="tx1"/>
              </a:solidFill>
            </a:ln>
          </p:spPr>
        </p:pic>
      </p:grpSp>
      <p:pic>
        <p:nvPicPr>
          <p:cNvPr id="194" name="Picture 193">
            <a:extLst>
              <a:ext uri="{FF2B5EF4-FFF2-40B4-BE49-F238E27FC236}">
                <a16:creationId xmlns:a16="http://schemas.microsoft.com/office/drawing/2014/main" id="{B51AEE47-DB1E-4071-A54A-7E3E7CAAB133}"/>
              </a:ext>
            </a:extLst>
          </p:cNvPr>
          <p:cNvPicPr>
            <a:picLocks noChangeAspect="1"/>
          </p:cNvPicPr>
          <p:nvPr/>
        </p:nvPicPr>
        <p:blipFill>
          <a:blip r:embed="rId6"/>
          <a:stretch>
            <a:fillRect/>
          </a:stretch>
        </p:blipFill>
        <p:spPr>
          <a:xfrm>
            <a:off x="5176089" y="88939"/>
            <a:ext cx="2057400" cy="3236567"/>
          </a:xfrm>
          <a:prstGeom prst="rect">
            <a:avLst/>
          </a:prstGeom>
        </p:spPr>
      </p:pic>
      <p:pic>
        <p:nvPicPr>
          <p:cNvPr id="195" name="Picture 194">
            <a:extLst>
              <a:ext uri="{FF2B5EF4-FFF2-40B4-BE49-F238E27FC236}">
                <a16:creationId xmlns:a16="http://schemas.microsoft.com/office/drawing/2014/main" id="{9B0AC80C-57E4-4C30-8CE9-5C7E80B5A18A}"/>
              </a:ext>
            </a:extLst>
          </p:cNvPr>
          <p:cNvPicPr>
            <a:picLocks noChangeAspect="1"/>
          </p:cNvPicPr>
          <p:nvPr/>
        </p:nvPicPr>
        <p:blipFill>
          <a:blip r:embed="rId7"/>
          <a:stretch>
            <a:fillRect/>
          </a:stretch>
        </p:blipFill>
        <p:spPr>
          <a:xfrm>
            <a:off x="7468275" y="88939"/>
            <a:ext cx="2057400" cy="3236567"/>
          </a:xfrm>
          <a:prstGeom prst="rect">
            <a:avLst/>
          </a:prstGeom>
        </p:spPr>
      </p:pic>
      <p:pic>
        <p:nvPicPr>
          <p:cNvPr id="196" name="Picture 195">
            <a:extLst>
              <a:ext uri="{FF2B5EF4-FFF2-40B4-BE49-F238E27FC236}">
                <a16:creationId xmlns:a16="http://schemas.microsoft.com/office/drawing/2014/main" id="{AD067BB7-408F-4497-BE98-4334E2E7ED06}"/>
              </a:ext>
            </a:extLst>
          </p:cNvPr>
          <p:cNvPicPr>
            <a:picLocks noChangeAspect="1"/>
          </p:cNvPicPr>
          <p:nvPr/>
        </p:nvPicPr>
        <p:blipFill>
          <a:blip r:embed="rId8"/>
          <a:stretch>
            <a:fillRect/>
          </a:stretch>
        </p:blipFill>
        <p:spPr>
          <a:xfrm>
            <a:off x="9760461" y="88938"/>
            <a:ext cx="2057400" cy="3223464"/>
          </a:xfrm>
          <a:prstGeom prst="rect">
            <a:avLst/>
          </a:prstGeom>
        </p:spPr>
      </p:pic>
      <p:pic>
        <p:nvPicPr>
          <p:cNvPr id="197" name="Picture 196">
            <a:extLst>
              <a:ext uri="{FF2B5EF4-FFF2-40B4-BE49-F238E27FC236}">
                <a16:creationId xmlns:a16="http://schemas.microsoft.com/office/drawing/2014/main" id="{EFA899F4-77AC-4C9D-B850-FC1D319B5545}"/>
              </a:ext>
            </a:extLst>
          </p:cNvPr>
          <p:cNvPicPr>
            <a:picLocks noChangeAspect="1"/>
          </p:cNvPicPr>
          <p:nvPr/>
        </p:nvPicPr>
        <p:blipFill>
          <a:blip r:embed="rId9"/>
          <a:stretch>
            <a:fillRect/>
          </a:stretch>
        </p:blipFill>
        <p:spPr>
          <a:xfrm>
            <a:off x="5176089" y="3469421"/>
            <a:ext cx="2057400" cy="3191687"/>
          </a:xfrm>
          <a:prstGeom prst="rect">
            <a:avLst/>
          </a:prstGeom>
        </p:spPr>
      </p:pic>
      <p:pic>
        <p:nvPicPr>
          <p:cNvPr id="198" name="Picture 197">
            <a:extLst>
              <a:ext uri="{FF2B5EF4-FFF2-40B4-BE49-F238E27FC236}">
                <a16:creationId xmlns:a16="http://schemas.microsoft.com/office/drawing/2014/main" id="{368BF7B2-4AE8-4C31-A5BA-7388238164BB}"/>
              </a:ext>
            </a:extLst>
          </p:cNvPr>
          <p:cNvPicPr>
            <a:picLocks noChangeAspect="1"/>
          </p:cNvPicPr>
          <p:nvPr/>
        </p:nvPicPr>
        <p:blipFill>
          <a:blip r:embed="rId10"/>
          <a:stretch>
            <a:fillRect/>
          </a:stretch>
        </p:blipFill>
        <p:spPr>
          <a:xfrm>
            <a:off x="7468275" y="3414177"/>
            <a:ext cx="2057400" cy="3246930"/>
          </a:xfrm>
          <a:prstGeom prst="rect">
            <a:avLst/>
          </a:prstGeom>
        </p:spPr>
      </p:pic>
      <p:pic>
        <p:nvPicPr>
          <p:cNvPr id="199" name="Picture 198">
            <a:extLst>
              <a:ext uri="{FF2B5EF4-FFF2-40B4-BE49-F238E27FC236}">
                <a16:creationId xmlns:a16="http://schemas.microsoft.com/office/drawing/2014/main" id="{B0F81027-9C1D-45FD-B5A4-402F618BE75B}"/>
              </a:ext>
            </a:extLst>
          </p:cNvPr>
          <p:cNvPicPr>
            <a:picLocks noChangeAspect="1"/>
          </p:cNvPicPr>
          <p:nvPr/>
        </p:nvPicPr>
        <p:blipFill>
          <a:blip r:embed="rId11"/>
          <a:stretch>
            <a:fillRect/>
          </a:stretch>
        </p:blipFill>
        <p:spPr>
          <a:xfrm>
            <a:off x="9760461" y="3485814"/>
            <a:ext cx="2057400" cy="3175293"/>
          </a:xfrm>
          <a:prstGeom prst="rect">
            <a:avLst/>
          </a:prstGeom>
        </p:spPr>
      </p:pic>
      <p:grpSp>
        <p:nvGrpSpPr>
          <p:cNvPr id="209" name="Group 208">
            <a:extLst>
              <a:ext uri="{FF2B5EF4-FFF2-40B4-BE49-F238E27FC236}">
                <a16:creationId xmlns:a16="http://schemas.microsoft.com/office/drawing/2014/main" id="{331E11EB-AF8F-4EAE-954E-54FFFB962EB2}"/>
              </a:ext>
            </a:extLst>
          </p:cNvPr>
          <p:cNvGrpSpPr/>
          <p:nvPr/>
        </p:nvGrpSpPr>
        <p:grpSpPr>
          <a:xfrm>
            <a:off x="1696391" y="1431651"/>
            <a:ext cx="948141" cy="4023144"/>
            <a:chOff x="1130927" y="954434"/>
            <a:chExt cx="632094" cy="2682096"/>
          </a:xfrm>
        </p:grpSpPr>
        <p:cxnSp>
          <p:nvCxnSpPr>
            <p:cNvPr id="93" name="Straight Connector 92">
              <a:extLst>
                <a:ext uri="{FF2B5EF4-FFF2-40B4-BE49-F238E27FC236}">
                  <a16:creationId xmlns:a16="http://schemas.microsoft.com/office/drawing/2014/main" id="{668038B4-F0D4-4CAE-9CD8-437339D5AB16}"/>
                </a:ext>
              </a:extLst>
            </p:cNvPr>
            <p:cNvCxnSpPr>
              <a:cxnSpLocks/>
            </p:cNvCxnSpPr>
            <p:nvPr/>
          </p:nvCxnSpPr>
          <p:spPr>
            <a:xfrm>
              <a:off x="1720179" y="1376375"/>
              <a:ext cx="2204" cy="2241144"/>
            </a:xfrm>
            <a:prstGeom prst="line">
              <a:avLst/>
            </a:prstGeom>
            <a:ln w="25400" cap="rnd">
              <a:solidFill>
                <a:srgbClr val="1E4C76"/>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5B9BF80-52BB-4516-9341-4F8C296E8092}"/>
                </a:ext>
              </a:extLst>
            </p:cNvPr>
            <p:cNvCxnSpPr>
              <a:cxnSpLocks/>
            </p:cNvCxnSpPr>
            <p:nvPr/>
          </p:nvCxnSpPr>
          <p:spPr>
            <a:xfrm>
              <a:off x="1300539" y="972974"/>
              <a:ext cx="421560" cy="403401"/>
            </a:xfrm>
            <a:prstGeom prst="line">
              <a:avLst/>
            </a:prstGeom>
            <a:ln w="25400" cap="rnd">
              <a:solidFill>
                <a:srgbClr val="1E4C76"/>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2775DD92-BF3D-49D5-B355-607248287C62}"/>
                </a:ext>
              </a:extLst>
            </p:cNvPr>
            <p:cNvCxnSpPr>
              <a:cxnSpLocks/>
            </p:cNvCxnSpPr>
            <p:nvPr/>
          </p:nvCxnSpPr>
          <p:spPr>
            <a:xfrm>
              <a:off x="1153553" y="973800"/>
              <a:ext cx="140932" cy="0"/>
            </a:xfrm>
            <a:prstGeom prst="line">
              <a:avLst/>
            </a:prstGeom>
            <a:ln w="25400" cap="rnd">
              <a:solidFill>
                <a:srgbClr val="1E4C76"/>
              </a:solidFill>
            </a:ln>
          </p:spPr>
          <p:style>
            <a:lnRef idx="1">
              <a:schemeClr val="accent1"/>
            </a:lnRef>
            <a:fillRef idx="0">
              <a:schemeClr val="accent1"/>
            </a:fillRef>
            <a:effectRef idx="0">
              <a:schemeClr val="accent1"/>
            </a:effectRef>
            <a:fontRef idx="minor">
              <a:schemeClr val="tx1"/>
            </a:fontRef>
          </p:style>
        </p:cxnSp>
        <p:sp>
          <p:nvSpPr>
            <p:cNvPr id="156" name="Oval 155">
              <a:extLst>
                <a:ext uri="{FF2B5EF4-FFF2-40B4-BE49-F238E27FC236}">
                  <a16:creationId xmlns:a16="http://schemas.microsoft.com/office/drawing/2014/main" id="{48B3F45A-4107-4662-9472-2402C90593E3}"/>
                </a:ext>
              </a:extLst>
            </p:cNvPr>
            <p:cNvSpPr/>
            <p:nvPr/>
          </p:nvSpPr>
          <p:spPr>
            <a:xfrm>
              <a:off x="1130927" y="954434"/>
              <a:ext cx="42843" cy="38171"/>
            </a:xfrm>
            <a:prstGeom prst="ellipse">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117" name="Straight Connector 116">
              <a:extLst>
                <a:ext uri="{FF2B5EF4-FFF2-40B4-BE49-F238E27FC236}">
                  <a16:creationId xmlns:a16="http://schemas.microsoft.com/office/drawing/2014/main" id="{F42E8FF4-06A7-49F7-A45A-197479F5CB30}"/>
                </a:ext>
              </a:extLst>
            </p:cNvPr>
            <p:cNvCxnSpPr>
              <a:cxnSpLocks/>
            </p:cNvCxnSpPr>
            <p:nvPr/>
          </p:nvCxnSpPr>
          <p:spPr>
            <a:xfrm>
              <a:off x="1422330" y="3621159"/>
              <a:ext cx="299898" cy="0"/>
            </a:xfrm>
            <a:prstGeom prst="line">
              <a:avLst/>
            </a:prstGeom>
            <a:ln w="25400" cap="rnd">
              <a:solidFill>
                <a:srgbClr val="1E4C76"/>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4106D946-8150-47B2-BEB3-2345C9E70264}"/>
                </a:ext>
              </a:extLst>
            </p:cNvPr>
            <p:cNvCxnSpPr>
              <a:cxnSpLocks/>
            </p:cNvCxnSpPr>
            <p:nvPr/>
          </p:nvCxnSpPr>
          <p:spPr>
            <a:xfrm>
              <a:off x="1348087" y="3620602"/>
              <a:ext cx="85685" cy="0"/>
            </a:xfrm>
            <a:prstGeom prst="line">
              <a:avLst/>
            </a:prstGeom>
            <a:ln w="25400">
              <a:solidFill>
                <a:srgbClr val="ED7D31"/>
              </a:solidFill>
            </a:ln>
          </p:spPr>
          <p:style>
            <a:lnRef idx="1">
              <a:schemeClr val="accent1"/>
            </a:lnRef>
            <a:fillRef idx="0">
              <a:schemeClr val="accent1"/>
            </a:fillRef>
            <a:effectRef idx="0">
              <a:schemeClr val="accent1"/>
            </a:effectRef>
            <a:fontRef idx="minor">
              <a:schemeClr val="tx1"/>
            </a:fontRef>
          </p:style>
        </p:cxnSp>
        <p:sp>
          <p:nvSpPr>
            <p:cNvPr id="146" name="Rectangle 145">
              <a:extLst>
                <a:ext uri="{FF2B5EF4-FFF2-40B4-BE49-F238E27FC236}">
                  <a16:creationId xmlns:a16="http://schemas.microsoft.com/office/drawing/2014/main" id="{96DA5F49-C9DE-43EF-BC10-FDA401834E46}"/>
                </a:ext>
              </a:extLst>
            </p:cNvPr>
            <p:cNvSpPr/>
            <p:nvPr/>
          </p:nvSpPr>
          <p:spPr>
            <a:xfrm>
              <a:off x="1397432" y="3598359"/>
              <a:ext cx="42843" cy="38171"/>
            </a:xfrm>
            <a:prstGeom prst="rect">
              <a:avLst/>
            </a:prstGeom>
            <a:ln w="3175">
              <a:solidFill>
                <a:schemeClr val="bg1"/>
              </a:solidFill>
            </a:ln>
          </p:spPr>
          <p:style>
            <a:lnRef idx="1">
              <a:schemeClr val="dk1"/>
            </a:lnRef>
            <a:fillRef idx="3">
              <a:schemeClr val="dk1"/>
            </a:fillRef>
            <a:effectRef idx="2">
              <a:schemeClr val="dk1"/>
            </a:effectRef>
            <a:fontRef idx="minor">
              <a:schemeClr val="lt1"/>
            </a:fontRef>
          </p:style>
          <p:txBody>
            <a:bodyPr rtlCol="0" anchor="ctr"/>
            <a:lstStyle/>
            <a:p>
              <a:pPr algn="ctr"/>
              <a:r>
                <a:rPr lang="en-US" sz="600" dirty="0"/>
                <a:t>T</a:t>
              </a:r>
            </a:p>
          </p:txBody>
        </p:sp>
        <p:sp>
          <p:nvSpPr>
            <p:cNvPr id="152" name="Oval 151">
              <a:extLst>
                <a:ext uri="{FF2B5EF4-FFF2-40B4-BE49-F238E27FC236}">
                  <a16:creationId xmlns:a16="http://schemas.microsoft.com/office/drawing/2014/main" id="{ECE8F937-BCBB-471A-959C-0B86C37CF33C}"/>
                </a:ext>
              </a:extLst>
            </p:cNvPr>
            <p:cNvSpPr/>
            <p:nvPr/>
          </p:nvSpPr>
          <p:spPr>
            <a:xfrm>
              <a:off x="1331579" y="3598216"/>
              <a:ext cx="42843" cy="38171"/>
            </a:xfrm>
            <a:prstGeom prst="ellipse">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10" name="Oval 109">
              <a:extLst>
                <a:ext uri="{FF2B5EF4-FFF2-40B4-BE49-F238E27FC236}">
                  <a16:creationId xmlns:a16="http://schemas.microsoft.com/office/drawing/2014/main" id="{F0F0B6C8-19D6-467E-9CAC-89A19CA3130C}"/>
                </a:ext>
              </a:extLst>
            </p:cNvPr>
            <p:cNvSpPr/>
            <p:nvPr/>
          </p:nvSpPr>
          <p:spPr>
            <a:xfrm>
              <a:off x="1677336" y="1989249"/>
              <a:ext cx="85685" cy="76342"/>
            </a:xfrm>
            <a:prstGeom prst="ellipse">
              <a:avLst/>
            </a:prstGeom>
            <a:solidFill>
              <a:schemeClr val="bg1">
                <a:lumMod val="7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E</a:t>
              </a:r>
            </a:p>
          </p:txBody>
        </p:sp>
      </p:grpSp>
    </p:spTree>
    <p:extLst>
      <p:ext uri="{BB962C8B-B14F-4D97-AF65-F5344CB8AC3E}">
        <p14:creationId xmlns:p14="http://schemas.microsoft.com/office/powerpoint/2010/main" val="206814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9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0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9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8600" y="0"/>
            <a:ext cx="4114800" cy="6858000"/>
          </a:xfrm>
          <a:prstGeom prst="rect">
            <a:avLst/>
          </a:prstGeom>
          <a:ln>
            <a:solidFill>
              <a:schemeClr val="tx1"/>
            </a:solidFill>
          </a:ln>
        </p:spPr>
      </p:pic>
      <p:sp>
        <p:nvSpPr>
          <p:cNvPr id="5" name="TextBox 4"/>
          <p:cNvSpPr txBox="1"/>
          <p:nvPr/>
        </p:nvSpPr>
        <p:spPr>
          <a:xfrm>
            <a:off x="1866902" y="114300"/>
            <a:ext cx="1770165" cy="369332"/>
          </a:xfrm>
          <a:prstGeom prst="rect">
            <a:avLst/>
          </a:prstGeom>
          <a:noFill/>
        </p:spPr>
        <p:txBody>
          <a:bodyPr wrap="none" rtlCol="0">
            <a:spAutoFit/>
          </a:bodyPr>
          <a:lstStyle/>
          <a:p>
            <a:r>
              <a:rPr lang="en-US" b="1" dirty="0"/>
              <a:t>CTA System Map</a:t>
            </a:r>
          </a:p>
        </p:txBody>
      </p:sp>
    </p:spTree>
    <p:extLst>
      <p:ext uri="{BB962C8B-B14F-4D97-AF65-F5344CB8AC3E}">
        <p14:creationId xmlns:p14="http://schemas.microsoft.com/office/powerpoint/2010/main" val="38323018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8600" y="0"/>
            <a:ext cx="4114800" cy="6858000"/>
          </a:xfrm>
          <a:prstGeom prst="rect">
            <a:avLst/>
          </a:prstGeom>
          <a:ln>
            <a:solidFill>
              <a:schemeClr val="tx1"/>
            </a:solidFill>
          </a:ln>
        </p:spPr>
      </p:pic>
      <p:sp>
        <p:nvSpPr>
          <p:cNvPr id="3" name="TextBox 2"/>
          <p:cNvSpPr txBox="1"/>
          <p:nvPr/>
        </p:nvSpPr>
        <p:spPr>
          <a:xfrm>
            <a:off x="1866902" y="114300"/>
            <a:ext cx="1528047" cy="369332"/>
          </a:xfrm>
          <a:prstGeom prst="rect">
            <a:avLst/>
          </a:prstGeom>
          <a:noFill/>
        </p:spPr>
        <p:txBody>
          <a:bodyPr wrap="none" rtlCol="0">
            <a:spAutoFit/>
          </a:bodyPr>
          <a:lstStyle/>
          <a:p>
            <a:r>
              <a:rPr lang="en-US" b="1" dirty="0"/>
              <a:t>6PM weekday</a:t>
            </a:r>
          </a:p>
        </p:txBody>
      </p:sp>
    </p:spTree>
    <p:extLst>
      <p:ext uri="{BB962C8B-B14F-4D97-AF65-F5344CB8AC3E}">
        <p14:creationId xmlns:p14="http://schemas.microsoft.com/office/powerpoint/2010/main" val="26184333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8600" y="0"/>
            <a:ext cx="4114800" cy="6858000"/>
          </a:xfrm>
          <a:prstGeom prst="rect">
            <a:avLst/>
          </a:prstGeom>
          <a:ln>
            <a:solidFill>
              <a:schemeClr val="tx1"/>
            </a:solidFill>
          </a:ln>
        </p:spPr>
      </p:pic>
      <p:sp>
        <p:nvSpPr>
          <p:cNvPr id="4" name="TextBox 3"/>
          <p:cNvSpPr txBox="1"/>
          <p:nvPr/>
        </p:nvSpPr>
        <p:spPr>
          <a:xfrm>
            <a:off x="1866901" y="114300"/>
            <a:ext cx="1645066" cy="369332"/>
          </a:xfrm>
          <a:prstGeom prst="rect">
            <a:avLst/>
          </a:prstGeom>
          <a:noFill/>
        </p:spPr>
        <p:txBody>
          <a:bodyPr wrap="none" rtlCol="0">
            <a:spAutoFit/>
          </a:bodyPr>
          <a:lstStyle/>
          <a:p>
            <a:r>
              <a:rPr lang="en-US" b="1" dirty="0"/>
              <a:t>11PM weekday</a:t>
            </a:r>
          </a:p>
        </p:txBody>
      </p:sp>
    </p:spTree>
    <p:extLst>
      <p:ext uri="{BB962C8B-B14F-4D97-AF65-F5344CB8AC3E}">
        <p14:creationId xmlns:p14="http://schemas.microsoft.com/office/powerpoint/2010/main" val="35851925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8600" y="0"/>
            <a:ext cx="4114800" cy="6858000"/>
          </a:xfrm>
          <a:prstGeom prst="rect">
            <a:avLst/>
          </a:prstGeom>
          <a:ln>
            <a:solidFill>
              <a:schemeClr val="tx1"/>
            </a:solidFill>
          </a:ln>
        </p:spPr>
      </p:pic>
      <p:sp>
        <p:nvSpPr>
          <p:cNvPr id="4" name="TextBox 3"/>
          <p:cNvSpPr txBox="1"/>
          <p:nvPr/>
        </p:nvSpPr>
        <p:spPr>
          <a:xfrm>
            <a:off x="1866902" y="114300"/>
            <a:ext cx="1544077" cy="369332"/>
          </a:xfrm>
          <a:prstGeom prst="rect">
            <a:avLst/>
          </a:prstGeom>
          <a:noFill/>
        </p:spPr>
        <p:txBody>
          <a:bodyPr wrap="none" rtlCol="0">
            <a:spAutoFit/>
          </a:bodyPr>
          <a:lstStyle/>
          <a:p>
            <a:r>
              <a:rPr lang="en-US" b="1" dirty="0"/>
              <a:t>1AM weekday</a:t>
            </a:r>
          </a:p>
        </p:txBody>
      </p:sp>
    </p:spTree>
    <p:extLst>
      <p:ext uri="{BB962C8B-B14F-4D97-AF65-F5344CB8AC3E}">
        <p14:creationId xmlns:p14="http://schemas.microsoft.com/office/powerpoint/2010/main" val="42516011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8600" y="0"/>
            <a:ext cx="4114800" cy="6858000"/>
          </a:xfrm>
          <a:prstGeom prst="rect">
            <a:avLst/>
          </a:prstGeom>
          <a:ln>
            <a:solidFill>
              <a:schemeClr val="tx1"/>
            </a:solidFill>
          </a:ln>
        </p:spPr>
      </p:pic>
      <p:sp>
        <p:nvSpPr>
          <p:cNvPr id="4" name="TextBox 3"/>
          <p:cNvSpPr txBox="1"/>
          <p:nvPr/>
        </p:nvSpPr>
        <p:spPr>
          <a:xfrm>
            <a:off x="1866902" y="114300"/>
            <a:ext cx="1544077" cy="369332"/>
          </a:xfrm>
          <a:prstGeom prst="rect">
            <a:avLst/>
          </a:prstGeom>
          <a:noFill/>
        </p:spPr>
        <p:txBody>
          <a:bodyPr wrap="none" rtlCol="0">
            <a:spAutoFit/>
          </a:bodyPr>
          <a:lstStyle/>
          <a:p>
            <a:r>
              <a:rPr lang="en-US" b="1" dirty="0"/>
              <a:t>2AM weekday</a:t>
            </a:r>
          </a:p>
        </p:txBody>
      </p:sp>
    </p:spTree>
    <p:extLst>
      <p:ext uri="{BB962C8B-B14F-4D97-AF65-F5344CB8AC3E}">
        <p14:creationId xmlns:p14="http://schemas.microsoft.com/office/powerpoint/2010/main" val="3834595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B3CB4BE5-7E14-4F69-9440-CF60B233F7F2}"/>
              </a:ext>
            </a:extLst>
          </p:cNvPr>
          <p:cNvSpPr/>
          <p:nvPr/>
        </p:nvSpPr>
        <p:spPr>
          <a:xfrm>
            <a:off x="0" y="2"/>
            <a:ext cx="12192000" cy="679692"/>
          </a:xfrm>
          <a:prstGeom prst="rect">
            <a:avLst/>
          </a:prstGeom>
          <a:solidFill>
            <a:srgbClr val="1948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16F687B1-CEB1-4207-BA81-ED7FA94AAD2C}"/>
              </a:ext>
            </a:extLst>
          </p:cNvPr>
          <p:cNvSpPr txBox="1"/>
          <p:nvPr/>
        </p:nvSpPr>
        <p:spPr>
          <a:xfrm>
            <a:off x="260293" y="48110"/>
            <a:ext cx="11331941" cy="584775"/>
          </a:xfrm>
          <a:prstGeom prst="rect">
            <a:avLst/>
          </a:prstGeom>
          <a:solidFill>
            <a:srgbClr val="194852"/>
          </a:solidFill>
        </p:spPr>
        <p:txBody>
          <a:bodyPr wrap="square" rtlCol="0">
            <a:spAutoFit/>
          </a:bodyPr>
          <a:lstStyle/>
          <a:p>
            <a:r>
              <a:rPr lang="en-US" sz="3200" dirty="0">
                <a:solidFill>
                  <a:schemeClr val="bg1"/>
                </a:solidFill>
                <a:latin typeface="Franklin Gothic Demi Cond" panose="020B0706030402020204" pitchFamily="34" charset="0"/>
              </a:rPr>
              <a:t>EQUITABLE PUBLIC TRANSIT</a:t>
            </a:r>
          </a:p>
        </p:txBody>
      </p:sp>
      <p:pic>
        <p:nvPicPr>
          <p:cNvPr id="3" name="Picture 2">
            <a:extLst>
              <a:ext uri="{FF2B5EF4-FFF2-40B4-BE49-F238E27FC236}">
                <a16:creationId xmlns:a16="http://schemas.microsoft.com/office/drawing/2014/main" id="{61012AA6-F865-4681-964D-4A6F4928A2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293" y="896470"/>
            <a:ext cx="3785134" cy="5680635"/>
          </a:xfrm>
          <a:prstGeom prst="rect">
            <a:avLst/>
          </a:prstGeom>
        </p:spPr>
      </p:pic>
      <p:pic>
        <p:nvPicPr>
          <p:cNvPr id="5" name="Picture 4">
            <a:extLst>
              <a:ext uri="{FF2B5EF4-FFF2-40B4-BE49-F238E27FC236}">
                <a16:creationId xmlns:a16="http://schemas.microsoft.com/office/drawing/2014/main" id="{C8177C38-3398-4F5B-B2EE-0CECCCB199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5310" y="903939"/>
            <a:ext cx="7560314" cy="5673166"/>
          </a:xfrm>
          <a:prstGeom prst="rect">
            <a:avLst/>
          </a:prstGeom>
        </p:spPr>
      </p:pic>
      <p:pic>
        <p:nvPicPr>
          <p:cNvPr id="9" name="Picture 8">
            <a:extLst>
              <a:ext uri="{FF2B5EF4-FFF2-40B4-BE49-F238E27FC236}">
                <a16:creationId xmlns:a16="http://schemas.microsoft.com/office/drawing/2014/main" id="{30007E81-F8D4-4DFB-AB98-B7B14D5ACA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76470" y="2835420"/>
            <a:ext cx="4824332" cy="3220241"/>
          </a:xfrm>
          <a:prstGeom prst="rect">
            <a:avLst/>
          </a:prstGeom>
          <a:ln>
            <a:solidFill>
              <a:schemeClr val="bg1"/>
            </a:solidFill>
          </a:ln>
        </p:spPr>
      </p:pic>
    </p:spTree>
    <p:extLst>
      <p:ext uri="{BB962C8B-B14F-4D97-AF65-F5344CB8AC3E}">
        <p14:creationId xmlns:p14="http://schemas.microsoft.com/office/powerpoint/2010/main" val="38812890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59F6B75-78FF-4439-8783-E16E08567B42}"/>
              </a:ext>
            </a:extLst>
          </p:cNvPr>
          <p:cNvPicPr>
            <a:picLocks noChangeAspect="1"/>
          </p:cNvPicPr>
          <p:nvPr/>
        </p:nvPicPr>
        <p:blipFill>
          <a:blip r:embed="rId2"/>
          <a:stretch>
            <a:fillRect/>
          </a:stretch>
        </p:blipFill>
        <p:spPr>
          <a:xfrm>
            <a:off x="80134" y="0"/>
            <a:ext cx="5528924" cy="5039139"/>
          </a:xfrm>
          <a:prstGeom prst="rect">
            <a:avLst/>
          </a:prstGeom>
        </p:spPr>
      </p:pic>
      <p:pic>
        <p:nvPicPr>
          <p:cNvPr id="5" name="Picture 4">
            <a:extLst>
              <a:ext uri="{FF2B5EF4-FFF2-40B4-BE49-F238E27FC236}">
                <a16:creationId xmlns:a16="http://schemas.microsoft.com/office/drawing/2014/main" id="{197627F5-58D9-4694-A300-F8B2F7E7BE92}"/>
              </a:ext>
            </a:extLst>
          </p:cNvPr>
          <p:cNvPicPr>
            <a:picLocks noChangeAspect="1"/>
          </p:cNvPicPr>
          <p:nvPr/>
        </p:nvPicPr>
        <p:blipFill>
          <a:blip r:embed="rId3"/>
          <a:stretch>
            <a:fillRect/>
          </a:stretch>
        </p:blipFill>
        <p:spPr>
          <a:xfrm>
            <a:off x="5727485" y="54665"/>
            <a:ext cx="6384381" cy="6858000"/>
          </a:xfrm>
          <a:prstGeom prst="rect">
            <a:avLst/>
          </a:prstGeom>
        </p:spPr>
      </p:pic>
    </p:spTree>
    <p:extLst>
      <p:ext uri="{BB962C8B-B14F-4D97-AF65-F5344CB8AC3E}">
        <p14:creationId xmlns:p14="http://schemas.microsoft.com/office/powerpoint/2010/main" val="1813128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rotWithShape="1">
          <a:blip r:embed="rId2" cstate="print">
            <a:extLst>
              <a:ext uri="{28A0092B-C50C-407E-A947-70E740481C1C}">
                <a14:useLocalDpi xmlns:a14="http://schemas.microsoft.com/office/drawing/2010/main" val="0"/>
              </a:ext>
            </a:extLst>
          </a:blip>
          <a:srcRect l="68444" t="45289" b="44993"/>
          <a:stretch/>
        </p:blipFill>
        <p:spPr>
          <a:xfrm>
            <a:off x="8221925" y="726818"/>
            <a:ext cx="2680538" cy="571464"/>
          </a:xfrm>
          <a:prstGeom prst="rect">
            <a:avLst/>
          </a:prstGeom>
        </p:spPr>
      </p:pic>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l="54897" t="78513" r="1504" b="-3342"/>
          <a:stretch/>
        </p:blipFill>
        <p:spPr>
          <a:xfrm>
            <a:off x="8263725" y="3032363"/>
            <a:ext cx="2704123" cy="855522"/>
          </a:xfrm>
          <a:prstGeom prst="rect">
            <a:avLst/>
          </a:prstGeom>
        </p:spPr>
      </p:pic>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l="54897" t="27026" r="1504" b="63334"/>
          <a:stretch/>
        </p:blipFill>
        <p:spPr>
          <a:xfrm>
            <a:off x="8244709" y="1325636"/>
            <a:ext cx="2704123" cy="332154"/>
          </a:xfrm>
          <a:prstGeom prst="rect">
            <a:avLst/>
          </a:prstGeom>
        </p:spPr>
      </p:pic>
      <p:pic>
        <p:nvPicPr>
          <p:cNvPr id="8" name="Picture 7"/>
          <p:cNvPicPr>
            <a:picLocks noChangeAspect="1"/>
          </p:cNvPicPr>
          <p:nvPr/>
        </p:nvPicPr>
        <p:blipFill rotWithShape="1">
          <a:blip r:embed="rId3">
            <a:extLst>
              <a:ext uri="{28A0092B-C50C-407E-A947-70E740481C1C}">
                <a14:useLocalDpi xmlns:a14="http://schemas.microsoft.com/office/drawing/2010/main" val="0"/>
              </a:ext>
            </a:extLst>
          </a:blip>
          <a:srcRect l="54897" t="44377" r="1504" b="47231"/>
          <a:stretch/>
        </p:blipFill>
        <p:spPr>
          <a:xfrm>
            <a:off x="8252523" y="1689056"/>
            <a:ext cx="2704123" cy="289169"/>
          </a:xfrm>
          <a:prstGeom prst="rect">
            <a:avLst/>
          </a:prstGeom>
        </p:spPr>
      </p:pic>
      <p:sp>
        <p:nvSpPr>
          <p:cNvPr id="9" name="TextBox 8"/>
          <p:cNvSpPr txBox="1"/>
          <p:nvPr/>
        </p:nvSpPr>
        <p:spPr>
          <a:xfrm>
            <a:off x="8221926" y="115216"/>
            <a:ext cx="1959767" cy="646331"/>
          </a:xfrm>
          <a:prstGeom prst="rect">
            <a:avLst/>
          </a:prstGeom>
          <a:noFill/>
        </p:spPr>
        <p:txBody>
          <a:bodyPr wrap="none" rtlCol="0">
            <a:spAutoFit/>
          </a:bodyPr>
          <a:lstStyle/>
          <a:p>
            <a:r>
              <a:rPr lang="en-US" b="1" dirty="0"/>
              <a:t>Kalamazoo County</a:t>
            </a:r>
          </a:p>
          <a:p>
            <a:r>
              <a:rPr lang="en-US" b="1" dirty="0"/>
              <a:t>Study Area</a:t>
            </a:r>
          </a:p>
        </p:txBody>
      </p:sp>
      <p:pic>
        <p:nvPicPr>
          <p:cNvPr id="2" name="Picture 1"/>
          <p:cNvPicPr>
            <a:picLocks noChangeAspect="1"/>
          </p:cNvPicPr>
          <p:nvPr/>
        </p:nvPicPr>
        <p:blipFill>
          <a:blip r:embed="rId4"/>
          <a:stretch>
            <a:fillRect/>
          </a:stretch>
        </p:blipFill>
        <p:spPr>
          <a:xfrm>
            <a:off x="1558102" y="0"/>
            <a:ext cx="6764397" cy="6858000"/>
          </a:xfrm>
          <a:prstGeom prst="rect">
            <a:avLst/>
          </a:prstGeom>
        </p:spPr>
      </p:pic>
    </p:spTree>
    <p:extLst>
      <p:ext uri="{BB962C8B-B14F-4D97-AF65-F5344CB8AC3E}">
        <p14:creationId xmlns:p14="http://schemas.microsoft.com/office/powerpoint/2010/main" val="16641135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235200" y="1311192"/>
            <a:ext cx="7454900" cy="5154104"/>
          </a:xfrm>
          <a:prstGeom prst="rect">
            <a:avLst/>
          </a:prstGeom>
        </p:spPr>
      </p:pic>
      <p:sp>
        <p:nvSpPr>
          <p:cNvPr id="3" name="TextBox 2"/>
          <p:cNvSpPr txBox="1"/>
          <p:nvPr/>
        </p:nvSpPr>
        <p:spPr>
          <a:xfrm>
            <a:off x="1524000" y="1"/>
            <a:ext cx="7854138" cy="1200329"/>
          </a:xfrm>
          <a:prstGeom prst="rect">
            <a:avLst/>
          </a:prstGeom>
          <a:noFill/>
        </p:spPr>
        <p:txBody>
          <a:bodyPr wrap="none" rtlCol="0">
            <a:spAutoFit/>
          </a:bodyPr>
          <a:lstStyle/>
          <a:p>
            <a:r>
              <a:rPr lang="en-US" sz="3600" b="1" dirty="0"/>
              <a:t>Kalamazoo County Population Trends &amp; </a:t>
            </a:r>
          </a:p>
          <a:p>
            <a:r>
              <a:rPr lang="en-US" sz="3600" b="1" dirty="0"/>
              <a:t>Projection by Age Group (2005-2020)</a:t>
            </a:r>
          </a:p>
        </p:txBody>
      </p:sp>
      <p:sp>
        <p:nvSpPr>
          <p:cNvPr id="4" name="Title 1"/>
          <p:cNvSpPr txBox="1">
            <a:spLocks/>
          </p:cNvSpPr>
          <p:nvPr/>
        </p:nvSpPr>
        <p:spPr>
          <a:xfrm>
            <a:off x="1649176" y="6399426"/>
            <a:ext cx="5234225" cy="458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t>Source: US Census Bureau ACS, 2015</a:t>
            </a:r>
          </a:p>
        </p:txBody>
      </p:sp>
      <p:sp>
        <p:nvSpPr>
          <p:cNvPr id="5" name="TextBox 4"/>
          <p:cNvSpPr txBox="1"/>
          <p:nvPr/>
        </p:nvSpPr>
        <p:spPr>
          <a:xfrm>
            <a:off x="3190470" y="1440754"/>
            <a:ext cx="3311931" cy="1200329"/>
          </a:xfrm>
          <a:prstGeom prst="rect">
            <a:avLst/>
          </a:prstGeom>
          <a:solidFill>
            <a:schemeClr val="bg1"/>
          </a:solidFill>
        </p:spPr>
        <p:txBody>
          <a:bodyPr wrap="square" rtlCol="0">
            <a:spAutoFit/>
          </a:bodyPr>
          <a:lstStyle/>
          <a:p>
            <a:r>
              <a:rPr lang="en-US" b="1" dirty="0"/>
              <a:t>19.5 percent of Michigan’s population will be 65 and older by 2020—an increase of 38.1 percent from 2005.</a:t>
            </a:r>
          </a:p>
        </p:txBody>
      </p:sp>
    </p:spTree>
    <p:extLst>
      <p:ext uri="{BB962C8B-B14F-4D97-AF65-F5344CB8AC3E}">
        <p14:creationId xmlns:p14="http://schemas.microsoft.com/office/powerpoint/2010/main" val="2636564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7731BB3-ADCE-42F3-846C-137662B27E82}"/>
              </a:ext>
            </a:extLst>
          </p:cNvPr>
          <p:cNvPicPr>
            <a:picLocks noChangeAspect="1"/>
          </p:cNvPicPr>
          <p:nvPr/>
        </p:nvPicPr>
        <p:blipFill>
          <a:blip r:embed="rId3"/>
          <a:stretch>
            <a:fillRect/>
          </a:stretch>
        </p:blipFill>
        <p:spPr>
          <a:xfrm>
            <a:off x="482877" y="687457"/>
            <a:ext cx="11039280" cy="5226326"/>
          </a:xfrm>
          <a:prstGeom prst="rect">
            <a:avLst/>
          </a:prstGeom>
        </p:spPr>
      </p:pic>
      <p:sp>
        <p:nvSpPr>
          <p:cNvPr id="7" name="Rectangle 6">
            <a:extLst>
              <a:ext uri="{FF2B5EF4-FFF2-40B4-BE49-F238E27FC236}">
                <a16:creationId xmlns:a16="http://schemas.microsoft.com/office/drawing/2014/main" id="{1EC26461-59D8-4146-AD9C-0FD7CE688104}"/>
              </a:ext>
            </a:extLst>
          </p:cNvPr>
          <p:cNvSpPr/>
          <p:nvPr/>
        </p:nvSpPr>
        <p:spPr>
          <a:xfrm>
            <a:off x="5930348" y="5708878"/>
            <a:ext cx="6096000" cy="923330"/>
          </a:xfrm>
          <a:prstGeom prst="rect">
            <a:avLst/>
          </a:prstGeom>
        </p:spPr>
        <p:txBody>
          <a:bodyPr>
            <a:spAutoFit/>
          </a:bodyPr>
          <a:lstStyle/>
          <a:p>
            <a:r>
              <a:rPr lang="en-US" dirty="0">
                <a:solidFill>
                  <a:srgbClr val="616265"/>
                </a:solidFill>
                <a:latin typeface="Montserrat" panose="02000505000000020004" pitchFamily="2" charset="0"/>
              </a:rPr>
              <a:t>Over 25% of pedestrian fatalities were seniors, despite making up only around 12% of the region’s population. </a:t>
            </a:r>
            <a:endParaRPr lang="en-US" dirty="0"/>
          </a:p>
        </p:txBody>
      </p:sp>
    </p:spTree>
    <p:extLst>
      <p:ext uri="{BB962C8B-B14F-4D97-AF65-F5344CB8AC3E}">
        <p14:creationId xmlns:p14="http://schemas.microsoft.com/office/powerpoint/2010/main" val="14675103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2019301" y="1037174"/>
            <a:ext cx="7785099" cy="5367621"/>
          </a:xfrm>
          <a:prstGeom prst="rect">
            <a:avLst/>
          </a:prstGeom>
        </p:spPr>
      </p:pic>
      <p:sp>
        <p:nvSpPr>
          <p:cNvPr id="3" name="Title 1"/>
          <p:cNvSpPr txBox="1">
            <a:spLocks/>
          </p:cNvSpPr>
          <p:nvPr/>
        </p:nvSpPr>
        <p:spPr>
          <a:xfrm>
            <a:off x="1649176" y="6399426"/>
            <a:ext cx="5234225" cy="458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t>Source: US Census Bureau ACS, 2015</a:t>
            </a:r>
          </a:p>
        </p:txBody>
      </p:sp>
      <p:sp>
        <p:nvSpPr>
          <p:cNvPr id="4" name="TextBox 3"/>
          <p:cNvSpPr txBox="1"/>
          <p:nvPr/>
        </p:nvSpPr>
        <p:spPr>
          <a:xfrm>
            <a:off x="1524001" y="1"/>
            <a:ext cx="5967275" cy="1200329"/>
          </a:xfrm>
          <a:prstGeom prst="rect">
            <a:avLst/>
          </a:prstGeom>
          <a:noFill/>
        </p:spPr>
        <p:txBody>
          <a:bodyPr wrap="none" rtlCol="0">
            <a:spAutoFit/>
          </a:bodyPr>
          <a:lstStyle/>
          <a:p>
            <a:r>
              <a:rPr lang="en-US" sz="3600" b="1" dirty="0"/>
              <a:t>Disability Status by Age Group</a:t>
            </a:r>
          </a:p>
          <a:p>
            <a:r>
              <a:rPr lang="en-US" sz="3600" b="1" dirty="0"/>
              <a:t>Kalamazoo County (2015)</a:t>
            </a:r>
          </a:p>
        </p:txBody>
      </p:sp>
      <p:sp>
        <p:nvSpPr>
          <p:cNvPr id="7" name="Rectangle 6"/>
          <p:cNvSpPr/>
          <p:nvPr/>
        </p:nvSpPr>
        <p:spPr>
          <a:xfrm>
            <a:off x="4482186" y="2104836"/>
            <a:ext cx="3226714" cy="923330"/>
          </a:xfrm>
          <a:prstGeom prst="rect">
            <a:avLst/>
          </a:prstGeom>
          <a:solidFill>
            <a:schemeClr val="bg1"/>
          </a:solidFill>
        </p:spPr>
        <p:txBody>
          <a:bodyPr wrap="square">
            <a:spAutoFit/>
          </a:bodyPr>
          <a:lstStyle/>
          <a:p>
            <a:r>
              <a:rPr lang="en-US" b="1" dirty="0"/>
              <a:t>32,591 or 12.8% of the county population reports having some form of disability</a:t>
            </a:r>
          </a:p>
        </p:txBody>
      </p:sp>
    </p:spTree>
    <p:extLst>
      <p:ext uri="{BB962C8B-B14F-4D97-AF65-F5344CB8AC3E}">
        <p14:creationId xmlns:p14="http://schemas.microsoft.com/office/powerpoint/2010/main" val="1477591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006349" y="1063027"/>
            <a:ext cx="7772651" cy="5367221"/>
          </a:xfrm>
          <a:prstGeom prst="rect">
            <a:avLst/>
          </a:prstGeom>
        </p:spPr>
      </p:pic>
      <p:sp>
        <p:nvSpPr>
          <p:cNvPr id="3" name="Title 1"/>
          <p:cNvSpPr txBox="1">
            <a:spLocks/>
          </p:cNvSpPr>
          <p:nvPr/>
        </p:nvSpPr>
        <p:spPr>
          <a:xfrm>
            <a:off x="1649176" y="6399426"/>
            <a:ext cx="5234225" cy="458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t>Source: US Census Bureau ACS, 2015</a:t>
            </a:r>
          </a:p>
        </p:txBody>
      </p:sp>
      <p:sp>
        <p:nvSpPr>
          <p:cNvPr id="4" name="TextBox 3"/>
          <p:cNvSpPr txBox="1"/>
          <p:nvPr/>
        </p:nvSpPr>
        <p:spPr>
          <a:xfrm>
            <a:off x="1524001" y="1"/>
            <a:ext cx="5967275" cy="1200329"/>
          </a:xfrm>
          <a:prstGeom prst="rect">
            <a:avLst/>
          </a:prstGeom>
          <a:noFill/>
        </p:spPr>
        <p:txBody>
          <a:bodyPr wrap="none" rtlCol="0">
            <a:spAutoFit/>
          </a:bodyPr>
          <a:lstStyle/>
          <a:p>
            <a:r>
              <a:rPr lang="en-US" sz="3600" b="1" dirty="0"/>
              <a:t>Disability Status by Age Group</a:t>
            </a:r>
          </a:p>
          <a:p>
            <a:r>
              <a:rPr lang="en-US" sz="3600" b="1" dirty="0"/>
              <a:t>Kalamazoo County (2015)</a:t>
            </a:r>
          </a:p>
        </p:txBody>
      </p:sp>
      <p:sp>
        <p:nvSpPr>
          <p:cNvPr id="9" name="Rectangle 8"/>
          <p:cNvSpPr/>
          <p:nvPr/>
        </p:nvSpPr>
        <p:spPr>
          <a:xfrm>
            <a:off x="4139286" y="1999383"/>
            <a:ext cx="2502814" cy="923330"/>
          </a:xfrm>
          <a:prstGeom prst="rect">
            <a:avLst/>
          </a:prstGeom>
          <a:solidFill>
            <a:schemeClr val="bg1"/>
          </a:solidFill>
        </p:spPr>
        <p:txBody>
          <a:bodyPr wrap="square">
            <a:spAutoFit/>
          </a:bodyPr>
          <a:lstStyle/>
          <a:p>
            <a:r>
              <a:rPr lang="en-US" b="1" dirty="0"/>
              <a:t>68.7% of people reporting a disability are of working age 18-64) </a:t>
            </a:r>
          </a:p>
        </p:txBody>
      </p:sp>
    </p:spTree>
    <p:extLst>
      <p:ext uri="{BB962C8B-B14F-4D97-AF65-F5344CB8AC3E}">
        <p14:creationId xmlns:p14="http://schemas.microsoft.com/office/powerpoint/2010/main" val="33108822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3">
            <a:extLst>
              <a:ext uri="{28A0092B-C50C-407E-A947-70E740481C1C}">
                <a14:useLocalDpi xmlns:a14="http://schemas.microsoft.com/office/drawing/2010/main" val="0"/>
              </a:ext>
            </a:extLst>
          </a:blip>
          <a:srcRect/>
          <a:stretch>
            <a:fillRect/>
          </a:stretch>
        </p:blipFill>
        <p:spPr bwMode="auto">
          <a:xfrm>
            <a:off x="2513012" y="876080"/>
            <a:ext cx="7418388" cy="5293596"/>
          </a:xfrm>
          <a:prstGeom prst="rect">
            <a:avLst/>
          </a:prstGeom>
          <a:noFill/>
        </p:spPr>
      </p:pic>
      <p:sp>
        <p:nvSpPr>
          <p:cNvPr id="3" name="Title 1"/>
          <p:cNvSpPr txBox="1">
            <a:spLocks/>
          </p:cNvSpPr>
          <p:nvPr/>
        </p:nvSpPr>
        <p:spPr>
          <a:xfrm>
            <a:off x="1649176" y="6399426"/>
            <a:ext cx="5234225" cy="458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t>Source: US Census Bureau ACS, 2015</a:t>
            </a:r>
          </a:p>
        </p:txBody>
      </p:sp>
      <p:sp>
        <p:nvSpPr>
          <p:cNvPr id="4" name="TextBox 3"/>
          <p:cNvSpPr txBox="1"/>
          <p:nvPr/>
        </p:nvSpPr>
        <p:spPr>
          <a:xfrm>
            <a:off x="1524001" y="1"/>
            <a:ext cx="5104731" cy="646331"/>
          </a:xfrm>
          <a:prstGeom prst="rect">
            <a:avLst/>
          </a:prstGeom>
          <a:noFill/>
        </p:spPr>
        <p:txBody>
          <a:bodyPr wrap="none" rtlCol="0">
            <a:spAutoFit/>
          </a:bodyPr>
          <a:lstStyle/>
          <a:p>
            <a:r>
              <a:rPr lang="en-US" sz="3600" b="1" dirty="0"/>
              <a:t>Disability Category (2015)</a:t>
            </a:r>
          </a:p>
        </p:txBody>
      </p:sp>
      <p:sp>
        <p:nvSpPr>
          <p:cNvPr id="5" name="TextBox 4"/>
          <p:cNvSpPr txBox="1"/>
          <p:nvPr/>
        </p:nvSpPr>
        <p:spPr>
          <a:xfrm>
            <a:off x="4076366" y="5705382"/>
            <a:ext cx="2858413" cy="923330"/>
          </a:xfrm>
          <a:prstGeom prst="rect">
            <a:avLst/>
          </a:prstGeom>
          <a:noFill/>
        </p:spPr>
        <p:txBody>
          <a:bodyPr wrap="square" rtlCol="0">
            <a:spAutoFit/>
          </a:bodyPr>
          <a:lstStyle/>
          <a:p>
            <a:r>
              <a:rPr lang="en-US" dirty="0"/>
              <a:t>Having serious difficulty walking or climbing stairs.</a:t>
            </a:r>
          </a:p>
          <a:p>
            <a:endParaRPr lang="en-US" dirty="0"/>
          </a:p>
        </p:txBody>
      </p:sp>
    </p:spTree>
    <p:extLst>
      <p:ext uri="{BB962C8B-B14F-4D97-AF65-F5344CB8AC3E}">
        <p14:creationId xmlns:p14="http://schemas.microsoft.com/office/powerpoint/2010/main" val="17282869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917700" y="1047930"/>
            <a:ext cx="7835900" cy="5402647"/>
          </a:xfrm>
          <a:prstGeom prst="rect">
            <a:avLst/>
          </a:prstGeom>
        </p:spPr>
      </p:pic>
      <p:sp>
        <p:nvSpPr>
          <p:cNvPr id="5" name="Title 1"/>
          <p:cNvSpPr txBox="1">
            <a:spLocks/>
          </p:cNvSpPr>
          <p:nvPr/>
        </p:nvSpPr>
        <p:spPr>
          <a:xfrm>
            <a:off x="1649176" y="6399426"/>
            <a:ext cx="5234225" cy="458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t>Source: US Census Bureau ACS, 2015</a:t>
            </a:r>
          </a:p>
        </p:txBody>
      </p:sp>
      <p:sp>
        <p:nvSpPr>
          <p:cNvPr id="3" name="TextBox 2"/>
          <p:cNvSpPr txBox="1"/>
          <p:nvPr/>
        </p:nvSpPr>
        <p:spPr>
          <a:xfrm>
            <a:off x="1524000" y="1"/>
            <a:ext cx="6374822" cy="1200329"/>
          </a:xfrm>
          <a:prstGeom prst="rect">
            <a:avLst/>
          </a:prstGeom>
          <a:noFill/>
        </p:spPr>
        <p:txBody>
          <a:bodyPr wrap="none" rtlCol="0">
            <a:spAutoFit/>
          </a:bodyPr>
          <a:lstStyle/>
          <a:p>
            <a:r>
              <a:rPr lang="en-US" sz="3600" b="1" dirty="0"/>
              <a:t>Employment by Disability Status</a:t>
            </a:r>
          </a:p>
          <a:p>
            <a:r>
              <a:rPr lang="en-US" sz="3600" b="1" dirty="0"/>
              <a:t>Kalamazoo County (2015)</a:t>
            </a:r>
          </a:p>
        </p:txBody>
      </p:sp>
    </p:spTree>
    <p:extLst>
      <p:ext uri="{BB962C8B-B14F-4D97-AF65-F5344CB8AC3E}">
        <p14:creationId xmlns:p14="http://schemas.microsoft.com/office/powerpoint/2010/main" val="20031953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24000" y="1"/>
            <a:ext cx="6149056" cy="1200329"/>
          </a:xfrm>
          <a:prstGeom prst="rect">
            <a:avLst/>
          </a:prstGeom>
          <a:noFill/>
        </p:spPr>
        <p:txBody>
          <a:bodyPr wrap="none" rtlCol="0">
            <a:spAutoFit/>
          </a:bodyPr>
          <a:lstStyle/>
          <a:p>
            <a:r>
              <a:rPr lang="en-US" sz="3600" b="1" dirty="0"/>
              <a:t>Work Commute Mode Share, </a:t>
            </a:r>
          </a:p>
          <a:p>
            <a:r>
              <a:rPr lang="en-US" sz="3600" b="1" dirty="0"/>
              <a:t>Kalamazoo County (2000-2015)</a:t>
            </a:r>
          </a:p>
        </p:txBody>
      </p:sp>
      <p:sp>
        <p:nvSpPr>
          <p:cNvPr id="4" name="Title 1"/>
          <p:cNvSpPr txBox="1">
            <a:spLocks/>
          </p:cNvSpPr>
          <p:nvPr/>
        </p:nvSpPr>
        <p:spPr>
          <a:xfrm>
            <a:off x="1649176" y="6399426"/>
            <a:ext cx="5234225" cy="458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t>Source: US Census Bureau ACS, 2000-2015</a:t>
            </a:r>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1606551" y="1173162"/>
            <a:ext cx="8877861" cy="5126038"/>
          </a:xfrm>
          <a:prstGeom prst="rect">
            <a:avLst/>
          </a:prstGeom>
          <a:noFill/>
        </p:spPr>
      </p:pic>
    </p:spTree>
    <p:extLst>
      <p:ext uri="{BB962C8B-B14F-4D97-AF65-F5344CB8AC3E}">
        <p14:creationId xmlns:p14="http://schemas.microsoft.com/office/powerpoint/2010/main" val="26303231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1" r="44681"/>
          <a:stretch/>
        </p:blipFill>
        <p:spPr>
          <a:xfrm>
            <a:off x="1524000" y="214865"/>
            <a:ext cx="6400800" cy="6428273"/>
          </a:xfrm>
          <a:prstGeom prst="rect">
            <a:avLst/>
          </a:prstGeom>
        </p:spPr>
      </p:pic>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54897" t="3342" r="1504" b="-3342"/>
          <a:stretch/>
        </p:blipFill>
        <p:spPr>
          <a:xfrm>
            <a:off x="7838833" y="273420"/>
            <a:ext cx="2704123" cy="3445674"/>
          </a:xfrm>
          <a:prstGeom prst="rect">
            <a:avLst/>
          </a:prstGeom>
        </p:spPr>
      </p:pic>
    </p:spTree>
    <p:extLst>
      <p:ext uri="{BB962C8B-B14F-4D97-AF65-F5344CB8AC3E}">
        <p14:creationId xmlns:p14="http://schemas.microsoft.com/office/powerpoint/2010/main" val="27531494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r="44302"/>
          <a:stretch/>
        </p:blipFill>
        <p:spPr>
          <a:xfrm>
            <a:off x="1524000" y="236786"/>
            <a:ext cx="6400800" cy="6384431"/>
          </a:xfrm>
          <a:prstGeom prst="rect">
            <a:avLst/>
          </a:prstGeom>
        </p:spPr>
      </p:pic>
      <p:pic>
        <p:nvPicPr>
          <p:cNvPr id="4" name="Picture 3"/>
          <p:cNvPicPr>
            <a:picLocks noChangeAspect="1"/>
          </p:cNvPicPr>
          <p:nvPr/>
        </p:nvPicPr>
        <p:blipFill rotWithShape="1">
          <a:blip r:embed="rId4">
            <a:extLst>
              <a:ext uri="{28A0092B-C50C-407E-A947-70E740481C1C}">
                <a14:useLocalDpi xmlns:a14="http://schemas.microsoft.com/office/drawing/2010/main" val="0"/>
              </a:ext>
            </a:extLst>
          </a:blip>
          <a:srcRect l="54897" t="3342" r="1504" b="-3342"/>
          <a:stretch/>
        </p:blipFill>
        <p:spPr>
          <a:xfrm>
            <a:off x="7838833" y="273420"/>
            <a:ext cx="2704123" cy="3445674"/>
          </a:xfrm>
          <a:prstGeom prst="rect">
            <a:avLst/>
          </a:prstGeom>
        </p:spPr>
      </p:pic>
    </p:spTree>
    <p:extLst>
      <p:ext uri="{BB962C8B-B14F-4D97-AF65-F5344CB8AC3E}">
        <p14:creationId xmlns:p14="http://schemas.microsoft.com/office/powerpoint/2010/main" val="30851568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182880"/>
            <a:ext cx="6349978" cy="6492240"/>
          </a:xfrm>
          <a:prstGeom prst="rect">
            <a:avLst/>
          </a:prstGeom>
        </p:spPr>
      </p:pic>
      <p:pic>
        <p:nvPicPr>
          <p:cNvPr id="7" name="Picture 6"/>
          <p:cNvPicPr/>
          <p:nvPr/>
        </p:nvPicPr>
        <p:blipFill rotWithShape="1">
          <a:blip r:embed="rId4"/>
          <a:srcRect r="66906"/>
          <a:stretch/>
        </p:blipFill>
        <p:spPr>
          <a:xfrm>
            <a:off x="7873978" y="182881"/>
            <a:ext cx="1778924" cy="4555633"/>
          </a:xfrm>
          <a:prstGeom prst="rect">
            <a:avLst/>
          </a:prstGeom>
        </p:spPr>
      </p:pic>
      <p:pic>
        <p:nvPicPr>
          <p:cNvPr id="8" name="Picture 7"/>
          <p:cNvPicPr/>
          <p:nvPr/>
        </p:nvPicPr>
        <p:blipFill rotWithShape="1">
          <a:blip r:embed="rId4"/>
          <a:srcRect l="34434" b="71811"/>
          <a:stretch/>
        </p:blipFill>
        <p:spPr>
          <a:xfrm>
            <a:off x="7815787" y="4634475"/>
            <a:ext cx="2680294" cy="976617"/>
          </a:xfrm>
          <a:prstGeom prst="rect">
            <a:avLst/>
          </a:prstGeom>
        </p:spPr>
      </p:pic>
      <p:pic>
        <p:nvPicPr>
          <p:cNvPr id="10" name="Picture 9"/>
          <p:cNvPicPr/>
          <p:nvPr/>
        </p:nvPicPr>
        <p:blipFill rotWithShape="1">
          <a:blip r:embed="rId4"/>
          <a:srcRect l="37485" t="32755" r="36080" b="31973"/>
          <a:stretch/>
        </p:blipFill>
        <p:spPr>
          <a:xfrm>
            <a:off x="7873979" y="5503028"/>
            <a:ext cx="911573" cy="1030777"/>
          </a:xfrm>
          <a:prstGeom prst="rect">
            <a:avLst/>
          </a:prstGeom>
        </p:spPr>
      </p:pic>
      <p:sp>
        <p:nvSpPr>
          <p:cNvPr id="9" name="TextBox 8"/>
          <p:cNvSpPr txBox="1"/>
          <p:nvPr/>
        </p:nvSpPr>
        <p:spPr>
          <a:xfrm>
            <a:off x="8755798" y="5695250"/>
            <a:ext cx="2566408" cy="646331"/>
          </a:xfrm>
          <a:prstGeom prst="rect">
            <a:avLst/>
          </a:prstGeom>
          <a:noFill/>
        </p:spPr>
        <p:txBody>
          <a:bodyPr wrap="none" rtlCol="0">
            <a:spAutoFit/>
          </a:bodyPr>
          <a:lstStyle/>
          <a:p>
            <a:r>
              <a:rPr lang="en-US" sz="3600" b="1" dirty="0"/>
              <a:t>Private Auto</a:t>
            </a:r>
          </a:p>
        </p:txBody>
      </p:sp>
    </p:spTree>
    <p:extLst>
      <p:ext uri="{BB962C8B-B14F-4D97-AF65-F5344CB8AC3E}">
        <p14:creationId xmlns:p14="http://schemas.microsoft.com/office/powerpoint/2010/main" val="8671437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p:nvPr/>
        </p:nvPicPr>
        <p:blipFill rotWithShape="1">
          <a:blip r:embed="rId3"/>
          <a:srcRect r="66906"/>
          <a:stretch/>
        </p:blipFill>
        <p:spPr>
          <a:xfrm>
            <a:off x="7873978" y="182881"/>
            <a:ext cx="1778924" cy="4555633"/>
          </a:xfrm>
          <a:prstGeom prst="rect">
            <a:avLst/>
          </a:prstGeom>
        </p:spPr>
      </p:pic>
      <p:pic>
        <p:nvPicPr>
          <p:cNvPr id="8" name="Picture 7"/>
          <p:cNvPicPr/>
          <p:nvPr/>
        </p:nvPicPr>
        <p:blipFill rotWithShape="1">
          <a:blip r:embed="rId3"/>
          <a:srcRect l="34434" b="71811"/>
          <a:stretch/>
        </p:blipFill>
        <p:spPr>
          <a:xfrm>
            <a:off x="7815787" y="4634475"/>
            <a:ext cx="2680294" cy="976617"/>
          </a:xfrm>
          <a:prstGeom prst="rect">
            <a:avLst/>
          </a:prstGeom>
        </p:spPr>
      </p:pic>
      <p:pic>
        <p:nvPicPr>
          <p:cNvPr id="10" name="Picture 9"/>
          <p:cNvPicPr/>
          <p:nvPr/>
        </p:nvPicPr>
        <p:blipFill rotWithShape="1">
          <a:blip r:embed="rId3"/>
          <a:srcRect l="37485" t="32755" r="36080" b="31973"/>
          <a:stretch/>
        </p:blipFill>
        <p:spPr>
          <a:xfrm>
            <a:off x="7873979" y="5503028"/>
            <a:ext cx="911573" cy="1030777"/>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0" y="184948"/>
            <a:ext cx="6345936" cy="6488107"/>
          </a:xfrm>
          <a:prstGeom prst="rect">
            <a:avLst/>
          </a:prstGeom>
        </p:spPr>
      </p:pic>
      <p:sp>
        <p:nvSpPr>
          <p:cNvPr id="6" name="TextBox 5"/>
          <p:cNvSpPr txBox="1"/>
          <p:nvPr/>
        </p:nvSpPr>
        <p:spPr>
          <a:xfrm>
            <a:off x="8755798" y="5695250"/>
            <a:ext cx="3183757" cy="1200329"/>
          </a:xfrm>
          <a:prstGeom prst="rect">
            <a:avLst/>
          </a:prstGeom>
          <a:noFill/>
        </p:spPr>
        <p:txBody>
          <a:bodyPr wrap="none" rtlCol="0">
            <a:spAutoFit/>
          </a:bodyPr>
          <a:lstStyle/>
          <a:p>
            <a:r>
              <a:rPr lang="en-US" sz="3600" b="1" dirty="0"/>
              <a:t>Public Transit + </a:t>
            </a:r>
          </a:p>
          <a:p>
            <a:r>
              <a:rPr lang="en-US" sz="3600" b="1" dirty="0"/>
              <a:t>Walking</a:t>
            </a:r>
          </a:p>
        </p:txBody>
      </p:sp>
    </p:spTree>
    <p:extLst>
      <p:ext uri="{BB962C8B-B14F-4D97-AF65-F5344CB8AC3E}">
        <p14:creationId xmlns:p14="http://schemas.microsoft.com/office/powerpoint/2010/main" val="55155762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p:nvPr/>
        </p:nvPicPr>
        <p:blipFill rotWithShape="1">
          <a:blip r:embed="rId3"/>
          <a:srcRect r="66906"/>
          <a:stretch/>
        </p:blipFill>
        <p:spPr>
          <a:xfrm>
            <a:off x="7873978" y="182881"/>
            <a:ext cx="1778924" cy="4555633"/>
          </a:xfrm>
          <a:prstGeom prst="rect">
            <a:avLst/>
          </a:prstGeom>
        </p:spPr>
      </p:pic>
      <p:pic>
        <p:nvPicPr>
          <p:cNvPr id="8" name="Picture 7"/>
          <p:cNvPicPr/>
          <p:nvPr/>
        </p:nvPicPr>
        <p:blipFill rotWithShape="1">
          <a:blip r:embed="rId3"/>
          <a:srcRect l="34434" b="71811"/>
          <a:stretch/>
        </p:blipFill>
        <p:spPr>
          <a:xfrm>
            <a:off x="7815787" y="4634475"/>
            <a:ext cx="2680294" cy="976617"/>
          </a:xfrm>
          <a:prstGeom prst="rect">
            <a:avLst/>
          </a:prstGeom>
        </p:spPr>
      </p:pic>
      <p:pic>
        <p:nvPicPr>
          <p:cNvPr id="10" name="Picture 9"/>
          <p:cNvPicPr/>
          <p:nvPr/>
        </p:nvPicPr>
        <p:blipFill rotWithShape="1">
          <a:blip r:embed="rId3"/>
          <a:srcRect l="37485" t="32755" r="36080" b="31973"/>
          <a:stretch/>
        </p:blipFill>
        <p:spPr>
          <a:xfrm>
            <a:off x="7873979" y="5503028"/>
            <a:ext cx="911573" cy="1030777"/>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0" y="184948"/>
            <a:ext cx="6345936" cy="6488107"/>
          </a:xfrm>
          <a:prstGeom prst="rect">
            <a:avLst/>
          </a:prstGeom>
        </p:spPr>
      </p:pic>
      <p:sp>
        <p:nvSpPr>
          <p:cNvPr id="6" name="TextBox 5"/>
          <p:cNvSpPr txBox="1"/>
          <p:nvPr/>
        </p:nvSpPr>
        <p:spPr>
          <a:xfrm>
            <a:off x="8755798" y="5695250"/>
            <a:ext cx="3268972" cy="1200329"/>
          </a:xfrm>
          <a:prstGeom prst="rect">
            <a:avLst/>
          </a:prstGeom>
          <a:noFill/>
        </p:spPr>
        <p:txBody>
          <a:bodyPr wrap="none" rtlCol="0">
            <a:spAutoFit/>
          </a:bodyPr>
          <a:lstStyle/>
          <a:p>
            <a:r>
              <a:rPr lang="en-US" sz="3600" b="1" dirty="0"/>
              <a:t>Public Transit + </a:t>
            </a:r>
            <a:br>
              <a:rPr lang="en-US" sz="3600" b="1" dirty="0"/>
            </a:br>
            <a:r>
              <a:rPr lang="en-US" sz="3600" b="1" dirty="0"/>
              <a:t>Limited Walking</a:t>
            </a:r>
          </a:p>
        </p:txBody>
      </p:sp>
    </p:spTree>
    <p:extLst>
      <p:ext uri="{BB962C8B-B14F-4D97-AF65-F5344CB8AC3E}">
        <p14:creationId xmlns:p14="http://schemas.microsoft.com/office/powerpoint/2010/main" val="249361234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p:nvPr/>
        </p:nvPicPr>
        <p:blipFill rotWithShape="1">
          <a:blip r:embed="rId3"/>
          <a:srcRect r="66906"/>
          <a:stretch/>
        </p:blipFill>
        <p:spPr>
          <a:xfrm>
            <a:off x="7873978" y="182881"/>
            <a:ext cx="1778924" cy="4555633"/>
          </a:xfrm>
          <a:prstGeom prst="rect">
            <a:avLst/>
          </a:prstGeom>
        </p:spPr>
      </p:pic>
      <p:pic>
        <p:nvPicPr>
          <p:cNvPr id="8" name="Picture 7"/>
          <p:cNvPicPr/>
          <p:nvPr/>
        </p:nvPicPr>
        <p:blipFill rotWithShape="1">
          <a:blip r:embed="rId3"/>
          <a:srcRect l="34434" b="71811"/>
          <a:stretch/>
        </p:blipFill>
        <p:spPr>
          <a:xfrm>
            <a:off x="7815787" y="4634475"/>
            <a:ext cx="2680294" cy="976617"/>
          </a:xfrm>
          <a:prstGeom prst="rect">
            <a:avLst/>
          </a:prstGeom>
        </p:spPr>
      </p:pic>
      <p:pic>
        <p:nvPicPr>
          <p:cNvPr id="10" name="Picture 9"/>
          <p:cNvPicPr/>
          <p:nvPr/>
        </p:nvPicPr>
        <p:blipFill rotWithShape="1">
          <a:blip r:embed="rId3"/>
          <a:srcRect l="37485" t="32755" r="36080" b="31973"/>
          <a:stretch/>
        </p:blipFill>
        <p:spPr>
          <a:xfrm>
            <a:off x="7873979" y="5503028"/>
            <a:ext cx="911573" cy="1030777"/>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0" y="184948"/>
            <a:ext cx="6345936" cy="6488107"/>
          </a:xfrm>
          <a:prstGeom prst="rect">
            <a:avLst/>
          </a:prstGeom>
        </p:spPr>
      </p:pic>
      <p:sp>
        <p:nvSpPr>
          <p:cNvPr id="11" name="TextBox 10">
            <a:extLst>
              <a:ext uri="{FF2B5EF4-FFF2-40B4-BE49-F238E27FC236}">
                <a16:creationId xmlns:a16="http://schemas.microsoft.com/office/drawing/2014/main" id="{AB951538-D2FF-4902-9902-684E8E3424E5}"/>
              </a:ext>
            </a:extLst>
          </p:cNvPr>
          <p:cNvSpPr txBox="1"/>
          <p:nvPr/>
        </p:nvSpPr>
        <p:spPr>
          <a:xfrm>
            <a:off x="8755798" y="5695250"/>
            <a:ext cx="2688428" cy="1200329"/>
          </a:xfrm>
          <a:prstGeom prst="rect">
            <a:avLst/>
          </a:prstGeom>
          <a:noFill/>
        </p:spPr>
        <p:txBody>
          <a:bodyPr wrap="none" rtlCol="0">
            <a:spAutoFit/>
          </a:bodyPr>
          <a:lstStyle/>
          <a:p>
            <a:r>
              <a:rPr lang="en-US" sz="3600" b="1" dirty="0"/>
              <a:t>Acc Transit + </a:t>
            </a:r>
            <a:br>
              <a:rPr lang="en-US" sz="3600" b="1" dirty="0"/>
            </a:br>
            <a:r>
              <a:rPr lang="en-US" sz="3600" b="1" dirty="0"/>
              <a:t>Walking</a:t>
            </a:r>
          </a:p>
        </p:txBody>
      </p:sp>
    </p:spTree>
    <p:extLst>
      <p:ext uri="{BB962C8B-B14F-4D97-AF65-F5344CB8AC3E}">
        <p14:creationId xmlns:p14="http://schemas.microsoft.com/office/powerpoint/2010/main" val="195942883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p:nvPr/>
        </p:nvPicPr>
        <p:blipFill rotWithShape="1">
          <a:blip r:embed="rId3"/>
          <a:srcRect r="66906"/>
          <a:stretch/>
        </p:blipFill>
        <p:spPr>
          <a:xfrm>
            <a:off x="7873978" y="182881"/>
            <a:ext cx="1778924" cy="4555633"/>
          </a:xfrm>
          <a:prstGeom prst="rect">
            <a:avLst/>
          </a:prstGeom>
        </p:spPr>
      </p:pic>
      <p:pic>
        <p:nvPicPr>
          <p:cNvPr id="8" name="Picture 7"/>
          <p:cNvPicPr/>
          <p:nvPr/>
        </p:nvPicPr>
        <p:blipFill rotWithShape="1">
          <a:blip r:embed="rId3"/>
          <a:srcRect l="34434" b="71811"/>
          <a:stretch/>
        </p:blipFill>
        <p:spPr>
          <a:xfrm>
            <a:off x="7815787" y="4634475"/>
            <a:ext cx="2680294" cy="976617"/>
          </a:xfrm>
          <a:prstGeom prst="rect">
            <a:avLst/>
          </a:prstGeom>
        </p:spPr>
      </p:pic>
      <p:pic>
        <p:nvPicPr>
          <p:cNvPr id="10" name="Picture 9"/>
          <p:cNvPicPr/>
          <p:nvPr/>
        </p:nvPicPr>
        <p:blipFill rotWithShape="1">
          <a:blip r:embed="rId3"/>
          <a:srcRect l="37485" t="32755" r="36080" b="31973"/>
          <a:stretch/>
        </p:blipFill>
        <p:spPr>
          <a:xfrm>
            <a:off x="7873979" y="5503028"/>
            <a:ext cx="911573" cy="1030777"/>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0" y="184948"/>
            <a:ext cx="6345936" cy="6488107"/>
          </a:xfrm>
          <a:prstGeom prst="rect">
            <a:avLst/>
          </a:prstGeom>
        </p:spPr>
      </p:pic>
      <p:sp>
        <p:nvSpPr>
          <p:cNvPr id="6" name="TextBox 5"/>
          <p:cNvSpPr txBox="1"/>
          <p:nvPr/>
        </p:nvSpPr>
        <p:spPr>
          <a:xfrm>
            <a:off x="8755798" y="5695250"/>
            <a:ext cx="3268972" cy="1200329"/>
          </a:xfrm>
          <a:prstGeom prst="rect">
            <a:avLst/>
          </a:prstGeom>
          <a:noFill/>
        </p:spPr>
        <p:txBody>
          <a:bodyPr wrap="none" rtlCol="0">
            <a:spAutoFit/>
          </a:bodyPr>
          <a:lstStyle/>
          <a:p>
            <a:r>
              <a:rPr lang="en-US" sz="3600" b="1" dirty="0"/>
              <a:t>Acc Transit + </a:t>
            </a:r>
            <a:br>
              <a:rPr lang="en-US" sz="3600" b="1" dirty="0"/>
            </a:br>
            <a:r>
              <a:rPr lang="en-US" sz="3600" b="1" dirty="0"/>
              <a:t>Limited Walking</a:t>
            </a:r>
          </a:p>
        </p:txBody>
      </p:sp>
    </p:spTree>
    <p:extLst>
      <p:ext uri="{BB962C8B-B14F-4D97-AF65-F5344CB8AC3E}">
        <p14:creationId xmlns:p14="http://schemas.microsoft.com/office/powerpoint/2010/main" val="2748199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524000" y="682680"/>
            <a:ext cx="9144000" cy="5492640"/>
          </a:xfrm>
          <a:prstGeom prst="rect">
            <a:avLst/>
          </a:prstGeom>
        </p:spPr>
      </p:pic>
    </p:spTree>
    <p:extLst>
      <p:ext uri="{BB962C8B-B14F-4D97-AF65-F5344CB8AC3E}">
        <p14:creationId xmlns:p14="http://schemas.microsoft.com/office/powerpoint/2010/main" val="22913501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524000" y="682680"/>
            <a:ext cx="9144000" cy="5492640"/>
          </a:xfrm>
          <a:prstGeom prst="rect">
            <a:avLst/>
          </a:prstGeom>
        </p:spPr>
      </p:pic>
    </p:spTree>
    <p:extLst>
      <p:ext uri="{BB962C8B-B14F-4D97-AF65-F5344CB8AC3E}">
        <p14:creationId xmlns:p14="http://schemas.microsoft.com/office/powerpoint/2010/main" val="189218176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24000" y="682680"/>
            <a:ext cx="9144000" cy="5492640"/>
          </a:xfrm>
          <a:prstGeom prst="rect">
            <a:avLst/>
          </a:prstGeom>
        </p:spPr>
      </p:pic>
    </p:spTree>
    <p:extLst>
      <p:ext uri="{BB962C8B-B14F-4D97-AF65-F5344CB8AC3E}">
        <p14:creationId xmlns:p14="http://schemas.microsoft.com/office/powerpoint/2010/main" val="207672821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24000" y="682680"/>
            <a:ext cx="9144000" cy="5492640"/>
          </a:xfrm>
          <a:prstGeom prst="rect">
            <a:avLst/>
          </a:prstGeom>
        </p:spPr>
      </p:pic>
    </p:spTree>
    <p:extLst>
      <p:ext uri="{BB962C8B-B14F-4D97-AF65-F5344CB8AC3E}">
        <p14:creationId xmlns:p14="http://schemas.microsoft.com/office/powerpoint/2010/main" val="118459398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24000" y="682680"/>
            <a:ext cx="9144000" cy="5492640"/>
          </a:xfrm>
          <a:prstGeom prst="rect">
            <a:avLst/>
          </a:prstGeom>
        </p:spPr>
      </p:pic>
    </p:spTree>
    <p:extLst>
      <p:ext uri="{BB962C8B-B14F-4D97-AF65-F5344CB8AC3E}">
        <p14:creationId xmlns:p14="http://schemas.microsoft.com/office/powerpoint/2010/main" val="18363723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524000" y="682680"/>
            <a:ext cx="9144000" cy="5492640"/>
          </a:xfrm>
          <a:prstGeom prst="rect">
            <a:avLst/>
          </a:prstGeom>
        </p:spPr>
      </p:pic>
    </p:spTree>
    <p:extLst>
      <p:ext uri="{BB962C8B-B14F-4D97-AF65-F5344CB8AC3E}">
        <p14:creationId xmlns:p14="http://schemas.microsoft.com/office/powerpoint/2010/main" val="17211959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5" name="Shape 234">
            <a:extLst>
              <a:ext uri="{FF2B5EF4-FFF2-40B4-BE49-F238E27FC236}">
                <a16:creationId xmlns:a16="http://schemas.microsoft.com/office/drawing/2014/main" id="{E16960FB-148C-469E-A40D-B62FA7460813}"/>
              </a:ext>
            </a:extLst>
          </p:cNvPr>
          <p:cNvPicPr preferRelativeResize="0"/>
          <p:nvPr/>
        </p:nvPicPr>
        <p:blipFill rotWithShape="1">
          <a:blip r:embed="rId3">
            <a:alphaModFix/>
          </a:blip>
          <a:srcRect l="66233" t="12309" r="25650" b="46658"/>
          <a:stretch/>
        </p:blipFill>
        <p:spPr>
          <a:xfrm>
            <a:off x="0" y="1"/>
            <a:ext cx="12192000" cy="723900"/>
          </a:xfrm>
          <a:prstGeom prst="rect">
            <a:avLst/>
          </a:prstGeom>
          <a:noFill/>
          <a:ln>
            <a:noFill/>
          </a:ln>
        </p:spPr>
      </p:pic>
      <p:sp>
        <p:nvSpPr>
          <p:cNvPr id="7" name="TextBox 6">
            <a:extLst>
              <a:ext uri="{FF2B5EF4-FFF2-40B4-BE49-F238E27FC236}">
                <a16:creationId xmlns:a16="http://schemas.microsoft.com/office/drawing/2014/main" id="{74C82C2E-67CD-4DFC-96E5-C0F68088611D}"/>
              </a:ext>
            </a:extLst>
          </p:cNvPr>
          <p:cNvSpPr txBox="1"/>
          <p:nvPr/>
        </p:nvSpPr>
        <p:spPr>
          <a:xfrm>
            <a:off x="0" y="48110"/>
            <a:ext cx="12191999" cy="584775"/>
          </a:xfrm>
          <a:prstGeom prst="rect">
            <a:avLst/>
          </a:prstGeom>
          <a:noFill/>
        </p:spPr>
        <p:txBody>
          <a:bodyPr wrap="square" rtlCol="0">
            <a:spAutoFit/>
          </a:bodyPr>
          <a:lstStyle/>
          <a:p>
            <a:r>
              <a:rPr lang="en-US" sz="3200" dirty="0">
                <a:solidFill>
                  <a:schemeClr val="bg1"/>
                </a:solidFill>
                <a:latin typeface="Franklin Gothic Demi Cond" panose="020B0706030402020204" pitchFamily="34" charset="0"/>
              </a:rPr>
              <a:t>GENDER GAPS</a:t>
            </a:r>
          </a:p>
        </p:txBody>
      </p:sp>
      <p:pic>
        <p:nvPicPr>
          <p:cNvPr id="3" name="Picture 2">
            <a:extLst>
              <a:ext uri="{FF2B5EF4-FFF2-40B4-BE49-F238E27FC236}">
                <a16:creationId xmlns:a16="http://schemas.microsoft.com/office/drawing/2014/main" id="{6371B760-2C69-4AB6-A864-D000584DC4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0330" y="1016276"/>
            <a:ext cx="6650182" cy="2743200"/>
          </a:xfrm>
          <a:prstGeom prst="rect">
            <a:avLst/>
          </a:prstGeom>
        </p:spPr>
      </p:pic>
      <p:sp>
        <p:nvSpPr>
          <p:cNvPr id="9" name="Rectangle 8">
            <a:extLst>
              <a:ext uri="{FF2B5EF4-FFF2-40B4-BE49-F238E27FC236}">
                <a16:creationId xmlns:a16="http://schemas.microsoft.com/office/drawing/2014/main" id="{6DB81E91-B84B-4E0E-9B35-D0827900C3A2}"/>
              </a:ext>
            </a:extLst>
          </p:cNvPr>
          <p:cNvSpPr/>
          <p:nvPr/>
        </p:nvSpPr>
        <p:spPr>
          <a:xfrm>
            <a:off x="563067" y="5389481"/>
            <a:ext cx="3061223" cy="1477328"/>
          </a:xfrm>
          <a:prstGeom prst="rect">
            <a:avLst/>
          </a:prstGeom>
        </p:spPr>
        <p:txBody>
          <a:bodyPr wrap="none">
            <a:spAutoFit/>
          </a:bodyPr>
          <a:lstStyle/>
          <a:p>
            <a:r>
              <a:rPr lang="en-US" dirty="0"/>
              <a:t>American Planning Association</a:t>
            </a:r>
          </a:p>
          <a:p>
            <a:r>
              <a:rPr lang="en-US" i="1" dirty="0"/>
              <a:t>Planning Magazine</a:t>
            </a:r>
          </a:p>
          <a:p>
            <a:r>
              <a:rPr lang="en-US" u="sng" dirty="0"/>
              <a:t>Mind the Gender Gap</a:t>
            </a:r>
          </a:p>
          <a:p>
            <a:r>
              <a:rPr lang="en-US" dirty="0"/>
              <a:t>February 2020</a:t>
            </a:r>
          </a:p>
          <a:p>
            <a:endParaRPr lang="en-US" b="1" dirty="0"/>
          </a:p>
        </p:txBody>
      </p:sp>
      <p:grpSp>
        <p:nvGrpSpPr>
          <p:cNvPr id="11" name="Group 10">
            <a:extLst>
              <a:ext uri="{FF2B5EF4-FFF2-40B4-BE49-F238E27FC236}">
                <a16:creationId xmlns:a16="http://schemas.microsoft.com/office/drawing/2014/main" id="{951A71C6-E5B5-4CDE-9B6E-ACB8E001E7BE}"/>
              </a:ext>
            </a:extLst>
          </p:cNvPr>
          <p:cNvGrpSpPr/>
          <p:nvPr/>
        </p:nvGrpSpPr>
        <p:grpSpPr>
          <a:xfrm>
            <a:off x="3925730" y="3786804"/>
            <a:ext cx="7940841" cy="2994164"/>
            <a:chOff x="3925730" y="3429000"/>
            <a:chExt cx="7940841" cy="2994164"/>
          </a:xfrm>
        </p:grpSpPr>
        <p:pic>
          <p:nvPicPr>
            <p:cNvPr id="8" name="Picture 7">
              <a:extLst>
                <a:ext uri="{FF2B5EF4-FFF2-40B4-BE49-F238E27FC236}">
                  <a16:creationId xmlns:a16="http://schemas.microsoft.com/office/drawing/2014/main" id="{C3A2C923-502E-4895-BC0A-BDF2C1EA7B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25730" y="3679964"/>
              <a:ext cx="7940841" cy="2743200"/>
            </a:xfrm>
            <a:prstGeom prst="rect">
              <a:avLst/>
            </a:prstGeom>
          </p:spPr>
        </p:pic>
        <p:sp>
          <p:nvSpPr>
            <p:cNvPr id="10" name="Rectangle 9">
              <a:extLst>
                <a:ext uri="{FF2B5EF4-FFF2-40B4-BE49-F238E27FC236}">
                  <a16:creationId xmlns:a16="http://schemas.microsoft.com/office/drawing/2014/main" id="{2CFE4B14-F65F-4E3E-8A21-3FE4DBD89665}"/>
                </a:ext>
              </a:extLst>
            </p:cNvPr>
            <p:cNvSpPr/>
            <p:nvPr/>
          </p:nvSpPr>
          <p:spPr>
            <a:xfrm>
              <a:off x="3925730" y="3429000"/>
              <a:ext cx="6142259" cy="369332"/>
            </a:xfrm>
            <a:prstGeom prst="rect">
              <a:avLst/>
            </a:prstGeom>
          </p:spPr>
          <p:txBody>
            <a:bodyPr wrap="none">
              <a:spAutoFit/>
            </a:bodyPr>
            <a:lstStyle/>
            <a:p>
              <a:r>
                <a:rPr lang="en-US" dirty="0"/>
                <a:t>How do you use ride-hailing services in relation to public transit</a:t>
              </a:r>
            </a:p>
          </p:txBody>
        </p:sp>
      </p:grpSp>
      <p:sp>
        <p:nvSpPr>
          <p:cNvPr id="13" name="Rectangle 12">
            <a:extLst>
              <a:ext uri="{FF2B5EF4-FFF2-40B4-BE49-F238E27FC236}">
                <a16:creationId xmlns:a16="http://schemas.microsoft.com/office/drawing/2014/main" id="{0039DA69-BF98-4E28-A64D-EC0E9A5D295D}"/>
              </a:ext>
            </a:extLst>
          </p:cNvPr>
          <p:cNvSpPr/>
          <p:nvPr/>
        </p:nvSpPr>
        <p:spPr>
          <a:xfrm>
            <a:off x="549964" y="688320"/>
            <a:ext cx="4346318" cy="369332"/>
          </a:xfrm>
          <a:prstGeom prst="rect">
            <a:avLst/>
          </a:prstGeom>
        </p:spPr>
        <p:txBody>
          <a:bodyPr wrap="none">
            <a:spAutoFit/>
          </a:bodyPr>
          <a:lstStyle/>
          <a:p>
            <a:r>
              <a:rPr lang="en-US" dirty="0"/>
              <a:t>Gender split of L.A. Metro bus and rail riders</a:t>
            </a:r>
          </a:p>
        </p:txBody>
      </p:sp>
    </p:spTree>
    <p:extLst>
      <p:ext uri="{BB962C8B-B14F-4D97-AF65-F5344CB8AC3E}">
        <p14:creationId xmlns:p14="http://schemas.microsoft.com/office/powerpoint/2010/main" val="2784326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5" name="Shape 234">
            <a:extLst>
              <a:ext uri="{FF2B5EF4-FFF2-40B4-BE49-F238E27FC236}">
                <a16:creationId xmlns:a16="http://schemas.microsoft.com/office/drawing/2014/main" id="{E16960FB-148C-469E-A40D-B62FA7460813}"/>
              </a:ext>
            </a:extLst>
          </p:cNvPr>
          <p:cNvPicPr preferRelativeResize="0"/>
          <p:nvPr/>
        </p:nvPicPr>
        <p:blipFill rotWithShape="1">
          <a:blip r:embed="rId3">
            <a:alphaModFix/>
          </a:blip>
          <a:srcRect l="66233" t="12309" r="25650" b="46658"/>
          <a:stretch/>
        </p:blipFill>
        <p:spPr>
          <a:xfrm>
            <a:off x="0" y="1"/>
            <a:ext cx="12192000" cy="723900"/>
          </a:xfrm>
          <a:prstGeom prst="rect">
            <a:avLst/>
          </a:prstGeom>
          <a:noFill/>
          <a:ln>
            <a:noFill/>
          </a:ln>
        </p:spPr>
      </p:pic>
      <p:sp>
        <p:nvSpPr>
          <p:cNvPr id="7" name="TextBox 6">
            <a:extLst>
              <a:ext uri="{FF2B5EF4-FFF2-40B4-BE49-F238E27FC236}">
                <a16:creationId xmlns:a16="http://schemas.microsoft.com/office/drawing/2014/main" id="{74C82C2E-67CD-4DFC-96E5-C0F68088611D}"/>
              </a:ext>
            </a:extLst>
          </p:cNvPr>
          <p:cNvSpPr txBox="1"/>
          <p:nvPr/>
        </p:nvSpPr>
        <p:spPr>
          <a:xfrm>
            <a:off x="0" y="48110"/>
            <a:ext cx="12191999" cy="584775"/>
          </a:xfrm>
          <a:prstGeom prst="rect">
            <a:avLst/>
          </a:prstGeom>
          <a:noFill/>
        </p:spPr>
        <p:txBody>
          <a:bodyPr wrap="square" rtlCol="0">
            <a:spAutoFit/>
          </a:bodyPr>
          <a:lstStyle/>
          <a:p>
            <a:r>
              <a:rPr lang="en-US" sz="3200" dirty="0">
                <a:solidFill>
                  <a:schemeClr val="bg1"/>
                </a:solidFill>
                <a:latin typeface="Franklin Gothic Demi Cond" panose="020B0706030402020204" pitchFamily="34" charset="0"/>
              </a:rPr>
              <a:t>GENDER GAPS</a:t>
            </a:r>
          </a:p>
        </p:txBody>
      </p:sp>
      <p:sp>
        <p:nvSpPr>
          <p:cNvPr id="9" name="Rectangle 8">
            <a:extLst>
              <a:ext uri="{FF2B5EF4-FFF2-40B4-BE49-F238E27FC236}">
                <a16:creationId xmlns:a16="http://schemas.microsoft.com/office/drawing/2014/main" id="{6DB81E91-B84B-4E0E-9B35-D0827900C3A2}"/>
              </a:ext>
            </a:extLst>
          </p:cNvPr>
          <p:cNvSpPr/>
          <p:nvPr/>
        </p:nvSpPr>
        <p:spPr>
          <a:xfrm>
            <a:off x="563067" y="5389481"/>
            <a:ext cx="3061223" cy="1477328"/>
          </a:xfrm>
          <a:prstGeom prst="rect">
            <a:avLst/>
          </a:prstGeom>
        </p:spPr>
        <p:txBody>
          <a:bodyPr wrap="none">
            <a:spAutoFit/>
          </a:bodyPr>
          <a:lstStyle/>
          <a:p>
            <a:r>
              <a:rPr lang="en-US" dirty="0"/>
              <a:t>American Planning Association</a:t>
            </a:r>
          </a:p>
          <a:p>
            <a:r>
              <a:rPr lang="en-US" i="1" dirty="0"/>
              <a:t>Planning Magazine</a:t>
            </a:r>
          </a:p>
          <a:p>
            <a:r>
              <a:rPr lang="en-US" u="sng" dirty="0"/>
              <a:t>Mind the Gender Gap</a:t>
            </a:r>
          </a:p>
          <a:p>
            <a:r>
              <a:rPr lang="en-US" dirty="0"/>
              <a:t>February 2020</a:t>
            </a:r>
          </a:p>
          <a:p>
            <a:endParaRPr lang="en-US" b="1" dirty="0"/>
          </a:p>
        </p:txBody>
      </p:sp>
      <p:sp>
        <p:nvSpPr>
          <p:cNvPr id="13" name="Rectangle 12">
            <a:extLst>
              <a:ext uri="{FF2B5EF4-FFF2-40B4-BE49-F238E27FC236}">
                <a16:creationId xmlns:a16="http://schemas.microsoft.com/office/drawing/2014/main" id="{0039DA69-BF98-4E28-A64D-EC0E9A5D295D}"/>
              </a:ext>
            </a:extLst>
          </p:cNvPr>
          <p:cNvSpPr/>
          <p:nvPr/>
        </p:nvSpPr>
        <p:spPr>
          <a:xfrm>
            <a:off x="3624290" y="934464"/>
            <a:ext cx="7038915" cy="369332"/>
          </a:xfrm>
          <a:prstGeom prst="rect">
            <a:avLst/>
          </a:prstGeom>
        </p:spPr>
        <p:txBody>
          <a:bodyPr wrap="none">
            <a:spAutoFit/>
          </a:bodyPr>
          <a:lstStyle/>
          <a:p>
            <a:r>
              <a:rPr lang="en-US" dirty="0"/>
              <a:t>L.A. Metro riders who have been sexually harassed in the past six months</a:t>
            </a:r>
          </a:p>
        </p:txBody>
      </p:sp>
      <p:pic>
        <p:nvPicPr>
          <p:cNvPr id="4" name="Picture 3">
            <a:extLst>
              <a:ext uri="{FF2B5EF4-FFF2-40B4-BE49-F238E27FC236}">
                <a16:creationId xmlns:a16="http://schemas.microsoft.com/office/drawing/2014/main" id="{DD3F1BCA-E331-4126-AFE9-1A990BBEDD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56991" y="1684911"/>
            <a:ext cx="7340048" cy="4484769"/>
          </a:xfrm>
          <a:prstGeom prst="rect">
            <a:avLst/>
          </a:prstGeom>
        </p:spPr>
      </p:pic>
    </p:spTree>
    <p:extLst>
      <p:ext uri="{BB962C8B-B14F-4D97-AF65-F5344CB8AC3E}">
        <p14:creationId xmlns:p14="http://schemas.microsoft.com/office/powerpoint/2010/main" val="238479795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8" name="Shape 234">
            <a:extLst>
              <a:ext uri="{FF2B5EF4-FFF2-40B4-BE49-F238E27FC236}">
                <a16:creationId xmlns:a16="http://schemas.microsoft.com/office/drawing/2014/main" id="{6CB1D81F-3B5C-4579-AEF6-D8AF322491C7}"/>
              </a:ext>
            </a:extLst>
          </p:cNvPr>
          <p:cNvPicPr preferRelativeResize="0"/>
          <p:nvPr/>
        </p:nvPicPr>
        <p:blipFill rotWithShape="1">
          <a:blip r:embed="rId3">
            <a:alphaModFix/>
          </a:blip>
          <a:srcRect l="66233" t="12309" r="25650" b="46658"/>
          <a:stretch/>
        </p:blipFill>
        <p:spPr>
          <a:xfrm>
            <a:off x="0" y="1"/>
            <a:ext cx="12192000" cy="723900"/>
          </a:xfrm>
          <a:prstGeom prst="rect">
            <a:avLst/>
          </a:prstGeom>
          <a:noFill/>
          <a:ln>
            <a:noFill/>
          </a:ln>
        </p:spPr>
      </p:pic>
      <p:sp>
        <p:nvSpPr>
          <p:cNvPr id="9" name="TextBox 8">
            <a:extLst>
              <a:ext uri="{FF2B5EF4-FFF2-40B4-BE49-F238E27FC236}">
                <a16:creationId xmlns:a16="http://schemas.microsoft.com/office/drawing/2014/main" id="{24B8690F-ED69-4EE5-B276-077E79E21CD5}"/>
              </a:ext>
            </a:extLst>
          </p:cNvPr>
          <p:cNvSpPr txBox="1"/>
          <p:nvPr/>
        </p:nvSpPr>
        <p:spPr>
          <a:xfrm>
            <a:off x="0" y="48110"/>
            <a:ext cx="12191999" cy="584775"/>
          </a:xfrm>
          <a:prstGeom prst="rect">
            <a:avLst/>
          </a:prstGeom>
          <a:noFill/>
        </p:spPr>
        <p:txBody>
          <a:bodyPr wrap="square" rtlCol="0">
            <a:spAutoFit/>
          </a:bodyPr>
          <a:lstStyle/>
          <a:p>
            <a:r>
              <a:rPr lang="en-US" sz="3200" dirty="0">
                <a:solidFill>
                  <a:schemeClr val="bg1"/>
                </a:solidFill>
                <a:latin typeface="Franklin Gothic Demi Cond" panose="020B0706030402020204" pitchFamily="34" charset="0"/>
              </a:rPr>
              <a:t>IN-CLASS BRAINSTORMING EXERCISE</a:t>
            </a:r>
          </a:p>
        </p:txBody>
      </p:sp>
      <p:sp>
        <p:nvSpPr>
          <p:cNvPr id="2" name="TextBox 1">
            <a:extLst>
              <a:ext uri="{FF2B5EF4-FFF2-40B4-BE49-F238E27FC236}">
                <a16:creationId xmlns:a16="http://schemas.microsoft.com/office/drawing/2014/main" id="{6ED13FB9-E737-F518-0ABE-9DA8284621DF}"/>
              </a:ext>
            </a:extLst>
          </p:cNvPr>
          <p:cNvSpPr txBox="1"/>
          <p:nvPr/>
        </p:nvSpPr>
        <p:spPr>
          <a:xfrm>
            <a:off x="2085475" y="1299410"/>
            <a:ext cx="8357936" cy="5078313"/>
          </a:xfrm>
          <a:prstGeom prst="rect">
            <a:avLst/>
          </a:prstGeom>
          <a:noFill/>
        </p:spPr>
        <p:txBody>
          <a:bodyPr wrap="square" rtlCol="0">
            <a:spAutoFit/>
          </a:bodyPr>
          <a:lstStyle/>
          <a:p>
            <a:r>
              <a:rPr lang="en-US" sz="3600" dirty="0"/>
              <a:t>What are the potential benefits of public transit over other travel modes? (5+)</a:t>
            </a:r>
          </a:p>
          <a:p>
            <a:endParaRPr lang="en-US" sz="3600" dirty="0"/>
          </a:p>
          <a:p>
            <a:r>
              <a:rPr lang="en-US" sz="3600" dirty="0"/>
              <a:t>Why is transit under-utilized in the United States? (5+)</a:t>
            </a:r>
          </a:p>
          <a:p>
            <a:endParaRPr lang="en-US" sz="3600" dirty="0"/>
          </a:p>
          <a:p>
            <a:r>
              <a:rPr lang="en-US" sz="3600" dirty="0"/>
              <a:t>What improvements and/or changes would need to be made for </a:t>
            </a:r>
            <a:r>
              <a:rPr lang="en-US" sz="3600" b="1" i="1" dirty="0"/>
              <a:t>you</a:t>
            </a:r>
            <a:r>
              <a:rPr lang="en-US" sz="3600" dirty="0"/>
              <a:t> to take additional public transit trips? (5+)</a:t>
            </a:r>
          </a:p>
        </p:txBody>
      </p:sp>
    </p:spTree>
    <p:extLst>
      <p:ext uri="{BB962C8B-B14F-4D97-AF65-F5344CB8AC3E}">
        <p14:creationId xmlns:p14="http://schemas.microsoft.com/office/powerpoint/2010/main" val="1751219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3381</TotalTime>
  <Words>7525</Words>
  <Application>Microsoft Office PowerPoint</Application>
  <PresentationFormat>Widescreen</PresentationFormat>
  <Paragraphs>443</Paragraphs>
  <Slides>76</Slides>
  <Notes>52</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76</vt:i4>
      </vt:variant>
    </vt:vector>
  </HeadingPairs>
  <TitlesOfParts>
    <vt:vector size="85" baseType="lpstr">
      <vt:lpstr>Arial</vt:lpstr>
      <vt:lpstr>Calibri</vt:lpstr>
      <vt:lpstr>Calibri Light</vt:lpstr>
      <vt:lpstr>Franklin Gothic Demi Cond</vt:lpstr>
      <vt:lpstr>Futura Std Medium</vt:lpstr>
      <vt:lpstr>Minion Pro</vt:lpstr>
      <vt:lpstr>Montserrat</vt:lpstr>
      <vt:lpstr>Myriad Pro</vt:lpstr>
      <vt:lpstr>Office Theme</vt:lpstr>
      <vt:lpstr>PowerPoint Presentation</vt:lpstr>
      <vt:lpstr>PowerPoint Presentation</vt:lpstr>
      <vt:lpstr>PowerPoint Presentation</vt:lpstr>
      <vt:lpstr>PowerPoint Presentation</vt:lpstr>
      <vt:lpstr>Bus turnarounds in Chicago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General transit feed specification (GTFS)</vt:lpstr>
      <vt:lpstr>What is the history of GTFS?</vt:lpstr>
      <vt:lpstr>PowerPoint Presentation</vt:lpstr>
      <vt:lpstr>PowerPoint Presentation</vt:lpstr>
      <vt:lpstr>GTFS implications for livable communities/sustainable development</vt:lpstr>
      <vt:lpstr>PowerPoint Presentation</vt:lpstr>
      <vt:lpstr>PowerPoint Presentation</vt:lpstr>
      <vt:lpstr>PowerPoint Presentation</vt:lpstr>
      <vt:lpstr>PowerPoint Presentation</vt:lpstr>
      <vt:lpstr>Potential Benefits</vt:lpstr>
      <vt:lpstr>Possible ideas for intervention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DePaul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Smith, Christopher</dc:creator>
  <cp:lastModifiedBy>Christopher Smith</cp:lastModifiedBy>
  <cp:revision>144</cp:revision>
  <dcterms:created xsi:type="dcterms:W3CDTF">2018-12-18T16:24:32Z</dcterms:created>
  <dcterms:modified xsi:type="dcterms:W3CDTF">2026-10-07T00:40:11Z</dcterms:modified>
</cp:coreProperties>
</file>